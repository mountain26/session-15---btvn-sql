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24"/>
  </p:notesMasterIdLst>
  <p:sldIdLst>
    <p:sldId id="256" r:id="rId2"/>
    <p:sldId id="257" r:id="rId3"/>
    <p:sldId id="258" r:id="rId4"/>
    <p:sldId id="259" r:id="rId5"/>
    <p:sldId id="260" r:id="rId6"/>
    <p:sldId id="261" r:id="rId7"/>
    <p:sldId id="266" r:id="rId8"/>
    <p:sldId id="267" r:id="rId9"/>
    <p:sldId id="268" r:id="rId10"/>
    <p:sldId id="271" r:id="rId11"/>
    <p:sldId id="274" r:id="rId12"/>
    <p:sldId id="288" r:id="rId13"/>
    <p:sldId id="278" r:id="rId14"/>
    <p:sldId id="279" r:id="rId15"/>
    <p:sldId id="280" r:id="rId16"/>
    <p:sldId id="281" r:id="rId17"/>
    <p:sldId id="282" r:id="rId18"/>
    <p:sldId id="284" r:id="rId19"/>
    <p:sldId id="285" r:id="rId20"/>
    <p:sldId id="286" r:id="rId21"/>
    <p:sldId id="287" r:id="rId22"/>
    <p:sldId id="265" r:id="rId23"/>
  </p:sldIdLst>
  <p:sldSz cx="14630400" cy="8229600"/>
  <p:notesSz cx="8229600" cy="14630400"/>
  <p:embeddedFontLst>
    <p:embeddedFont>
      <p:font typeface="Anton" pitchFamily="2" charset="-93"/>
      <p:regular r:id="rId25"/>
    </p:embeddedFont>
    <p:embeddedFont>
      <p:font typeface="Fira Sans" panose="020B0503050000020004" pitchFamily="3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5A97"/>
    <a:srgbClr val="CCDEFA"/>
    <a:srgbClr val="5777BA"/>
    <a:srgbClr val="656777"/>
    <a:srgbClr val="FBAA6D"/>
    <a:srgbClr val="F9E9DA"/>
    <a:srgbClr val="A5A0A4"/>
    <a:srgbClr val="FB7D80"/>
    <a:srgbClr val="1F1F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5343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DB5E-47A4-77AC-9558-19AAF9533037}"/>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F6414984-C8B7-C835-2DC5-0FBACAA97B50}"/>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4D0BBD0A-2D69-7E66-374C-283CABFB6A07}"/>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5" name="Footer Placeholder 4">
            <a:extLst>
              <a:ext uri="{FF2B5EF4-FFF2-40B4-BE49-F238E27FC236}">
                <a16:creationId xmlns:a16="http://schemas.microsoft.com/office/drawing/2014/main" id="{1E2E6ECA-B83D-CB32-627C-E1B272AC63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01748-175C-AA66-52BF-ED530CA3C904}"/>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26049148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D3A40-48C7-EB47-85D9-261B6389C0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DB67E9-A6DE-AA47-71F4-8E457AB442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E4F2BA-DF7F-162E-0D97-67E6F86423CA}"/>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5" name="Footer Placeholder 4">
            <a:extLst>
              <a:ext uri="{FF2B5EF4-FFF2-40B4-BE49-F238E27FC236}">
                <a16:creationId xmlns:a16="http://schemas.microsoft.com/office/drawing/2014/main" id="{1F7DFCB4-4A73-87B8-44D4-0477368794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779826-2083-2F47-37F8-81B0D87631D1}"/>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19212265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5D4B5-637C-8FEE-C307-E062AFCED3B7}"/>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id="{4BE910F6-EB29-15C6-C75F-F1F9051E232A}"/>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5F30E5-AC27-A750-4472-C3A975ED24B2}"/>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5" name="Footer Placeholder 4">
            <a:extLst>
              <a:ext uri="{FF2B5EF4-FFF2-40B4-BE49-F238E27FC236}">
                <a16:creationId xmlns:a16="http://schemas.microsoft.com/office/drawing/2014/main" id="{EAE26A54-0C10-762A-A909-A5507DE998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B95D93-762A-D788-D957-6D390CD574D0}"/>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141669028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14C66-19F8-3BBE-F061-64E5456855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34BD6B-575F-F739-7489-9B6914D030FE}"/>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CD3852-15C8-205F-6A26-738F08010749}"/>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BBEF24-3F07-6D40-0379-1964FD1A338D}"/>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6" name="Footer Placeholder 5">
            <a:extLst>
              <a:ext uri="{FF2B5EF4-FFF2-40B4-BE49-F238E27FC236}">
                <a16:creationId xmlns:a16="http://schemas.microsoft.com/office/drawing/2014/main" id="{F5C1AD60-189F-15F0-5C30-E6D033FEA2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0B75FC-CA7E-A914-7418-89A0E09E8368}"/>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246281695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40A2-2B1F-FAA7-8F11-912D4A3F902F}"/>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E8F80-C5FB-37B3-F7B7-58A96B292185}"/>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D5FDA175-1C0E-6676-FAFF-B17A20BA0B54}"/>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B80D78-C956-9058-E99C-3C11901056F6}"/>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4807A874-FA69-1C9E-90C3-ADB7E2606185}"/>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B5E1ED-5190-A98F-1303-8463A98D3303}"/>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8" name="Footer Placeholder 7">
            <a:extLst>
              <a:ext uri="{FF2B5EF4-FFF2-40B4-BE49-F238E27FC236}">
                <a16:creationId xmlns:a16="http://schemas.microsoft.com/office/drawing/2014/main" id="{468CDBE7-00AB-75E0-8A84-16AD85E44E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6BD8E8-C0CD-D8B4-EA69-FED928BFBD32}"/>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386273004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0880F-22DC-2582-FFC7-BDE866F667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152645-442B-0BD0-20C5-38A383B5CCA6}"/>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4" name="Footer Placeholder 3">
            <a:extLst>
              <a:ext uri="{FF2B5EF4-FFF2-40B4-BE49-F238E27FC236}">
                <a16:creationId xmlns:a16="http://schemas.microsoft.com/office/drawing/2014/main" id="{41782C62-038C-AB73-DE6F-271A500532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CC58D6-549A-1CEC-5CB5-C46393DC9B70}"/>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182478158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13650C-9F55-45C1-F241-767B95989887}"/>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3" name="Footer Placeholder 2">
            <a:extLst>
              <a:ext uri="{FF2B5EF4-FFF2-40B4-BE49-F238E27FC236}">
                <a16:creationId xmlns:a16="http://schemas.microsoft.com/office/drawing/2014/main" id="{2C8FC597-CACD-80E7-E056-0A39AD084E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A8C8BF-B00A-63A6-6B39-25C816296B6D}"/>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235210029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32E51-CD1F-F5CF-90C4-9506BEA11C2D}"/>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767D18CC-F30E-B90E-3F5B-20DD3E723C8F}"/>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6D7FB1-5925-3568-780E-D4FAC1B24E23}"/>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8F81CA3F-6C97-7187-4C59-33CD04D05208}"/>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6" name="Footer Placeholder 5">
            <a:extLst>
              <a:ext uri="{FF2B5EF4-FFF2-40B4-BE49-F238E27FC236}">
                <a16:creationId xmlns:a16="http://schemas.microsoft.com/office/drawing/2014/main" id="{412FDF99-BDFA-A18F-7561-F48E796C6F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55A8B9-0035-C37E-5AE8-1985FB26E9B1}"/>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7799547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D5CAD-50E4-F128-FBD0-99065E5B88F8}"/>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F0DB217E-1200-0880-8729-42033A1D9ECA}"/>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013B3093-5170-3E3C-499A-ED5C871B90E0}"/>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E4572240-0046-F5E9-6C74-F4DD7AB23311}"/>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6" name="Footer Placeholder 5">
            <a:extLst>
              <a:ext uri="{FF2B5EF4-FFF2-40B4-BE49-F238E27FC236}">
                <a16:creationId xmlns:a16="http://schemas.microsoft.com/office/drawing/2014/main" id="{9E5A5FFA-85A8-D03A-F92A-8F866D327D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EF1BBD-7971-BB35-FC75-2055280DE80C}"/>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335903113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D1E0-DA41-F716-D77B-EABEB18198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FE7C5A-06A6-D746-A4B4-94118CD9CC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5BD522-E087-B115-24E4-3BA58D24C924}"/>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5" name="Footer Placeholder 4">
            <a:extLst>
              <a:ext uri="{FF2B5EF4-FFF2-40B4-BE49-F238E27FC236}">
                <a16:creationId xmlns:a16="http://schemas.microsoft.com/office/drawing/2014/main" id="{558ABF4D-A8C9-48AE-5FEF-BFD29E6F99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B283FC-4008-07BE-D60E-2399FCDCFE06}"/>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397522640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5295A4-18C1-82F2-962B-3F15E6BCB842}"/>
              </a:ext>
            </a:extLst>
          </p:cNvPr>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B01964-CD97-43AF-4DB0-06C3111211E4}"/>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722CD0-4DAB-E02C-F710-7687C91446BD}"/>
              </a:ext>
            </a:extLst>
          </p:cNvPr>
          <p:cNvSpPr>
            <a:spLocks noGrp="1"/>
          </p:cNvSpPr>
          <p:nvPr>
            <p:ph type="dt" sz="half" idx="10"/>
          </p:nvPr>
        </p:nvSpPr>
        <p:spPr/>
        <p:txBody>
          <a:bodyPr/>
          <a:lstStyle/>
          <a:p>
            <a:fld id="{BB6DDA0D-328B-49DB-B253-2AE83AF39F2C}" type="datetimeFigureOut">
              <a:rPr lang="en-US" smtClean="0"/>
              <a:t>1/16/2026</a:t>
            </a:fld>
            <a:endParaRPr lang="en-US"/>
          </a:p>
        </p:txBody>
      </p:sp>
      <p:sp>
        <p:nvSpPr>
          <p:cNvPr id="5" name="Footer Placeholder 4">
            <a:extLst>
              <a:ext uri="{FF2B5EF4-FFF2-40B4-BE49-F238E27FC236}">
                <a16:creationId xmlns:a16="http://schemas.microsoft.com/office/drawing/2014/main" id="{EB1DC323-86C3-37C9-7ECF-18DB23B22E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0E604C-3EDB-FA4D-36A0-57AE90CFCC35}"/>
              </a:ext>
            </a:extLst>
          </p:cNvPr>
          <p:cNvSpPr>
            <a:spLocks noGrp="1"/>
          </p:cNvSpPr>
          <p:nvPr>
            <p:ph type="sldNum" sz="quarter" idx="12"/>
          </p:nvPr>
        </p:nvSpPr>
        <p:spPr/>
        <p:txBody>
          <a:bodyPr/>
          <a:lstStyle/>
          <a:p>
            <a:fld id="{02E0CC37-DAAE-473F-ACC6-F13BF2B767E0}" type="slidenum">
              <a:rPr lang="en-US" smtClean="0"/>
              <a:t>‹#›</a:t>
            </a:fld>
            <a:endParaRPr lang="en-US"/>
          </a:p>
        </p:txBody>
      </p:sp>
    </p:spTree>
    <p:extLst>
      <p:ext uri="{BB962C8B-B14F-4D97-AF65-F5344CB8AC3E}">
        <p14:creationId xmlns:p14="http://schemas.microsoft.com/office/powerpoint/2010/main" val="7804504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4755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349619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9926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9162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7206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491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2338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DEF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03A62C-6054-B560-98B7-4EE9F28A209B}"/>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96B1CA-6CCF-0A79-4FB5-F5B1ABB0104A}"/>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A97EEA-8BE0-DA04-BD4D-ADC253660D8B}"/>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BB6DDA0D-328B-49DB-B253-2AE83AF39F2C}" type="datetimeFigureOut">
              <a:rPr lang="en-US" smtClean="0"/>
              <a:t>1/16/2026</a:t>
            </a:fld>
            <a:endParaRPr lang="en-US"/>
          </a:p>
        </p:txBody>
      </p:sp>
      <p:sp>
        <p:nvSpPr>
          <p:cNvPr id="5" name="Footer Placeholder 4">
            <a:extLst>
              <a:ext uri="{FF2B5EF4-FFF2-40B4-BE49-F238E27FC236}">
                <a16:creationId xmlns:a16="http://schemas.microsoft.com/office/drawing/2014/main" id="{5FA3372B-7034-CBF5-8E59-68AD94D56228}"/>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0FFCA3D-A6A1-DEC9-1382-756DB7AFB3C4}"/>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02E0CC37-DAAE-473F-ACC6-F13BF2B767E0}" type="slidenum">
              <a:rPr lang="en-US" smtClean="0"/>
              <a:t>‹#›</a:t>
            </a:fld>
            <a:endParaRPr lang="en-US"/>
          </a:p>
        </p:txBody>
      </p:sp>
    </p:spTree>
    <p:extLst>
      <p:ext uri="{BB962C8B-B14F-4D97-AF65-F5344CB8AC3E}">
        <p14:creationId xmlns:p14="http://schemas.microsoft.com/office/powerpoint/2010/main" val="41395215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81" r:id="rId18"/>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3" Type="http://schemas.openxmlformats.org/officeDocument/2006/relationships/image" Target="../media/image6.png"/><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image" Target="../media/image5.png"/><Relationship Id="rId16" Type="http://schemas.openxmlformats.org/officeDocument/2006/relationships/image" Target="../media/image19.sv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CDEFA"/>
        </a:solidFill>
        <a:effectLst/>
      </p:bgPr>
    </p:bg>
    <p:spTree>
      <p:nvGrpSpPr>
        <p:cNvPr id="1" name=""/>
        <p:cNvGrpSpPr/>
        <p:nvPr/>
      </p:nvGrpSpPr>
      <p:grpSpPr>
        <a:xfrm>
          <a:off x="0" y="0"/>
          <a:ext cx="0" cy="0"/>
          <a:chOff x="0" y="0"/>
          <a:chExt cx="0" cy="0"/>
        </a:xfrm>
      </p:grpSpPr>
      <p:sp>
        <p:nvSpPr>
          <p:cNvPr id="3" name="Text 0"/>
          <p:cNvSpPr/>
          <p:nvPr/>
        </p:nvSpPr>
        <p:spPr>
          <a:xfrm>
            <a:off x="6410819" y="1033586"/>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3D5A97"/>
                </a:solidFill>
                <a:latin typeface="Anton" pitchFamily="34" charset="0"/>
                <a:ea typeface="Anton" pitchFamily="34" charset="-122"/>
                <a:cs typeface="Anton" pitchFamily="34" charset="-120"/>
              </a:rPr>
              <a:t>MINI PROJECT – SOCIAL NETWORK Phân tích hệ thống &amp; Hướng giải quyết bằng SQL</a:t>
            </a:r>
            <a:endParaRPr lang="en-US" sz="4450" dirty="0">
              <a:solidFill>
                <a:srgbClr val="3D5A97"/>
              </a:solidFill>
            </a:endParaRPr>
          </a:p>
        </p:txBody>
      </p:sp>
      <p:sp>
        <p:nvSpPr>
          <p:cNvPr id="4" name="Text 0">
            <a:extLst>
              <a:ext uri="{FF2B5EF4-FFF2-40B4-BE49-F238E27FC236}">
                <a16:creationId xmlns:a16="http://schemas.microsoft.com/office/drawing/2014/main" id="{4007DEA9-0BA6-02B9-BF18-26479E182F4A}"/>
              </a:ext>
            </a:extLst>
          </p:cNvPr>
          <p:cNvSpPr/>
          <p:nvPr/>
        </p:nvSpPr>
        <p:spPr>
          <a:xfrm>
            <a:off x="6410819" y="3638957"/>
            <a:ext cx="3744051" cy="674346"/>
          </a:xfrm>
          <a:prstGeom prst="rect">
            <a:avLst/>
          </a:prstGeom>
          <a:noFill/>
          <a:ln/>
        </p:spPr>
        <p:txBody>
          <a:bodyPr wrap="square" lIns="0" tIns="0" rIns="0" bIns="0" rtlCol="0" anchor="t"/>
          <a:lstStyle/>
          <a:p>
            <a:pPr marL="0" indent="0" algn="l">
              <a:lnSpc>
                <a:spcPts val="5550"/>
              </a:lnSpc>
              <a:buNone/>
            </a:pPr>
            <a:r>
              <a:rPr lang="en-US" sz="3600" dirty="0">
                <a:solidFill>
                  <a:srgbClr val="3D5A97"/>
                </a:solidFill>
                <a:latin typeface="Anton" pitchFamily="34" charset="0"/>
                <a:ea typeface="Anton" pitchFamily="34" charset="-122"/>
                <a:cs typeface="Anton" pitchFamily="34" charset="-120"/>
              </a:rPr>
              <a:t>HN-KS24-CNTT2-G3</a:t>
            </a:r>
            <a:endParaRPr lang="en-US" sz="3600" dirty="0">
              <a:solidFill>
                <a:srgbClr val="3D5A97"/>
              </a:solidFill>
            </a:endParaRPr>
          </a:p>
        </p:txBody>
      </p:sp>
      <p:sp>
        <p:nvSpPr>
          <p:cNvPr id="5" name="Text 0">
            <a:extLst>
              <a:ext uri="{FF2B5EF4-FFF2-40B4-BE49-F238E27FC236}">
                <a16:creationId xmlns:a16="http://schemas.microsoft.com/office/drawing/2014/main" id="{36EFBCC6-73BA-43C8-57BD-55715A905262}"/>
              </a:ext>
            </a:extLst>
          </p:cNvPr>
          <p:cNvSpPr/>
          <p:nvPr/>
        </p:nvSpPr>
        <p:spPr>
          <a:xfrm>
            <a:off x="6410819" y="5008773"/>
            <a:ext cx="2293356" cy="674346"/>
          </a:xfrm>
          <a:prstGeom prst="rect">
            <a:avLst/>
          </a:prstGeom>
          <a:noFill/>
          <a:ln/>
        </p:spPr>
        <p:txBody>
          <a:bodyPr wrap="square" lIns="0" tIns="0" rIns="0" bIns="0" rtlCol="0" anchor="t"/>
          <a:lstStyle/>
          <a:p>
            <a:pPr marL="0" indent="0" algn="l">
              <a:lnSpc>
                <a:spcPts val="5550"/>
              </a:lnSpc>
              <a:buNone/>
            </a:pPr>
            <a:r>
              <a:rPr lang="en-US" sz="3200" dirty="0">
                <a:solidFill>
                  <a:srgbClr val="3D5A97"/>
                </a:solidFill>
                <a:latin typeface="Anton" pitchFamily="34" charset="0"/>
                <a:ea typeface="Anton" pitchFamily="34" charset="-122"/>
                <a:cs typeface="Anton" pitchFamily="34" charset="-120"/>
              </a:rPr>
              <a:t>THÀNH VIÊN:</a:t>
            </a:r>
          </a:p>
        </p:txBody>
      </p:sp>
      <p:sp>
        <p:nvSpPr>
          <p:cNvPr id="7" name="TextBox 6">
            <a:extLst>
              <a:ext uri="{FF2B5EF4-FFF2-40B4-BE49-F238E27FC236}">
                <a16:creationId xmlns:a16="http://schemas.microsoft.com/office/drawing/2014/main" id="{311ED856-D76D-1A9E-8FEB-418ACB72884E}"/>
              </a:ext>
            </a:extLst>
          </p:cNvPr>
          <p:cNvSpPr txBox="1"/>
          <p:nvPr/>
        </p:nvSpPr>
        <p:spPr>
          <a:xfrm>
            <a:off x="10301332" y="5683119"/>
            <a:ext cx="2089539" cy="1754326"/>
          </a:xfrm>
          <a:prstGeom prst="rect">
            <a:avLst/>
          </a:prstGeom>
          <a:noFill/>
        </p:spPr>
        <p:txBody>
          <a:bodyPr wrap="square">
            <a:spAutoFit/>
          </a:bodyPr>
          <a:lstStyle/>
          <a:p>
            <a:r>
              <a:rPr lang="en-US" sz="1800" dirty="0">
                <a:solidFill>
                  <a:srgbClr val="3D5A97"/>
                </a:solidFill>
                <a:latin typeface="Anton" pitchFamily="34" charset="0"/>
                <a:ea typeface="Anton" pitchFamily="34" charset="-122"/>
                <a:cs typeface="Anton" pitchFamily="34" charset="-120"/>
              </a:rPr>
              <a:t>Nguyễn </a:t>
            </a:r>
            <a:r>
              <a:rPr lang="en-US" sz="1800" dirty="0" err="1">
                <a:solidFill>
                  <a:srgbClr val="3D5A97"/>
                </a:solidFill>
                <a:latin typeface="Anton" pitchFamily="34" charset="0"/>
                <a:ea typeface="Anton" pitchFamily="34" charset="-122"/>
                <a:cs typeface="Anton" pitchFamily="34" charset="-120"/>
              </a:rPr>
              <a:t>Đình</a:t>
            </a:r>
            <a:r>
              <a:rPr lang="en-US" sz="1800" dirty="0">
                <a:solidFill>
                  <a:srgbClr val="3D5A97"/>
                </a:solidFill>
                <a:latin typeface="Anton" pitchFamily="34" charset="0"/>
                <a:ea typeface="Anton" pitchFamily="34" charset="-122"/>
                <a:cs typeface="Anton" pitchFamily="34" charset="-120"/>
              </a:rPr>
              <a:t> Sơn</a:t>
            </a:r>
          </a:p>
          <a:p>
            <a:r>
              <a:rPr lang="en-US" dirty="0">
                <a:solidFill>
                  <a:srgbClr val="3D5A97"/>
                </a:solidFill>
                <a:latin typeface="Anton" pitchFamily="34" charset="0"/>
              </a:rPr>
              <a:t>Đinh Quang Huy</a:t>
            </a:r>
          </a:p>
          <a:p>
            <a:r>
              <a:rPr lang="en-US" dirty="0">
                <a:solidFill>
                  <a:srgbClr val="3D5A97"/>
                </a:solidFill>
                <a:latin typeface="Anton" pitchFamily="34" charset="0"/>
              </a:rPr>
              <a:t>Nguyễn Đức Anh</a:t>
            </a:r>
          </a:p>
          <a:p>
            <a:r>
              <a:rPr lang="en-US" dirty="0">
                <a:solidFill>
                  <a:srgbClr val="3D5A97"/>
                </a:solidFill>
                <a:latin typeface="Anton" pitchFamily="34" charset="0"/>
              </a:rPr>
              <a:t>Phan </a:t>
            </a:r>
            <a:r>
              <a:rPr lang="en-US" dirty="0" err="1">
                <a:solidFill>
                  <a:srgbClr val="3D5A97"/>
                </a:solidFill>
                <a:latin typeface="Anton" pitchFamily="34" charset="0"/>
              </a:rPr>
              <a:t>Thuận</a:t>
            </a:r>
            <a:r>
              <a:rPr lang="en-US" dirty="0">
                <a:solidFill>
                  <a:srgbClr val="3D5A97"/>
                </a:solidFill>
                <a:latin typeface="Anton" pitchFamily="34" charset="0"/>
              </a:rPr>
              <a:t> Thành</a:t>
            </a:r>
          </a:p>
          <a:p>
            <a:r>
              <a:rPr lang="en-US" dirty="0">
                <a:solidFill>
                  <a:srgbClr val="3D5A97"/>
                </a:solidFill>
                <a:latin typeface="Anton" pitchFamily="34" charset="0"/>
              </a:rPr>
              <a:t>Nguyễn Việt Trung</a:t>
            </a:r>
          </a:p>
          <a:p>
            <a:r>
              <a:rPr lang="en-US" dirty="0" err="1">
                <a:solidFill>
                  <a:srgbClr val="3D5A97"/>
                </a:solidFill>
                <a:latin typeface="Anton" pitchFamily="34" charset="0"/>
              </a:rPr>
              <a:t>Đỗ</a:t>
            </a:r>
            <a:r>
              <a:rPr lang="en-US" dirty="0">
                <a:solidFill>
                  <a:srgbClr val="3D5A97"/>
                </a:solidFill>
                <a:latin typeface="Anton" pitchFamily="34" charset="0"/>
              </a:rPr>
              <a:t> Hoàng Anh</a:t>
            </a:r>
            <a:endParaRPr lang="en-US" dirty="0">
              <a:solidFill>
                <a:srgbClr val="3D5A97"/>
              </a:solidFill>
            </a:endParaRPr>
          </a:p>
        </p:txBody>
      </p:sp>
      <p:sp>
        <p:nvSpPr>
          <p:cNvPr id="9" name="TextBox 8">
            <a:extLst>
              <a:ext uri="{FF2B5EF4-FFF2-40B4-BE49-F238E27FC236}">
                <a16:creationId xmlns:a16="http://schemas.microsoft.com/office/drawing/2014/main" id="{79951841-41EA-D732-ABD3-484D0D8E38F1}"/>
              </a:ext>
            </a:extLst>
          </p:cNvPr>
          <p:cNvSpPr txBox="1"/>
          <p:nvPr/>
        </p:nvSpPr>
        <p:spPr>
          <a:xfrm>
            <a:off x="6796132" y="5758128"/>
            <a:ext cx="3232050" cy="1477328"/>
          </a:xfrm>
          <a:prstGeom prst="rect">
            <a:avLst/>
          </a:prstGeom>
          <a:noFill/>
        </p:spPr>
        <p:txBody>
          <a:bodyPr wrap="square">
            <a:spAutoFit/>
          </a:bodyPr>
          <a:lstStyle/>
          <a:p>
            <a:r>
              <a:rPr lang="en-US" dirty="0">
                <a:solidFill>
                  <a:srgbClr val="3D5A97"/>
                </a:solidFill>
                <a:latin typeface="Anton" pitchFamily="34" charset="0"/>
                <a:ea typeface="Anton" pitchFamily="34" charset="-122"/>
                <a:cs typeface="Anton" pitchFamily="34" charset="-120"/>
              </a:rPr>
              <a:t>Nguyễn </a:t>
            </a:r>
            <a:r>
              <a:rPr lang="en-US" dirty="0" err="1">
                <a:solidFill>
                  <a:srgbClr val="3D5A97"/>
                </a:solidFill>
                <a:latin typeface="Anton" pitchFamily="34" charset="0"/>
                <a:ea typeface="Anton" pitchFamily="34" charset="-122"/>
                <a:cs typeface="Anton" pitchFamily="34" charset="-120"/>
              </a:rPr>
              <a:t>Đăng</a:t>
            </a:r>
            <a:r>
              <a:rPr lang="en-US" dirty="0">
                <a:solidFill>
                  <a:srgbClr val="3D5A97"/>
                </a:solidFill>
                <a:latin typeface="Anton" pitchFamily="34" charset="0"/>
                <a:ea typeface="Anton" pitchFamily="34" charset="-122"/>
                <a:cs typeface="Anton" pitchFamily="34" charset="-120"/>
              </a:rPr>
              <a:t> Dương</a:t>
            </a:r>
            <a:endParaRPr lang="en-US" sz="1800" dirty="0">
              <a:solidFill>
                <a:srgbClr val="3D5A97"/>
              </a:solidFill>
              <a:latin typeface="Anton" pitchFamily="34" charset="0"/>
              <a:ea typeface="Anton" pitchFamily="34" charset="-122"/>
              <a:cs typeface="Anton" pitchFamily="34" charset="-120"/>
            </a:endParaRPr>
          </a:p>
          <a:p>
            <a:pPr marL="0" indent="0" algn="l">
              <a:buNone/>
            </a:pPr>
            <a:r>
              <a:rPr lang="en-US" sz="1800" dirty="0">
                <a:solidFill>
                  <a:srgbClr val="3D5A97"/>
                </a:solidFill>
                <a:latin typeface="Anton" pitchFamily="34" charset="0"/>
                <a:ea typeface="Anton" pitchFamily="34" charset="-122"/>
                <a:cs typeface="Anton" pitchFamily="34" charset="-120"/>
              </a:rPr>
              <a:t>Phạm Việt An</a:t>
            </a:r>
          </a:p>
          <a:p>
            <a:pPr marL="0" indent="0" algn="l">
              <a:buNone/>
            </a:pPr>
            <a:r>
              <a:rPr lang="en-US" dirty="0">
                <a:solidFill>
                  <a:srgbClr val="3D5A97"/>
                </a:solidFill>
                <a:latin typeface="Anton" pitchFamily="34" charset="0"/>
                <a:ea typeface="Anton" pitchFamily="34" charset="-122"/>
                <a:cs typeface="Anton" pitchFamily="34" charset="-120"/>
              </a:rPr>
              <a:t>Phùng Quang Tiến</a:t>
            </a:r>
          </a:p>
          <a:p>
            <a:pPr marL="0" indent="0" algn="l">
              <a:buNone/>
            </a:pPr>
            <a:r>
              <a:rPr lang="en-US" dirty="0">
                <a:solidFill>
                  <a:srgbClr val="3D5A97"/>
                </a:solidFill>
                <a:latin typeface="Anton" pitchFamily="34" charset="0"/>
                <a:ea typeface="Anton" pitchFamily="34" charset="-122"/>
                <a:cs typeface="Anton" pitchFamily="34" charset="-120"/>
              </a:rPr>
              <a:t>Triệu Quốc Bình</a:t>
            </a:r>
          </a:p>
          <a:p>
            <a:pPr marL="0" indent="0" algn="l">
              <a:buNone/>
            </a:pPr>
            <a:r>
              <a:rPr lang="en-US" dirty="0">
                <a:solidFill>
                  <a:srgbClr val="3D5A97"/>
                </a:solidFill>
                <a:latin typeface="Anton" pitchFamily="34" charset="0"/>
                <a:ea typeface="Anton" pitchFamily="34" charset="-122"/>
                <a:cs typeface="Anton" pitchFamily="34" charset="-120"/>
              </a:rPr>
              <a:t>Nguyễn Thị Yến</a:t>
            </a:r>
          </a:p>
        </p:txBody>
      </p:sp>
      <p:sp>
        <p:nvSpPr>
          <p:cNvPr id="10" name="Text 0">
            <a:extLst>
              <a:ext uri="{FF2B5EF4-FFF2-40B4-BE49-F238E27FC236}">
                <a16:creationId xmlns:a16="http://schemas.microsoft.com/office/drawing/2014/main" id="{AE5750B6-BD61-8951-256F-798E0EB61D1F}"/>
              </a:ext>
            </a:extLst>
          </p:cNvPr>
          <p:cNvSpPr/>
          <p:nvPr/>
        </p:nvSpPr>
        <p:spPr>
          <a:xfrm>
            <a:off x="10301332" y="3638957"/>
            <a:ext cx="4010274" cy="674346"/>
          </a:xfrm>
          <a:prstGeom prst="rect">
            <a:avLst/>
          </a:prstGeom>
          <a:noFill/>
          <a:ln/>
        </p:spPr>
        <p:txBody>
          <a:bodyPr wrap="square" lIns="0" tIns="0" rIns="0" bIns="0" rtlCol="0" anchor="t"/>
          <a:lstStyle/>
          <a:p>
            <a:pPr marL="0" indent="0" algn="l">
              <a:lnSpc>
                <a:spcPts val="5550"/>
              </a:lnSpc>
              <a:buNone/>
            </a:pPr>
            <a:r>
              <a:rPr lang="en-US" sz="3200" dirty="0">
                <a:solidFill>
                  <a:srgbClr val="3D5A97"/>
                </a:solidFill>
                <a:latin typeface="Anton" pitchFamily="34" charset="0"/>
                <a:ea typeface="Anton" pitchFamily="34" charset="-122"/>
                <a:cs typeface="Anton" pitchFamily="34" charset="-120"/>
              </a:rPr>
              <a:t>Mentor: </a:t>
            </a:r>
            <a:r>
              <a:rPr lang="en-US" sz="3200" dirty="0" err="1">
                <a:solidFill>
                  <a:srgbClr val="3D5A97"/>
                </a:solidFill>
                <a:latin typeface="Anton" pitchFamily="34" charset="0"/>
                <a:ea typeface="Anton" pitchFamily="34" charset="-122"/>
                <a:cs typeface="Anton" pitchFamily="34" charset="-120"/>
              </a:rPr>
              <a:t>Hồ</a:t>
            </a:r>
            <a:r>
              <a:rPr lang="en-US" sz="3200" dirty="0">
                <a:solidFill>
                  <a:srgbClr val="3D5A97"/>
                </a:solidFill>
                <a:latin typeface="Anton" pitchFamily="34" charset="0"/>
                <a:ea typeface="Anton" pitchFamily="34" charset="-122"/>
                <a:cs typeface="Anton" pitchFamily="34" charset="-120"/>
              </a:rPr>
              <a:t> Xuân Hùng</a:t>
            </a:r>
          </a:p>
        </p:txBody>
      </p:sp>
      <p:pic>
        <p:nvPicPr>
          <p:cNvPr id="1050" name="Picture 26" descr="Orderii website - Index">
            <a:extLst>
              <a:ext uri="{FF2B5EF4-FFF2-40B4-BE49-F238E27FC236}">
                <a16:creationId xmlns:a16="http://schemas.microsoft.com/office/drawing/2014/main" id="{403E61C4-7948-8372-0204-B7F9AFD619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599" y="1652190"/>
            <a:ext cx="6104591" cy="49252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3D7A0368-0AAC-6DD1-C3A4-BB57B6E06D62}"/>
              </a:ext>
            </a:extLst>
          </p:cNvPr>
          <p:cNvSpPr/>
          <p:nvPr/>
        </p:nvSpPr>
        <p:spPr>
          <a:xfrm>
            <a:off x="793790" y="224659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D5A97"/>
                </a:solidFill>
                <a:latin typeface="Anton" pitchFamily="34" charset="0"/>
                <a:ea typeface="Anton" pitchFamily="34" charset="-122"/>
                <a:cs typeface="Anton" pitchFamily="34" charset="-120"/>
              </a:rPr>
              <a:t>Mục tiêu bài thực hành</a:t>
            </a:r>
            <a:endParaRPr lang="en-US" sz="4450" dirty="0">
              <a:solidFill>
                <a:srgbClr val="3D5A97"/>
              </a:solidFill>
            </a:endParaRPr>
          </a:p>
        </p:txBody>
      </p:sp>
      <p:sp>
        <p:nvSpPr>
          <p:cNvPr id="7" name="Text 1">
            <a:extLst>
              <a:ext uri="{FF2B5EF4-FFF2-40B4-BE49-F238E27FC236}">
                <a16:creationId xmlns:a16="http://schemas.microsoft.com/office/drawing/2014/main" id="{5F850301-2338-A3F5-2EC1-9237FB23D610}"/>
              </a:ext>
            </a:extLst>
          </p:cNvPr>
          <p:cNvSpPr/>
          <p:nvPr/>
        </p:nvSpPr>
        <p:spPr>
          <a:xfrm>
            <a:off x="793790" y="340899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dirty="0">
                <a:solidFill>
                  <a:srgbClr val="3D5A97"/>
                </a:solidFill>
                <a:latin typeface="Fira Sans" pitchFamily="34" charset="0"/>
                <a:ea typeface="Fira Sans" pitchFamily="34" charset="-122"/>
                <a:cs typeface="Fira Sans" pitchFamily="34" charset="-120"/>
              </a:rPr>
              <a:t>Hiểu cách tổ chức dữ liệu cho mạng xã hội thu nhỏ</a:t>
            </a:r>
            <a:endParaRPr lang="en-US" dirty="0">
              <a:solidFill>
                <a:srgbClr val="3D5A97"/>
              </a:solidFill>
            </a:endParaRPr>
          </a:p>
        </p:txBody>
      </p:sp>
      <p:sp>
        <p:nvSpPr>
          <p:cNvPr id="8" name="Text 2">
            <a:extLst>
              <a:ext uri="{FF2B5EF4-FFF2-40B4-BE49-F238E27FC236}">
                <a16:creationId xmlns:a16="http://schemas.microsoft.com/office/drawing/2014/main" id="{5E293751-97AD-E08B-9120-105C2953B12F}"/>
              </a:ext>
            </a:extLst>
          </p:cNvPr>
          <p:cNvSpPr/>
          <p:nvPr/>
        </p:nvSpPr>
        <p:spPr>
          <a:xfrm>
            <a:off x="793790" y="385119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dirty="0">
                <a:solidFill>
                  <a:srgbClr val="3D5A97"/>
                </a:solidFill>
                <a:latin typeface="Fira Sans" pitchFamily="34" charset="0"/>
                <a:ea typeface="Fira Sans" pitchFamily="34" charset="-122"/>
                <a:cs typeface="Fira Sans" pitchFamily="34" charset="-120"/>
              </a:rPr>
              <a:t>Thực hành:</a:t>
            </a:r>
            <a:endParaRPr lang="en-US" dirty="0">
              <a:solidFill>
                <a:srgbClr val="3D5A97"/>
              </a:solidFill>
            </a:endParaRPr>
          </a:p>
        </p:txBody>
      </p:sp>
      <p:sp>
        <p:nvSpPr>
          <p:cNvPr id="9" name="Text 3">
            <a:extLst>
              <a:ext uri="{FF2B5EF4-FFF2-40B4-BE49-F238E27FC236}">
                <a16:creationId xmlns:a16="http://schemas.microsoft.com/office/drawing/2014/main" id="{B7575914-09C1-FF58-1119-167B507D07AF}"/>
              </a:ext>
            </a:extLst>
          </p:cNvPr>
          <p:cNvSpPr/>
          <p:nvPr/>
        </p:nvSpPr>
        <p:spPr>
          <a:xfrm>
            <a:off x="793790" y="4293394"/>
            <a:ext cx="13042821" cy="362903"/>
          </a:xfrm>
          <a:prstGeom prst="rect">
            <a:avLst/>
          </a:prstGeom>
          <a:noFill/>
          <a:ln/>
        </p:spPr>
        <p:txBody>
          <a:bodyPr wrap="none" lIns="0" tIns="0" rIns="0" bIns="0" rtlCol="0" anchor="t"/>
          <a:lstStyle/>
          <a:p>
            <a:pPr marL="742950" lvl="1" indent="-285750" fontAlgn="base">
              <a:buFont typeface="Arial" panose="020B0604020202020204" pitchFamily="34" charset="0"/>
              <a:buChar char="•"/>
            </a:pPr>
            <a:r>
              <a:rPr lang="vi-VN" dirty="0">
                <a:solidFill>
                  <a:srgbClr val="3D5A97"/>
                </a:solidFill>
                <a:latin typeface="Fira Sans" panose="020B0503050000020004" pitchFamily="34" charset="0"/>
              </a:rPr>
              <a:t>Luyện tập sử dụng </a:t>
            </a:r>
            <a:r>
              <a:rPr lang="vi-VN" b="1" dirty="0">
                <a:solidFill>
                  <a:srgbClr val="3D5A97"/>
                </a:solidFill>
                <a:latin typeface="Fira Sans" panose="020B0503050000020004" pitchFamily="34" charset="0"/>
              </a:rPr>
              <a:t>Trigger</a:t>
            </a:r>
            <a:r>
              <a:rPr lang="vi-VN" dirty="0">
                <a:solidFill>
                  <a:srgbClr val="3D5A97"/>
                </a:solidFill>
                <a:latin typeface="Fira Sans" panose="020B0503050000020004" pitchFamily="34" charset="0"/>
              </a:rPr>
              <a:t> và </a:t>
            </a:r>
            <a:r>
              <a:rPr lang="vi-VN" b="1" dirty="0">
                <a:solidFill>
                  <a:srgbClr val="3D5A97"/>
                </a:solidFill>
                <a:latin typeface="Fira Sans" panose="020B0503050000020004" pitchFamily="34" charset="0"/>
              </a:rPr>
              <a:t>Transaction</a:t>
            </a:r>
            <a:r>
              <a:rPr lang="vi-VN" dirty="0">
                <a:solidFill>
                  <a:srgbClr val="3D5A97"/>
                </a:solidFill>
                <a:latin typeface="Fira Sans" panose="020B0503050000020004" pitchFamily="34" charset="0"/>
              </a:rPr>
              <a:t> trong MySQL.</a:t>
            </a:r>
            <a:br>
              <a:rPr lang="vi-VN" dirty="0">
                <a:solidFill>
                  <a:srgbClr val="3D5A97"/>
                </a:solidFill>
                <a:latin typeface="Fira Sans" panose="020B0503050000020004" pitchFamily="34" charset="0"/>
              </a:rPr>
            </a:br>
            <a:endParaRPr lang="en-US" dirty="0">
              <a:solidFill>
                <a:srgbClr val="3D5A97"/>
              </a:solidFill>
              <a:latin typeface="Fira Sans" panose="020B0503050000020004" pitchFamily="34" charset="0"/>
            </a:endParaRPr>
          </a:p>
        </p:txBody>
      </p:sp>
      <p:sp>
        <p:nvSpPr>
          <p:cNvPr id="10" name="Text 4">
            <a:extLst>
              <a:ext uri="{FF2B5EF4-FFF2-40B4-BE49-F238E27FC236}">
                <a16:creationId xmlns:a16="http://schemas.microsoft.com/office/drawing/2014/main" id="{A20B2D39-0757-5134-090F-081CD5B9773F}"/>
              </a:ext>
            </a:extLst>
          </p:cNvPr>
          <p:cNvSpPr/>
          <p:nvPr/>
        </p:nvSpPr>
        <p:spPr>
          <a:xfrm>
            <a:off x="793790" y="4735592"/>
            <a:ext cx="13042821" cy="362903"/>
          </a:xfrm>
          <a:prstGeom prst="rect">
            <a:avLst/>
          </a:prstGeom>
          <a:noFill/>
          <a:ln/>
        </p:spPr>
        <p:txBody>
          <a:bodyPr wrap="none" lIns="0" tIns="0" rIns="0" bIns="0" rtlCol="0" anchor="t"/>
          <a:lstStyle/>
          <a:p>
            <a:pPr marL="742950" lvl="1" indent="-285750" fontAlgn="base">
              <a:buFont typeface="Arial" panose="020B0604020202020204" pitchFamily="34" charset="0"/>
              <a:buChar char="•"/>
            </a:pPr>
            <a:r>
              <a:rPr lang="vi-VN" dirty="0">
                <a:solidFill>
                  <a:srgbClr val="3D5A97"/>
                </a:solidFill>
                <a:latin typeface="Fira Sans" panose="020B0503050000020004" pitchFamily="34" charset="0"/>
              </a:rPr>
              <a:t>Áp dụng các cơ chế đảm bảo tính toàn vẹn dữ liệu, xử lý giao dịch và tự động hóa các tác vụ trong cơ sở dữ liệu.</a:t>
            </a:r>
            <a:br>
              <a:rPr lang="vi-VN" dirty="0">
                <a:solidFill>
                  <a:srgbClr val="3D5A97"/>
                </a:solidFill>
                <a:latin typeface="Fira Sans" panose="020B0503050000020004" pitchFamily="34" charset="0"/>
              </a:rPr>
            </a:br>
            <a:endParaRPr lang="en-US" dirty="0">
              <a:solidFill>
                <a:srgbClr val="3D5A97"/>
              </a:solidFill>
              <a:latin typeface="Fira Sans" panose="020B0503050000020004" pitchFamily="34" charset="0"/>
            </a:endParaRPr>
          </a:p>
        </p:txBody>
      </p:sp>
      <p:sp>
        <p:nvSpPr>
          <p:cNvPr id="11" name="Text 5">
            <a:extLst>
              <a:ext uri="{FF2B5EF4-FFF2-40B4-BE49-F238E27FC236}">
                <a16:creationId xmlns:a16="http://schemas.microsoft.com/office/drawing/2014/main" id="{26CD1428-E8B8-40C2-465A-F7A0E3E60A74}"/>
              </a:ext>
            </a:extLst>
          </p:cNvPr>
          <p:cNvSpPr/>
          <p:nvPr/>
        </p:nvSpPr>
        <p:spPr>
          <a:xfrm>
            <a:off x="793790" y="5177790"/>
            <a:ext cx="13042821" cy="362903"/>
          </a:xfrm>
          <a:prstGeom prst="rect">
            <a:avLst/>
          </a:prstGeom>
          <a:noFill/>
          <a:ln/>
        </p:spPr>
        <p:txBody>
          <a:bodyPr wrap="none" lIns="0" tIns="0" rIns="0" bIns="0" rtlCol="0" anchor="t"/>
          <a:lstStyle/>
          <a:p>
            <a:pPr marL="742950" lvl="1" indent="-285750" fontAlgn="base">
              <a:buFont typeface="Arial" panose="020B0604020202020204" pitchFamily="34" charset="0"/>
              <a:buChar char="•"/>
            </a:pPr>
            <a:r>
              <a:rPr lang="vi-VN" dirty="0">
                <a:solidFill>
                  <a:srgbClr val="3D5A97"/>
                </a:solidFill>
                <a:latin typeface="Fira Sans" panose="020B0503050000020004" pitchFamily="34" charset="0"/>
              </a:rPr>
              <a:t>Nâng cao khả năng xử lý tình huống nghiệp vụ phức tạp trong hệ thống cơ sở dữ liệu của một mạng xã hội thu nhỏ.</a:t>
            </a:r>
          </a:p>
        </p:txBody>
      </p:sp>
      <p:sp>
        <p:nvSpPr>
          <p:cNvPr id="12" name="Text 6">
            <a:extLst>
              <a:ext uri="{FF2B5EF4-FFF2-40B4-BE49-F238E27FC236}">
                <a16:creationId xmlns:a16="http://schemas.microsoft.com/office/drawing/2014/main" id="{2CE9B60E-6DC4-91B4-4A83-1D201B4FA2A3}"/>
              </a:ext>
            </a:extLst>
          </p:cNvPr>
          <p:cNvSpPr/>
          <p:nvPr/>
        </p:nvSpPr>
        <p:spPr>
          <a:xfrm>
            <a:off x="793790" y="561998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dirty="0">
                <a:solidFill>
                  <a:srgbClr val="3D5A97"/>
                </a:solidFill>
                <a:latin typeface="Fira Sans" pitchFamily="34" charset="0"/>
                <a:ea typeface="Fira Sans" pitchFamily="34" charset="-122"/>
                <a:cs typeface="Fira Sans" pitchFamily="34" charset="-120"/>
              </a:rPr>
              <a:t>Rèn tư duy thiết kế CSDL thực tế</a:t>
            </a:r>
            <a:endParaRPr lang="en-US" dirty="0">
              <a:solidFill>
                <a:srgbClr val="3D5A97"/>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85C13B4C-B50C-E7B8-46DA-70DC38A22E77}"/>
              </a:ext>
            </a:extLst>
          </p:cNvPr>
          <p:cNvSpPr/>
          <p:nvPr/>
        </p:nvSpPr>
        <p:spPr>
          <a:xfrm>
            <a:off x="6935807" y="1227829"/>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D5A97"/>
                </a:solidFill>
                <a:latin typeface="Anton" pitchFamily="34" charset="0"/>
                <a:ea typeface="Anton" pitchFamily="34" charset="-122"/>
                <a:cs typeface="Anton" pitchFamily="34" charset="-120"/>
              </a:rPr>
              <a:t>Tổng quan bài toán Social Network</a:t>
            </a:r>
            <a:endParaRPr lang="en-US" sz="4450" dirty="0">
              <a:solidFill>
                <a:srgbClr val="3D5A97"/>
              </a:solidFill>
            </a:endParaRPr>
          </a:p>
        </p:txBody>
      </p:sp>
      <p:grpSp>
        <p:nvGrpSpPr>
          <p:cNvPr id="17" name="Group 16">
            <a:extLst>
              <a:ext uri="{FF2B5EF4-FFF2-40B4-BE49-F238E27FC236}">
                <a16:creationId xmlns:a16="http://schemas.microsoft.com/office/drawing/2014/main" id="{CF8D04A9-2B1E-51A9-C369-C7465EF8A71F}"/>
              </a:ext>
            </a:extLst>
          </p:cNvPr>
          <p:cNvGrpSpPr/>
          <p:nvPr/>
        </p:nvGrpSpPr>
        <p:grpSpPr>
          <a:xfrm>
            <a:off x="10162229" y="3457274"/>
            <a:ext cx="3264699" cy="2026253"/>
            <a:chOff x="10924229" y="3221343"/>
            <a:chExt cx="3264699" cy="2026253"/>
          </a:xfrm>
        </p:grpSpPr>
        <p:sp>
          <p:nvSpPr>
            <p:cNvPr id="14" name="Text 7">
              <a:extLst>
                <a:ext uri="{FF2B5EF4-FFF2-40B4-BE49-F238E27FC236}">
                  <a16:creationId xmlns:a16="http://schemas.microsoft.com/office/drawing/2014/main" id="{C04281A1-E24F-3ED9-1BA0-D6C92F7DF08C}"/>
                </a:ext>
              </a:extLst>
            </p:cNvPr>
            <p:cNvSpPr/>
            <p:nvPr/>
          </p:nvSpPr>
          <p:spPr>
            <a:xfrm>
              <a:off x="10924229" y="32213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5A97"/>
                  </a:solidFill>
                  <a:latin typeface="Anton" pitchFamily="34" charset="0"/>
                  <a:ea typeface="Anton" pitchFamily="34" charset="-122"/>
                  <a:cs typeface="Anton" pitchFamily="34" charset="-120"/>
                </a:rPr>
                <a:t>Trọng tâm:</a:t>
              </a:r>
              <a:endParaRPr lang="en-US" sz="2200" dirty="0">
                <a:solidFill>
                  <a:srgbClr val="3D5A97"/>
                </a:solidFill>
              </a:endParaRPr>
            </a:p>
          </p:txBody>
        </p:sp>
        <p:sp>
          <p:nvSpPr>
            <p:cNvPr id="2" name="TextBox 1">
              <a:extLst>
                <a:ext uri="{FF2B5EF4-FFF2-40B4-BE49-F238E27FC236}">
                  <a16:creationId xmlns:a16="http://schemas.microsoft.com/office/drawing/2014/main" id="{E9C2339D-6744-F036-A8DB-D3026CBF752F}"/>
                </a:ext>
              </a:extLst>
            </p:cNvPr>
            <p:cNvSpPr txBox="1"/>
            <p:nvPr/>
          </p:nvSpPr>
          <p:spPr>
            <a:xfrm>
              <a:off x="10924229" y="3770268"/>
              <a:ext cx="3264699" cy="1477328"/>
            </a:xfrm>
            <a:prstGeom prst="rect">
              <a:avLst/>
            </a:prstGeom>
            <a:noFill/>
          </p:spPr>
          <p:txBody>
            <a:bodyPr wrap="square" rtlCol="0">
              <a:spAutoFit/>
            </a:bodyPr>
            <a:lstStyle/>
            <a:p>
              <a:r>
                <a:rPr lang="vi-VN" dirty="0">
                  <a:solidFill>
                    <a:srgbClr val="3D5A97"/>
                  </a:solidFill>
                  <a:latin typeface="Fira Sans" panose="020B0503050000020004" pitchFamily="34" charset="0"/>
                </a:rPr>
                <a:t>Hệ thống “Mini Social Network” tập trung hoàn toàn vào phía cơ sở dữ liệu MySQL.</a:t>
              </a:r>
              <a:endParaRPr lang="en-US" dirty="0">
                <a:solidFill>
                  <a:srgbClr val="3D5A97"/>
                </a:solidFill>
                <a:latin typeface="Fira Sans" panose="020B0503050000020004" pitchFamily="34" charset="0"/>
              </a:endParaRPr>
            </a:p>
            <a:p>
              <a:endParaRPr lang="vi-VN" dirty="0"/>
            </a:p>
          </p:txBody>
        </p:sp>
      </p:grpSp>
      <p:grpSp>
        <p:nvGrpSpPr>
          <p:cNvPr id="18" name="Group 17">
            <a:extLst>
              <a:ext uri="{FF2B5EF4-FFF2-40B4-BE49-F238E27FC236}">
                <a16:creationId xmlns:a16="http://schemas.microsoft.com/office/drawing/2014/main" id="{F26CA726-4E52-C12F-1402-C0E3D0283BB9}"/>
              </a:ext>
            </a:extLst>
          </p:cNvPr>
          <p:cNvGrpSpPr/>
          <p:nvPr/>
        </p:nvGrpSpPr>
        <p:grpSpPr>
          <a:xfrm>
            <a:off x="7152560" y="3435860"/>
            <a:ext cx="2841058" cy="2777740"/>
            <a:chOff x="6274367" y="3710940"/>
            <a:chExt cx="2841058" cy="2777740"/>
          </a:xfrm>
        </p:grpSpPr>
        <p:sp>
          <p:nvSpPr>
            <p:cNvPr id="8" name="Text 1">
              <a:extLst>
                <a:ext uri="{FF2B5EF4-FFF2-40B4-BE49-F238E27FC236}">
                  <a16:creationId xmlns:a16="http://schemas.microsoft.com/office/drawing/2014/main" id="{3C2FAE70-EF11-66D9-628F-D41DAD328471}"/>
                </a:ext>
              </a:extLst>
            </p:cNvPr>
            <p:cNvSpPr/>
            <p:nvPr/>
          </p:nvSpPr>
          <p:spPr>
            <a:xfrm>
              <a:off x="6280190" y="37109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5A97"/>
                  </a:solidFill>
                  <a:latin typeface="Anton" pitchFamily="34" charset="0"/>
                  <a:ea typeface="Anton" pitchFamily="34" charset="-122"/>
                  <a:cs typeface="Anton" pitchFamily="34" charset="-120"/>
                </a:rPr>
                <a:t>Quản lý:</a:t>
              </a:r>
              <a:endParaRPr lang="en-US" sz="2200" dirty="0">
                <a:solidFill>
                  <a:srgbClr val="3D5A97"/>
                </a:solidFill>
              </a:endParaRPr>
            </a:p>
          </p:txBody>
        </p:sp>
        <p:sp>
          <p:nvSpPr>
            <p:cNvPr id="3" name="TextBox 2">
              <a:extLst>
                <a:ext uri="{FF2B5EF4-FFF2-40B4-BE49-F238E27FC236}">
                  <a16:creationId xmlns:a16="http://schemas.microsoft.com/office/drawing/2014/main" id="{F08D5EBD-5945-5C66-ABE0-258E022267C1}"/>
                </a:ext>
              </a:extLst>
            </p:cNvPr>
            <p:cNvSpPr txBox="1"/>
            <p:nvPr/>
          </p:nvSpPr>
          <p:spPr>
            <a:xfrm>
              <a:off x="6274367" y="4259865"/>
              <a:ext cx="1640193" cy="2228815"/>
            </a:xfrm>
            <a:prstGeom prst="rect">
              <a:avLst/>
            </a:prstGeom>
            <a:noFill/>
          </p:spPr>
          <p:txBody>
            <a:bodyPr wrap="none" rtlCol="0">
              <a:spAutoFit/>
            </a:bodyPr>
            <a:lstStyle/>
            <a:p>
              <a:pPr marL="342900" indent="-342900">
                <a:lnSpc>
                  <a:spcPts val="2850"/>
                </a:lnSpc>
                <a:buSzPct val="100000"/>
                <a:buChar char="•"/>
              </a:pPr>
              <a:r>
                <a:rPr lang="en-US" dirty="0">
                  <a:solidFill>
                    <a:srgbClr val="3D5A97"/>
                  </a:solidFill>
                  <a:latin typeface="Fira Sans" pitchFamily="34" charset="0"/>
                  <a:ea typeface="Fira Sans" pitchFamily="34" charset="-122"/>
                  <a:cs typeface="Fira Sans" pitchFamily="34" charset="-120"/>
                </a:rPr>
                <a:t>Users</a:t>
              </a:r>
            </a:p>
            <a:p>
              <a:pPr marL="342900" indent="-342900">
                <a:lnSpc>
                  <a:spcPts val="2850"/>
                </a:lnSpc>
                <a:buSzPct val="100000"/>
                <a:buChar char="•"/>
              </a:pPr>
              <a:r>
                <a:rPr lang="en-US" dirty="0">
                  <a:solidFill>
                    <a:srgbClr val="3D5A97"/>
                  </a:solidFill>
                  <a:latin typeface="Fira Sans" pitchFamily="34" charset="0"/>
                </a:rPr>
                <a:t>Posts</a:t>
              </a:r>
            </a:p>
            <a:p>
              <a:pPr marL="342900" indent="-342900">
                <a:lnSpc>
                  <a:spcPts val="2850"/>
                </a:lnSpc>
                <a:buSzPct val="100000"/>
                <a:buChar char="•"/>
              </a:pPr>
              <a:r>
                <a:rPr lang="en-US" dirty="0">
                  <a:solidFill>
                    <a:srgbClr val="3D5A97"/>
                  </a:solidFill>
                  <a:latin typeface="Fira Sans" pitchFamily="34" charset="0"/>
                </a:rPr>
                <a:t>Comments</a:t>
              </a:r>
            </a:p>
            <a:p>
              <a:pPr marL="342900" indent="-342900">
                <a:lnSpc>
                  <a:spcPts val="2850"/>
                </a:lnSpc>
                <a:buSzPct val="100000"/>
                <a:buChar char="•"/>
              </a:pPr>
              <a:r>
                <a:rPr lang="en-US" dirty="0">
                  <a:solidFill>
                    <a:srgbClr val="3D5A97"/>
                  </a:solidFill>
                  <a:latin typeface="Fira Sans" pitchFamily="34" charset="0"/>
                </a:rPr>
                <a:t>Likes</a:t>
              </a:r>
            </a:p>
            <a:p>
              <a:pPr marL="342900" indent="-342900">
                <a:lnSpc>
                  <a:spcPts val="2850"/>
                </a:lnSpc>
                <a:buSzPct val="100000"/>
                <a:buChar char="•"/>
              </a:pPr>
              <a:r>
                <a:rPr lang="en-US" dirty="0">
                  <a:solidFill>
                    <a:srgbClr val="3D5A97"/>
                  </a:solidFill>
                  <a:latin typeface="Fira Sans" pitchFamily="34" charset="0"/>
                </a:rPr>
                <a:t>Friends</a:t>
              </a:r>
            </a:p>
            <a:p>
              <a:endParaRPr lang="vi-VN" dirty="0"/>
            </a:p>
          </p:txBody>
        </p:sp>
      </p:grpSp>
      <p:pic>
        <p:nvPicPr>
          <p:cNvPr id="2054" name="Picture 6">
            <a:extLst>
              <a:ext uri="{FF2B5EF4-FFF2-40B4-BE49-F238E27FC236}">
                <a16:creationId xmlns:a16="http://schemas.microsoft.com/office/drawing/2014/main" id="{721B7437-3DBE-2DB1-B070-DAA794494B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354" r="22016"/>
          <a:stretch>
            <a:fillRect/>
          </a:stretch>
        </p:blipFill>
        <p:spPr bwMode="auto">
          <a:xfrm>
            <a:off x="804882" y="872229"/>
            <a:ext cx="5523449" cy="61436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0" name="Text 0">
            <a:extLst>
              <a:ext uri="{FF2B5EF4-FFF2-40B4-BE49-F238E27FC236}">
                <a16:creationId xmlns:a16="http://schemas.microsoft.com/office/drawing/2014/main" id="{5D50AF01-0FDF-A388-D21D-5869A33DD640}"/>
              </a:ext>
            </a:extLst>
          </p:cNvPr>
          <p:cNvSpPr/>
          <p:nvPr/>
        </p:nvSpPr>
        <p:spPr>
          <a:xfrm>
            <a:off x="454831" y="632579"/>
            <a:ext cx="7449383" cy="708779"/>
          </a:xfrm>
          <a:prstGeom prst="rect">
            <a:avLst/>
          </a:prstGeom>
          <a:noFill/>
          <a:ln/>
        </p:spPr>
        <p:txBody>
          <a:bodyPr wrap="none" lIns="0" tIns="0" rIns="0" bIns="0" rtlCol="0" anchor="t"/>
          <a:lstStyle/>
          <a:p>
            <a:pPr marL="0" indent="0" algn="l">
              <a:lnSpc>
                <a:spcPts val="5550"/>
              </a:lnSpc>
              <a:buNone/>
            </a:pPr>
            <a:r>
              <a:rPr lang="en-US" sz="4450" dirty="0">
                <a:solidFill>
                  <a:srgbClr val="3D5A97"/>
                </a:solidFill>
                <a:latin typeface="Anton" pitchFamily="34" charset="0"/>
                <a:ea typeface="Anton" pitchFamily="34" charset="-122"/>
                <a:cs typeface="Anton" pitchFamily="34" charset="-120"/>
              </a:rPr>
              <a:t>Phân tích các bảng dữ liệu chính</a:t>
            </a:r>
            <a:endParaRPr lang="en-US" sz="4450" dirty="0">
              <a:solidFill>
                <a:srgbClr val="3D5A97"/>
              </a:solidFill>
            </a:endParaRPr>
          </a:p>
        </p:txBody>
      </p:sp>
      <p:grpSp>
        <p:nvGrpSpPr>
          <p:cNvPr id="5" name="Group 4">
            <a:extLst>
              <a:ext uri="{FF2B5EF4-FFF2-40B4-BE49-F238E27FC236}">
                <a16:creationId xmlns:a16="http://schemas.microsoft.com/office/drawing/2014/main" id="{BD1FEC42-BFEB-43B3-97E2-4C8C987C10FC}"/>
              </a:ext>
            </a:extLst>
          </p:cNvPr>
          <p:cNvGrpSpPr/>
          <p:nvPr/>
        </p:nvGrpSpPr>
        <p:grpSpPr>
          <a:xfrm>
            <a:off x="454831" y="2068960"/>
            <a:ext cx="3814871" cy="1367912"/>
            <a:chOff x="538394" y="1794985"/>
            <a:chExt cx="4196358" cy="1367910"/>
          </a:xfrm>
        </p:grpSpPr>
        <p:sp>
          <p:nvSpPr>
            <p:cNvPr id="6" name="Shape 1">
              <a:extLst>
                <a:ext uri="{FF2B5EF4-FFF2-40B4-BE49-F238E27FC236}">
                  <a16:creationId xmlns:a16="http://schemas.microsoft.com/office/drawing/2014/main" id="{26E20DBD-0DA2-7BA0-4D4E-6ADF0FFECBC9}"/>
                </a:ext>
              </a:extLst>
            </p:cNvPr>
            <p:cNvSpPr/>
            <p:nvPr/>
          </p:nvSpPr>
          <p:spPr>
            <a:xfrm>
              <a:off x="538394" y="1794986"/>
              <a:ext cx="4196358" cy="1367909"/>
            </a:xfrm>
            <a:prstGeom prst="roundRect">
              <a:avLst>
                <a:gd name="adj" fmla="val 6865"/>
              </a:avLst>
            </a:prstGeom>
            <a:solidFill>
              <a:srgbClr val="1F1F1F"/>
            </a:solidFill>
            <a:ln w="30480">
              <a:solidFill>
                <a:srgbClr val="575757"/>
              </a:solidFill>
              <a:prstDash val="solid"/>
            </a:ln>
          </p:spPr>
          <p:txBody>
            <a:bodyPr/>
            <a:lstStyle/>
            <a:p>
              <a:endParaRPr lang="vi-VN" dirty="0"/>
            </a:p>
          </p:txBody>
        </p:sp>
        <p:sp>
          <p:nvSpPr>
            <p:cNvPr id="7" name="Shape 1">
              <a:extLst>
                <a:ext uri="{FF2B5EF4-FFF2-40B4-BE49-F238E27FC236}">
                  <a16:creationId xmlns:a16="http://schemas.microsoft.com/office/drawing/2014/main" id="{976DC258-E1AB-F64C-8B82-AF616ECF82BE}"/>
                </a:ext>
              </a:extLst>
            </p:cNvPr>
            <p:cNvSpPr/>
            <p:nvPr/>
          </p:nvSpPr>
          <p:spPr>
            <a:xfrm>
              <a:off x="538394" y="1794985"/>
              <a:ext cx="199794"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pic>
        <p:nvPicPr>
          <p:cNvPr id="3078" name="Picture 6">
            <a:extLst>
              <a:ext uri="{FF2B5EF4-FFF2-40B4-BE49-F238E27FC236}">
                <a16:creationId xmlns:a16="http://schemas.microsoft.com/office/drawing/2014/main" id="{3F0DF3E8-16C0-4B95-8418-4EB8E1451C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8611" y="1828800"/>
            <a:ext cx="4903463" cy="5808583"/>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AA48A5BE-1C5E-DCF9-F161-F7C80F7CD266}"/>
              </a:ext>
            </a:extLst>
          </p:cNvPr>
          <p:cNvSpPr txBox="1"/>
          <p:nvPr/>
        </p:nvSpPr>
        <p:spPr>
          <a:xfrm>
            <a:off x="767930" y="2210087"/>
            <a:ext cx="1241045" cy="584775"/>
          </a:xfrm>
          <a:prstGeom prst="rect">
            <a:avLst/>
          </a:prstGeom>
          <a:noFill/>
        </p:spPr>
        <p:txBody>
          <a:bodyPr wrap="none" rtlCol="0">
            <a:spAutoFit/>
          </a:bodyPr>
          <a:lstStyle/>
          <a:p>
            <a:r>
              <a:rPr lang="en-US" sz="3200" b="1" dirty="0">
                <a:solidFill>
                  <a:schemeClr val="tx2">
                    <a:lumMod val="20000"/>
                    <a:lumOff val="80000"/>
                  </a:schemeClr>
                </a:solidFill>
                <a:latin typeface="Fira Sans" panose="020B0503050000020004" pitchFamily="34" charset="0"/>
              </a:rPr>
              <a:t>Users</a:t>
            </a:r>
            <a:endParaRPr lang="vi-VN" sz="3200" b="1" dirty="0">
              <a:solidFill>
                <a:schemeClr val="tx2">
                  <a:lumMod val="20000"/>
                  <a:lumOff val="80000"/>
                </a:schemeClr>
              </a:solidFill>
              <a:latin typeface="Fira Sans" panose="020B0503050000020004" pitchFamily="34" charset="0"/>
            </a:endParaRPr>
          </a:p>
        </p:txBody>
      </p:sp>
      <p:sp>
        <p:nvSpPr>
          <p:cNvPr id="30" name="TextBox 29">
            <a:extLst>
              <a:ext uri="{FF2B5EF4-FFF2-40B4-BE49-F238E27FC236}">
                <a16:creationId xmlns:a16="http://schemas.microsoft.com/office/drawing/2014/main" id="{2C65877B-4434-C83C-28F1-76B05C86C0EC}"/>
              </a:ext>
            </a:extLst>
          </p:cNvPr>
          <p:cNvSpPr txBox="1"/>
          <p:nvPr/>
        </p:nvSpPr>
        <p:spPr>
          <a:xfrm>
            <a:off x="767930" y="2931201"/>
            <a:ext cx="2419252" cy="369332"/>
          </a:xfrm>
          <a:prstGeom prst="rect">
            <a:avLst/>
          </a:prstGeom>
          <a:noFill/>
        </p:spPr>
        <p:txBody>
          <a:bodyPr wrap="none" rtlCol="0">
            <a:spAutoFit/>
          </a:bodyPr>
          <a:lstStyle/>
          <a:p>
            <a:r>
              <a:rPr lang="en-US" dirty="0">
                <a:solidFill>
                  <a:schemeClr val="tx2">
                    <a:lumMod val="20000"/>
                    <a:lumOff val="80000"/>
                  </a:schemeClr>
                </a:solidFill>
                <a:latin typeface="Fira Sans" panose="020B0503050000020004" pitchFamily="34" charset="0"/>
              </a:rPr>
              <a:t>Thông tin </a:t>
            </a:r>
            <a:r>
              <a:rPr lang="en-US" dirty="0" err="1">
                <a:solidFill>
                  <a:schemeClr val="tx2">
                    <a:lumMod val="20000"/>
                    <a:lumOff val="80000"/>
                  </a:schemeClr>
                </a:solidFill>
                <a:latin typeface="Fira Sans" panose="020B0503050000020004" pitchFamily="34" charset="0"/>
              </a:rPr>
              <a:t>người</a:t>
            </a:r>
            <a:r>
              <a:rPr lang="en-US" dirty="0">
                <a:solidFill>
                  <a:schemeClr val="tx2">
                    <a:lumMod val="20000"/>
                    <a:lumOff val="80000"/>
                  </a:schemeClr>
                </a:solidFill>
                <a:latin typeface="Fira Sans" panose="020B0503050000020004" pitchFamily="34" charset="0"/>
              </a:rPr>
              <a:t> </a:t>
            </a:r>
            <a:r>
              <a:rPr lang="en-US" dirty="0" err="1">
                <a:solidFill>
                  <a:schemeClr val="tx2">
                    <a:lumMod val="20000"/>
                    <a:lumOff val="80000"/>
                  </a:schemeClr>
                </a:solidFill>
                <a:latin typeface="Fira Sans" panose="020B0503050000020004" pitchFamily="34" charset="0"/>
              </a:rPr>
              <a:t>dùng</a:t>
            </a:r>
            <a:endParaRPr lang="vi-VN" dirty="0">
              <a:solidFill>
                <a:schemeClr val="tx2">
                  <a:lumMod val="20000"/>
                  <a:lumOff val="80000"/>
                </a:schemeClr>
              </a:solidFill>
              <a:latin typeface="Fira Sans" panose="020B0503050000020004" pitchFamily="34" charset="0"/>
            </a:endParaRPr>
          </a:p>
        </p:txBody>
      </p:sp>
      <p:grpSp>
        <p:nvGrpSpPr>
          <p:cNvPr id="33" name="Group 32">
            <a:extLst>
              <a:ext uri="{FF2B5EF4-FFF2-40B4-BE49-F238E27FC236}">
                <a16:creationId xmlns:a16="http://schemas.microsoft.com/office/drawing/2014/main" id="{DE710E9B-6A03-93A0-1FC3-164A774C3B33}"/>
              </a:ext>
            </a:extLst>
          </p:cNvPr>
          <p:cNvGrpSpPr/>
          <p:nvPr/>
        </p:nvGrpSpPr>
        <p:grpSpPr>
          <a:xfrm>
            <a:off x="454831" y="3903292"/>
            <a:ext cx="3814871" cy="1367912"/>
            <a:chOff x="538394" y="1794985"/>
            <a:chExt cx="4196358" cy="1367910"/>
          </a:xfrm>
        </p:grpSpPr>
        <p:sp>
          <p:nvSpPr>
            <p:cNvPr id="34" name="Shape 1">
              <a:extLst>
                <a:ext uri="{FF2B5EF4-FFF2-40B4-BE49-F238E27FC236}">
                  <a16:creationId xmlns:a16="http://schemas.microsoft.com/office/drawing/2014/main" id="{10FF950E-4531-9694-F8DF-2FA68F1EACE0}"/>
                </a:ext>
              </a:extLst>
            </p:cNvPr>
            <p:cNvSpPr/>
            <p:nvPr/>
          </p:nvSpPr>
          <p:spPr>
            <a:xfrm>
              <a:off x="538394" y="1794986"/>
              <a:ext cx="4196358" cy="1367909"/>
            </a:xfrm>
            <a:prstGeom prst="roundRect">
              <a:avLst>
                <a:gd name="adj" fmla="val 6865"/>
              </a:avLst>
            </a:prstGeom>
            <a:solidFill>
              <a:srgbClr val="1F1F1F"/>
            </a:solidFill>
            <a:ln w="30480">
              <a:solidFill>
                <a:srgbClr val="575757"/>
              </a:solidFill>
              <a:prstDash val="solid"/>
            </a:ln>
          </p:spPr>
          <p:txBody>
            <a:bodyPr/>
            <a:lstStyle/>
            <a:p>
              <a:endParaRPr lang="vi-VN" dirty="0"/>
            </a:p>
          </p:txBody>
        </p:sp>
        <p:sp>
          <p:nvSpPr>
            <p:cNvPr id="35" name="Shape 1">
              <a:extLst>
                <a:ext uri="{FF2B5EF4-FFF2-40B4-BE49-F238E27FC236}">
                  <a16:creationId xmlns:a16="http://schemas.microsoft.com/office/drawing/2014/main" id="{7005AA75-AC51-F95A-0B58-9423F660B648}"/>
                </a:ext>
              </a:extLst>
            </p:cNvPr>
            <p:cNvSpPr/>
            <p:nvPr/>
          </p:nvSpPr>
          <p:spPr>
            <a:xfrm>
              <a:off x="538394" y="1794985"/>
              <a:ext cx="199794"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36" name="TextBox 35">
            <a:extLst>
              <a:ext uri="{FF2B5EF4-FFF2-40B4-BE49-F238E27FC236}">
                <a16:creationId xmlns:a16="http://schemas.microsoft.com/office/drawing/2014/main" id="{596E64F9-FC40-7073-7ED4-89A901A93D74}"/>
              </a:ext>
            </a:extLst>
          </p:cNvPr>
          <p:cNvSpPr txBox="1"/>
          <p:nvPr/>
        </p:nvSpPr>
        <p:spPr>
          <a:xfrm>
            <a:off x="767930" y="4044419"/>
            <a:ext cx="1160895" cy="584775"/>
          </a:xfrm>
          <a:prstGeom prst="rect">
            <a:avLst/>
          </a:prstGeom>
          <a:noFill/>
        </p:spPr>
        <p:txBody>
          <a:bodyPr wrap="none" rtlCol="0">
            <a:spAutoFit/>
          </a:bodyPr>
          <a:lstStyle/>
          <a:p>
            <a:r>
              <a:rPr lang="en-US" sz="3200" b="1" dirty="0">
                <a:solidFill>
                  <a:schemeClr val="tx2">
                    <a:lumMod val="20000"/>
                    <a:lumOff val="80000"/>
                  </a:schemeClr>
                </a:solidFill>
                <a:latin typeface="Fira Sans" panose="020B0503050000020004" pitchFamily="34" charset="0"/>
              </a:rPr>
              <a:t>Likes</a:t>
            </a:r>
            <a:endParaRPr lang="vi-VN" sz="3200" b="1" dirty="0">
              <a:solidFill>
                <a:schemeClr val="tx2">
                  <a:lumMod val="20000"/>
                  <a:lumOff val="80000"/>
                </a:schemeClr>
              </a:solidFill>
              <a:latin typeface="Fira Sans" panose="020B0503050000020004" pitchFamily="34" charset="0"/>
            </a:endParaRPr>
          </a:p>
        </p:txBody>
      </p:sp>
      <p:sp>
        <p:nvSpPr>
          <p:cNvPr id="37" name="TextBox 36">
            <a:extLst>
              <a:ext uri="{FF2B5EF4-FFF2-40B4-BE49-F238E27FC236}">
                <a16:creationId xmlns:a16="http://schemas.microsoft.com/office/drawing/2014/main" id="{31741E0A-46ED-2DC8-648F-DCD06EF4925E}"/>
              </a:ext>
            </a:extLst>
          </p:cNvPr>
          <p:cNvSpPr txBox="1"/>
          <p:nvPr/>
        </p:nvSpPr>
        <p:spPr>
          <a:xfrm>
            <a:off x="767930" y="4765533"/>
            <a:ext cx="1250663" cy="369332"/>
          </a:xfrm>
          <a:prstGeom prst="rect">
            <a:avLst/>
          </a:prstGeom>
          <a:noFill/>
        </p:spPr>
        <p:txBody>
          <a:bodyPr wrap="none" rtlCol="0">
            <a:spAutoFit/>
          </a:bodyPr>
          <a:lstStyle/>
          <a:p>
            <a:r>
              <a:rPr lang="en-US" dirty="0" err="1">
                <a:solidFill>
                  <a:schemeClr val="tx2">
                    <a:lumMod val="20000"/>
                    <a:lumOff val="80000"/>
                  </a:schemeClr>
                </a:solidFill>
                <a:latin typeface="Fira Sans" panose="020B0503050000020004" pitchFamily="34" charset="0"/>
              </a:rPr>
              <a:t>Lượt</a:t>
            </a:r>
            <a:r>
              <a:rPr lang="en-US" dirty="0">
                <a:solidFill>
                  <a:schemeClr val="tx2">
                    <a:lumMod val="20000"/>
                    <a:lumOff val="80000"/>
                  </a:schemeClr>
                </a:solidFill>
                <a:latin typeface="Fira Sans" panose="020B0503050000020004" pitchFamily="34" charset="0"/>
              </a:rPr>
              <a:t> </a:t>
            </a:r>
            <a:r>
              <a:rPr lang="en-US" dirty="0" err="1">
                <a:solidFill>
                  <a:schemeClr val="tx2">
                    <a:lumMod val="20000"/>
                    <a:lumOff val="80000"/>
                  </a:schemeClr>
                </a:solidFill>
                <a:latin typeface="Fira Sans" panose="020B0503050000020004" pitchFamily="34" charset="0"/>
              </a:rPr>
              <a:t>thích</a:t>
            </a:r>
            <a:endParaRPr lang="vi-VN" dirty="0">
              <a:solidFill>
                <a:schemeClr val="tx2">
                  <a:lumMod val="20000"/>
                  <a:lumOff val="80000"/>
                </a:schemeClr>
              </a:solidFill>
              <a:latin typeface="Fira Sans" panose="020B0503050000020004" pitchFamily="34" charset="0"/>
            </a:endParaRPr>
          </a:p>
        </p:txBody>
      </p:sp>
      <p:grpSp>
        <p:nvGrpSpPr>
          <p:cNvPr id="38" name="Group 37">
            <a:extLst>
              <a:ext uri="{FF2B5EF4-FFF2-40B4-BE49-F238E27FC236}">
                <a16:creationId xmlns:a16="http://schemas.microsoft.com/office/drawing/2014/main" id="{D0B5A6C0-E474-4E41-7A6A-A9F2832154AA}"/>
              </a:ext>
            </a:extLst>
          </p:cNvPr>
          <p:cNvGrpSpPr/>
          <p:nvPr/>
        </p:nvGrpSpPr>
        <p:grpSpPr>
          <a:xfrm>
            <a:off x="454831" y="5737624"/>
            <a:ext cx="3814871" cy="1367912"/>
            <a:chOff x="538394" y="1794985"/>
            <a:chExt cx="4196358" cy="1367910"/>
          </a:xfrm>
        </p:grpSpPr>
        <p:sp>
          <p:nvSpPr>
            <p:cNvPr id="39" name="Shape 1">
              <a:extLst>
                <a:ext uri="{FF2B5EF4-FFF2-40B4-BE49-F238E27FC236}">
                  <a16:creationId xmlns:a16="http://schemas.microsoft.com/office/drawing/2014/main" id="{8150905C-4C15-488C-5DBA-F906F5E0052A}"/>
                </a:ext>
              </a:extLst>
            </p:cNvPr>
            <p:cNvSpPr/>
            <p:nvPr/>
          </p:nvSpPr>
          <p:spPr>
            <a:xfrm>
              <a:off x="538394" y="1794986"/>
              <a:ext cx="4196358" cy="1367909"/>
            </a:xfrm>
            <a:prstGeom prst="roundRect">
              <a:avLst>
                <a:gd name="adj" fmla="val 6865"/>
              </a:avLst>
            </a:prstGeom>
            <a:solidFill>
              <a:srgbClr val="1F1F1F"/>
            </a:solidFill>
            <a:ln w="30480">
              <a:solidFill>
                <a:srgbClr val="575757"/>
              </a:solidFill>
              <a:prstDash val="solid"/>
            </a:ln>
          </p:spPr>
          <p:txBody>
            <a:bodyPr/>
            <a:lstStyle/>
            <a:p>
              <a:endParaRPr lang="vi-VN" dirty="0"/>
            </a:p>
          </p:txBody>
        </p:sp>
        <p:sp>
          <p:nvSpPr>
            <p:cNvPr id="63" name="Shape 1">
              <a:extLst>
                <a:ext uri="{FF2B5EF4-FFF2-40B4-BE49-F238E27FC236}">
                  <a16:creationId xmlns:a16="http://schemas.microsoft.com/office/drawing/2014/main" id="{9CD565D2-C793-582A-955F-5CE71D1475D7}"/>
                </a:ext>
              </a:extLst>
            </p:cNvPr>
            <p:cNvSpPr/>
            <p:nvPr/>
          </p:nvSpPr>
          <p:spPr>
            <a:xfrm>
              <a:off x="538394" y="1794985"/>
              <a:ext cx="199794"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65" name="TextBox 64">
            <a:extLst>
              <a:ext uri="{FF2B5EF4-FFF2-40B4-BE49-F238E27FC236}">
                <a16:creationId xmlns:a16="http://schemas.microsoft.com/office/drawing/2014/main" id="{334141F7-53B3-CA07-D95F-6A8391806968}"/>
              </a:ext>
            </a:extLst>
          </p:cNvPr>
          <p:cNvSpPr txBox="1"/>
          <p:nvPr/>
        </p:nvSpPr>
        <p:spPr>
          <a:xfrm>
            <a:off x="767930" y="5878751"/>
            <a:ext cx="2173993" cy="584775"/>
          </a:xfrm>
          <a:prstGeom prst="rect">
            <a:avLst/>
          </a:prstGeom>
          <a:noFill/>
        </p:spPr>
        <p:txBody>
          <a:bodyPr wrap="none" rtlCol="0">
            <a:spAutoFit/>
          </a:bodyPr>
          <a:lstStyle/>
          <a:p>
            <a:r>
              <a:rPr lang="en-US" sz="3200" b="1" dirty="0">
                <a:solidFill>
                  <a:schemeClr val="tx2">
                    <a:lumMod val="20000"/>
                    <a:lumOff val="80000"/>
                  </a:schemeClr>
                </a:solidFill>
                <a:latin typeface="Fira Sans" panose="020B0503050000020004" pitchFamily="34" charset="0"/>
              </a:rPr>
              <a:t>Comments</a:t>
            </a:r>
            <a:endParaRPr lang="vi-VN" sz="3200" b="1" dirty="0">
              <a:solidFill>
                <a:schemeClr val="tx2">
                  <a:lumMod val="20000"/>
                  <a:lumOff val="80000"/>
                </a:schemeClr>
              </a:solidFill>
              <a:latin typeface="Fira Sans" panose="020B0503050000020004" pitchFamily="34" charset="0"/>
            </a:endParaRPr>
          </a:p>
        </p:txBody>
      </p:sp>
      <p:sp>
        <p:nvSpPr>
          <p:cNvPr id="66" name="TextBox 65">
            <a:extLst>
              <a:ext uri="{FF2B5EF4-FFF2-40B4-BE49-F238E27FC236}">
                <a16:creationId xmlns:a16="http://schemas.microsoft.com/office/drawing/2014/main" id="{921EDD4E-6242-6BF9-E8DE-30F17BAA7C7E}"/>
              </a:ext>
            </a:extLst>
          </p:cNvPr>
          <p:cNvSpPr txBox="1"/>
          <p:nvPr/>
        </p:nvSpPr>
        <p:spPr>
          <a:xfrm>
            <a:off x="767930" y="6599865"/>
            <a:ext cx="1183337" cy="369332"/>
          </a:xfrm>
          <a:prstGeom prst="rect">
            <a:avLst/>
          </a:prstGeom>
          <a:noFill/>
        </p:spPr>
        <p:txBody>
          <a:bodyPr wrap="none" rtlCol="0">
            <a:spAutoFit/>
          </a:bodyPr>
          <a:lstStyle/>
          <a:p>
            <a:r>
              <a:rPr lang="en-US" dirty="0">
                <a:solidFill>
                  <a:schemeClr val="tx2">
                    <a:lumMod val="20000"/>
                    <a:lumOff val="80000"/>
                  </a:schemeClr>
                </a:solidFill>
                <a:latin typeface="Fira Sans" panose="020B0503050000020004" pitchFamily="34" charset="0"/>
              </a:rPr>
              <a:t>Bình </a:t>
            </a:r>
            <a:r>
              <a:rPr lang="en-US" dirty="0" err="1">
                <a:solidFill>
                  <a:schemeClr val="tx2">
                    <a:lumMod val="20000"/>
                    <a:lumOff val="80000"/>
                  </a:schemeClr>
                </a:solidFill>
                <a:latin typeface="Fira Sans" panose="020B0503050000020004" pitchFamily="34" charset="0"/>
              </a:rPr>
              <a:t>luận</a:t>
            </a:r>
            <a:endParaRPr lang="vi-VN" dirty="0">
              <a:solidFill>
                <a:schemeClr val="tx2">
                  <a:lumMod val="20000"/>
                  <a:lumOff val="80000"/>
                </a:schemeClr>
              </a:solidFill>
              <a:latin typeface="Fira Sans" panose="020B0503050000020004" pitchFamily="34" charset="0"/>
            </a:endParaRPr>
          </a:p>
        </p:txBody>
      </p:sp>
      <p:grpSp>
        <p:nvGrpSpPr>
          <p:cNvPr id="67" name="Group 66">
            <a:extLst>
              <a:ext uri="{FF2B5EF4-FFF2-40B4-BE49-F238E27FC236}">
                <a16:creationId xmlns:a16="http://schemas.microsoft.com/office/drawing/2014/main" id="{B6C45E30-D5C1-0859-5EE2-FB73F78A161D}"/>
              </a:ext>
            </a:extLst>
          </p:cNvPr>
          <p:cNvGrpSpPr/>
          <p:nvPr/>
        </p:nvGrpSpPr>
        <p:grpSpPr>
          <a:xfrm>
            <a:off x="4806721" y="2068960"/>
            <a:ext cx="3814871" cy="1367912"/>
            <a:chOff x="538394" y="1794985"/>
            <a:chExt cx="4196358" cy="1367910"/>
          </a:xfrm>
        </p:grpSpPr>
        <p:sp>
          <p:nvSpPr>
            <p:cNvPr id="68" name="Shape 1">
              <a:extLst>
                <a:ext uri="{FF2B5EF4-FFF2-40B4-BE49-F238E27FC236}">
                  <a16:creationId xmlns:a16="http://schemas.microsoft.com/office/drawing/2014/main" id="{7B3C3506-F212-F8C0-EA2D-DACF63288A92}"/>
                </a:ext>
              </a:extLst>
            </p:cNvPr>
            <p:cNvSpPr/>
            <p:nvPr/>
          </p:nvSpPr>
          <p:spPr>
            <a:xfrm>
              <a:off x="538394" y="1794986"/>
              <a:ext cx="4196358" cy="1367909"/>
            </a:xfrm>
            <a:prstGeom prst="roundRect">
              <a:avLst>
                <a:gd name="adj" fmla="val 6865"/>
              </a:avLst>
            </a:prstGeom>
            <a:solidFill>
              <a:srgbClr val="1F1F1F"/>
            </a:solidFill>
            <a:ln w="30480">
              <a:solidFill>
                <a:srgbClr val="575757"/>
              </a:solidFill>
              <a:prstDash val="solid"/>
            </a:ln>
          </p:spPr>
          <p:txBody>
            <a:bodyPr/>
            <a:lstStyle/>
            <a:p>
              <a:endParaRPr lang="vi-VN" dirty="0"/>
            </a:p>
          </p:txBody>
        </p:sp>
        <p:sp>
          <p:nvSpPr>
            <p:cNvPr id="69" name="Shape 1">
              <a:extLst>
                <a:ext uri="{FF2B5EF4-FFF2-40B4-BE49-F238E27FC236}">
                  <a16:creationId xmlns:a16="http://schemas.microsoft.com/office/drawing/2014/main" id="{A752BF33-21B3-FC84-1EFD-5DB57E4942F9}"/>
                </a:ext>
              </a:extLst>
            </p:cNvPr>
            <p:cNvSpPr/>
            <p:nvPr/>
          </p:nvSpPr>
          <p:spPr>
            <a:xfrm>
              <a:off x="538394" y="1794985"/>
              <a:ext cx="199794"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0" name="TextBox 69">
            <a:extLst>
              <a:ext uri="{FF2B5EF4-FFF2-40B4-BE49-F238E27FC236}">
                <a16:creationId xmlns:a16="http://schemas.microsoft.com/office/drawing/2014/main" id="{7AF631F0-5CF4-83EC-AFD4-C2A936CA379C}"/>
              </a:ext>
            </a:extLst>
          </p:cNvPr>
          <p:cNvSpPr txBox="1"/>
          <p:nvPr/>
        </p:nvSpPr>
        <p:spPr>
          <a:xfrm>
            <a:off x="5119820" y="2210087"/>
            <a:ext cx="1574470" cy="584775"/>
          </a:xfrm>
          <a:prstGeom prst="rect">
            <a:avLst/>
          </a:prstGeom>
          <a:noFill/>
        </p:spPr>
        <p:txBody>
          <a:bodyPr wrap="none" rtlCol="0">
            <a:spAutoFit/>
          </a:bodyPr>
          <a:lstStyle/>
          <a:p>
            <a:r>
              <a:rPr lang="en-US" sz="3200" b="1" dirty="0">
                <a:solidFill>
                  <a:schemeClr val="tx2">
                    <a:lumMod val="20000"/>
                    <a:lumOff val="80000"/>
                  </a:schemeClr>
                </a:solidFill>
                <a:latin typeface="Fira Sans" panose="020B0503050000020004" pitchFamily="34" charset="0"/>
              </a:rPr>
              <a:t>Friends</a:t>
            </a:r>
            <a:endParaRPr lang="vi-VN" sz="3200" b="1" dirty="0">
              <a:solidFill>
                <a:schemeClr val="tx2">
                  <a:lumMod val="20000"/>
                  <a:lumOff val="80000"/>
                </a:schemeClr>
              </a:solidFill>
              <a:latin typeface="Fira Sans" panose="020B0503050000020004" pitchFamily="34" charset="0"/>
            </a:endParaRPr>
          </a:p>
        </p:txBody>
      </p:sp>
      <p:sp>
        <p:nvSpPr>
          <p:cNvPr id="71" name="TextBox 70">
            <a:extLst>
              <a:ext uri="{FF2B5EF4-FFF2-40B4-BE49-F238E27FC236}">
                <a16:creationId xmlns:a16="http://schemas.microsoft.com/office/drawing/2014/main" id="{BBD2D20D-BE10-C403-0CC9-0578502D4CA9}"/>
              </a:ext>
            </a:extLst>
          </p:cNvPr>
          <p:cNvSpPr txBox="1"/>
          <p:nvPr/>
        </p:nvSpPr>
        <p:spPr>
          <a:xfrm>
            <a:off x="5119820" y="2931201"/>
            <a:ext cx="1842171" cy="369332"/>
          </a:xfrm>
          <a:prstGeom prst="rect">
            <a:avLst/>
          </a:prstGeom>
          <a:noFill/>
        </p:spPr>
        <p:txBody>
          <a:bodyPr wrap="none" rtlCol="0">
            <a:spAutoFit/>
          </a:bodyPr>
          <a:lstStyle/>
          <a:p>
            <a:r>
              <a:rPr lang="en-US" dirty="0">
                <a:solidFill>
                  <a:schemeClr val="tx2">
                    <a:lumMod val="20000"/>
                    <a:lumOff val="80000"/>
                  </a:schemeClr>
                </a:solidFill>
                <a:latin typeface="Fira Sans" panose="020B0503050000020004" pitchFamily="34" charset="0"/>
              </a:rPr>
              <a:t>Quan </a:t>
            </a:r>
            <a:r>
              <a:rPr lang="en-US" dirty="0" err="1">
                <a:solidFill>
                  <a:schemeClr val="tx2">
                    <a:lumMod val="20000"/>
                    <a:lumOff val="80000"/>
                  </a:schemeClr>
                </a:solidFill>
                <a:latin typeface="Fira Sans" panose="020B0503050000020004" pitchFamily="34" charset="0"/>
              </a:rPr>
              <a:t>hệ</a:t>
            </a:r>
            <a:r>
              <a:rPr lang="en-US" dirty="0">
                <a:solidFill>
                  <a:schemeClr val="tx2">
                    <a:lumMod val="20000"/>
                    <a:lumOff val="80000"/>
                  </a:schemeClr>
                </a:solidFill>
                <a:latin typeface="Fira Sans" panose="020B0503050000020004" pitchFamily="34" charset="0"/>
              </a:rPr>
              <a:t> </a:t>
            </a:r>
            <a:r>
              <a:rPr lang="en-US" dirty="0" err="1">
                <a:solidFill>
                  <a:schemeClr val="tx2">
                    <a:lumMod val="20000"/>
                    <a:lumOff val="80000"/>
                  </a:schemeClr>
                </a:solidFill>
                <a:latin typeface="Fira Sans" panose="020B0503050000020004" pitchFamily="34" charset="0"/>
              </a:rPr>
              <a:t>bạn</a:t>
            </a:r>
            <a:r>
              <a:rPr lang="en-US" dirty="0">
                <a:solidFill>
                  <a:schemeClr val="tx2">
                    <a:lumMod val="20000"/>
                    <a:lumOff val="80000"/>
                  </a:schemeClr>
                </a:solidFill>
                <a:latin typeface="Fira Sans" panose="020B0503050000020004" pitchFamily="34" charset="0"/>
              </a:rPr>
              <a:t> </a:t>
            </a:r>
            <a:r>
              <a:rPr lang="en-US" dirty="0" err="1">
                <a:solidFill>
                  <a:schemeClr val="tx2">
                    <a:lumMod val="20000"/>
                    <a:lumOff val="80000"/>
                  </a:schemeClr>
                </a:solidFill>
                <a:latin typeface="Fira Sans" panose="020B0503050000020004" pitchFamily="34" charset="0"/>
              </a:rPr>
              <a:t>bè</a:t>
            </a:r>
            <a:endParaRPr lang="vi-VN" dirty="0">
              <a:solidFill>
                <a:schemeClr val="tx2">
                  <a:lumMod val="20000"/>
                  <a:lumOff val="80000"/>
                </a:schemeClr>
              </a:solidFill>
              <a:latin typeface="Fira Sans" panose="020B0503050000020004" pitchFamily="34" charset="0"/>
            </a:endParaRPr>
          </a:p>
        </p:txBody>
      </p:sp>
      <p:grpSp>
        <p:nvGrpSpPr>
          <p:cNvPr id="72" name="Group 71">
            <a:extLst>
              <a:ext uri="{FF2B5EF4-FFF2-40B4-BE49-F238E27FC236}">
                <a16:creationId xmlns:a16="http://schemas.microsoft.com/office/drawing/2014/main" id="{9CDFBD08-1FCA-AB36-3E04-B3D91920EE9F}"/>
              </a:ext>
            </a:extLst>
          </p:cNvPr>
          <p:cNvGrpSpPr/>
          <p:nvPr/>
        </p:nvGrpSpPr>
        <p:grpSpPr>
          <a:xfrm>
            <a:off x="4806721" y="3903292"/>
            <a:ext cx="3814871" cy="1367912"/>
            <a:chOff x="538394" y="1794985"/>
            <a:chExt cx="4196358" cy="1367910"/>
          </a:xfrm>
        </p:grpSpPr>
        <p:sp>
          <p:nvSpPr>
            <p:cNvPr id="73" name="Shape 1">
              <a:extLst>
                <a:ext uri="{FF2B5EF4-FFF2-40B4-BE49-F238E27FC236}">
                  <a16:creationId xmlns:a16="http://schemas.microsoft.com/office/drawing/2014/main" id="{F1D70728-A433-9B7A-F002-5FCED628D502}"/>
                </a:ext>
              </a:extLst>
            </p:cNvPr>
            <p:cNvSpPr/>
            <p:nvPr/>
          </p:nvSpPr>
          <p:spPr>
            <a:xfrm>
              <a:off x="538394" y="1794986"/>
              <a:ext cx="4196358" cy="1367909"/>
            </a:xfrm>
            <a:prstGeom prst="roundRect">
              <a:avLst>
                <a:gd name="adj" fmla="val 6865"/>
              </a:avLst>
            </a:prstGeom>
            <a:solidFill>
              <a:srgbClr val="1F1F1F"/>
            </a:solidFill>
            <a:ln w="30480">
              <a:solidFill>
                <a:srgbClr val="575757"/>
              </a:solidFill>
              <a:prstDash val="solid"/>
            </a:ln>
          </p:spPr>
          <p:txBody>
            <a:bodyPr/>
            <a:lstStyle/>
            <a:p>
              <a:endParaRPr lang="vi-VN" dirty="0"/>
            </a:p>
          </p:txBody>
        </p:sp>
        <p:sp>
          <p:nvSpPr>
            <p:cNvPr id="74" name="Shape 1">
              <a:extLst>
                <a:ext uri="{FF2B5EF4-FFF2-40B4-BE49-F238E27FC236}">
                  <a16:creationId xmlns:a16="http://schemas.microsoft.com/office/drawing/2014/main" id="{F4932E7C-4D37-06ED-5124-0D6223735AD5}"/>
                </a:ext>
              </a:extLst>
            </p:cNvPr>
            <p:cNvSpPr/>
            <p:nvPr/>
          </p:nvSpPr>
          <p:spPr>
            <a:xfrm>
              <a:off x="538394" y="1794985"/>
              <a:ext cx="199794"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5" name="TextBox 74">
            <a:extLst>
              <a:ext uri="{FF2B5EF4-FFF2-40B4-BE49-F238E27FC236}">
                <a16:creationId xmlns:a16="http://schemas.microsoft.com/office/drawing/2014/main" id="{B90915A7-2434-4A78-D404-CD5F9B6AC8D1}"/>
              </a:ext>
            </a:extLst>
          </p:cNvPr>
          <p:cNvSpPr txBox="1"/>
          <p:nvPr/>
        </p:nvSpPr>
        <p:spPr>
          <a:xfrm>
            <a:off x="5119820" y="4044419"/>
            <a:ext cx="1228221" cy="584775"/>
          </a:xfrm>
          <a:prstGeom prst="rect">
            <a:avLst/>
          </a:prstGeom>
          <a:noFill/>
        </p:spPr>
        <p:txBody>
          <a:bodyPr wrap="none" rtlCol="0">
            <a:spAutoFit/>
          </a:bodyPr>
          <a:lstStyle/>
          <a:p>
            <a:r>
              <a:rPr lang="en-US" sz="3200" b="1" dirty="0">
                <a:solidFill>
                  <a:schemeClr val="tx2">
                    <a:lumMod val="20000"/>
                    <a:lumOff val="80000"/>
                  </a:schemeClr>
                </a:solidFill>
                <a:latin typeface="Fira Sans" panose="020B0503050000020004" pitchFamily="34" charset="0"/>
              </a:rPr>
              <a:t>Posts</a:t>
            </a:r>
            <a:endParaRPr lang="vi-VN" sz="3200" b="1" dirty="0">
              <a:solidFill>
                <a:schemeClr val="tx2">
                  <a:lumMod val="20000"/>
                  <a:lumOff val="80000"/>
                </a:schemeClr>
              </a:solidFill>
              <a:latin typeface="Fira Sans" panose="020B0503050000020004" pitchFamily="34" charset="0"/>
            </a:endParaRPr>
          </a:p>
        </p:txBody>
      </p:sp>
      <p:sp>
        <p:nvSpPr>
          <p:cNvPr id="76" name="TextBox 75">
            <a:extLst>
              <a:ext uri="{FF2B5EF4-FFF2-40B4-BE49-F238E27FC236}">
                <a16:creationId xmlns:a16="http://schemas.microsoft.com/office/drawing/2014/main" id="{91EBA057-0051-D0FD-1D0A-A5ED44877FD3}"/>
              </a:ext>
            </a:extLst>
          </p:cNvPr>
          <p:cNvSpPr txBox="1"/>
          <p:nvPr/>
        </p:nvSpPr>
        <p:spPr>
          <a:xfrm>
            <a:off x="5119820" y="4765533"/>
            <a:ext cx="1968809" cy="369332"/>
          </a:xfrm>
          <a:prstGeom prst="rect">
            <a:avLst/>
          </a:prstGeom>
          <a:noFill/>
        </p:spPr>
        <p:txBody>
          <a:bodyPr wrap="none" rtlCol="0">
            <a:spAutoFit/>
          </a:bodyPr>
          <a:lstStyle/>
          <a:p>
            <a:r>
              <a:rPr lang="en-US" dirty="0" err="1">
                <a:solidFill>
                  <a:schemeClr val="tx2">
                    <a:lumMod val="20000"/>
                    <a:lumOff val="80000"/>
                  </a:schemeClr>
                </a:solidFill>
                <a:latin typeface="Fira Sans" panose="020B0503050000020004" pitchFamily="34" charset="0"/>
              </a:rPr>
              <a:t>Nội</a:t>
            </a:r>
            <a:r>
              <a:rPr lang="en-US" dirty="0">
                <a:solidFill>
                  <a:schemeClr val="tx2">
                    <a:lumMod val="20000"/>
                    <a:lumOff val="80000"/>
                  </a:schemeClr>
                </a:solidFill>
                <a:latin typeface="Fira Sans" panose="020B0503050000020004" pitchFamily="34" charset="0"/>
              </a:rPr>
              <a:t> dung </a:t>
            </a:r>
            <a:r>
              <a:rPr lang="en-US" dirty="0" err="1">
                <a:solidFill>
                  <a:schemeClr val="tx2">
                    <a:lumMod val="20000"/>
                    <a:lumOff val="80000"/>
                  </a:schemeClr>
                </a:solidFill>
                <a:latin typeface="Fira Sans" panose="020B0503050000020004" pitchFamily="34" charset="0"/>
              </a:rPr>
              <a:t>bài</a:t>
            </a:r>
            <a:r>
              <a:rPr lang="en-US" dirty="0">
                <a:solidFill>
                  <a:schemeClr val="tx2">
                    <a:lumMod val="20000"/>
                    <a:lumOff val="80000"/>
                  </a:schemeClr>
                </a:solidFill>
                <a:latin typeface="Fira Sans" panose="020B0503050000020004" pitchFamily="34" charset="0"/>
              </a:rPr>
              <a:t> </a:t>
            </a:r>
            <a:r>
              <a:rPr lang="en-US" dirty="0" err="1">
                <a:solidFill>
                  <a:schemeClr val="tx2">
                    <a:lumMod val="20000"/>
                    <a:lumOff val="80000"/>
                  </a:schemeClr>
                </a:solidFill>
                <a:latin typeface="Fira Sans" panose="020B0503050000020004" pitchFamily="34" charset="0"/>
              </a:rPr>
              <a:t>viết</a:t>
            </a:r>
            <a:endParaRPr lang="vi-VN" dirty="0">
              <a:solidFill>
                <a:schemeClr val="tx2">
                  <a:lumMod val="20000"/>
                  <a:lumOff val="80000"/>
                </a:schemeClr>
              </a:solidFill>
              <a:latin typeface="Fira Sans" panose="020B0503050000020004" pitchFamily="34" charset="0"/>
            </a:endParaRPr>
          </a:p>
        </p:txBody>
      </p:sp>
      <p:sp>
        <p:nvSpPr>
          <p:cNvPr id="77" name="TextBox 76">
            <a:extLst>
              <a:ext uri="{FF2B5EF4-FFF2-40B4-BE49-F238E27FC236}">
                <a16:creationId xmlns:a16="http://schemas.microsoft.com/office/drawing/2014/main" id="{45F67AFF-615C-FBE0-2FE7-66CBA1437177}"/>
              </a:ext>
            </a:extLst>
          </p:cNvPr>
          <p:cNvSpPr txBox="1"/>
          <p:nvPr/>
        </p:nvSpPr>
        <p:spPr>
          <a:xfrm>
            <a:off x="384530" y="7387290"/>
            <a:ext cx="7459093" cy="369332"/>
          </a:xfrm>
          <a:prstGeom prst="rect">
            <a:avLst/>
          </a:prstGeom>
          <a:noFill/>
        </p:spPr>
        <p:txBody>
          <a:bodyPr wrap="none" rtlCol="0">
            <a:spAutoFit/>
          </a:bodyPr>
          <a:lstStyle/>
          <a:p>
            <a:r>
              <a:rPr lang="en-US" b="1" dirty="0">
                <a:solidFill>
                  <a:srgbClr val="3D5A97"/>
                </a:solidFill>
                <a:latin typeface="Fira Sans" panose="020B0503050000020004" pitchFamily="34" charset="0"/>
              </a:rPr>
              <a:t>Các </a:t>
            </a:r>
            <a:r>
              <a:rPr lang="en-US" b="1" dirty="0" err="1">
                <a:solidFill>
                  <a:srgbClr val="3D5A97"/>
                </a:solidFill>
                <a:latin typeface="Fira Sans" panose="020B0503050000020004" pitchFamily="34" charset="0"/>
              </a:rPr>
              <a:t>bảng</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liên</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kết</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bằng</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khoá</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ngoại</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tạo</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mô</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hình</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mạng</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xã</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hội</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đơn</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giản</a:t>
            </a:r>
            <a:endParaRPr lang="vi-VN" b="1" dirty="0">
              <a:solidFill>
                <a:srgbClr val="3D5A97"/>
              </a:solidFill>
              <a:latin typeface="Fira Sans" panose="020B05030500000200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Sơ</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đồ</a:t>
            </a:r>
            <a:r>
              <a:rPr lang="en-US" sz="4450" dirty="0">
                <a:solidFill>
                  <a:srgbClr val="3D5A97"/>
                </a:solidFill>
                <a:latin typeface="Anton" pitchFamily="34" charset="0"/>
                <a:ea typeface="Anton" pitchFamily="34" charset="-122"/>
                <a:cs typeface="Anton" pitchFamily="34" charset="-120"/>
              </a:rPr>
              <a:t> ERD</a:t>
            </a:r>
            <a:endParaRPr lang="en-US" sz="4450" dirty="0">
              <a:solidFill>
                <a:srgbClr val="3D5A97"/>
              </a:solidFill>
            </a:endParaRPr>
          </a:p>
        </p:txBody>
      </p:sp>
      <p:grpSp>
        <p:nvGrpSpPr>
          <p:cNvPr id="28" name="Group 27">
            <a:extLst>
              <a:ext uri="{FF2B5EF4-FFF2-40B4-BE49-F238E27FC236}">
                <a16:creationId xmlns:a16="http://schemas.microsoft.com/office/drawing/2014/main" id="{B1EB694D-F485-69F5-FD58-ED4F99D22497}"/>
              </a:ext>
            </a:extLst>
          </p:cNvPr>
          <p:cNvGrpSpPr/>
          <p:nvPr/>
        </p:nvGrpSpPr>
        <p:grpSpPr>
          <a:xfrm>
            <a:off x="1701800" y="1776860"/>
            <a:ext cx="10350500" cy="5932040"/>
            <a:chOff x="538394" y="1794985"/>
            <a:chExt cx="4196358" cy="1367910"/>
          </a:xfrm>
        </p:grpSpPr>
        <p:sp>
          <p:nvSpPr>
            <p:cNvPr id="29" name="Shape 1">
              <a:extLst>
                <a:ext uri="{FF2B5EF4-FFF2-40B4-BE49-F238E27FC236}">
                  <a16:creationId xmlns:a16="http://schemas.microsoft.com/office/drawing/2014/main" id="{3FCDC653-DF72-49DB-0D5B-7D4B372E5225}"/>
                </a:ext>
              </a:extLst>
            </p:cNvPr>
            <p:cNvSpPr/>
            <p:nvPr/>
          </p:nvSpPr>
          <p:spPr>
            <a:xfrm>
              <a:off x="538394" y="1794986"/>
              <a:ext cx="4196358" cy="1367909"/>
            </a:xfrm>
            <a:prstGeom prst="roundRect">
              <a:avLst>
                <a:gd name="adj" fmla="val 6865"/>
              </a:avLst>
            </a:prstGeom>
            <a:solidFill>
              <a:srgbClr val="1F1F1F"/>
            </a:solidFill>
            <a:ln w="30480">
              <a:solidFill>
                <a:srgbClr val="575757"/>
              </a:solidFill>
              <a:prstDash val="solid"/>
            </a:ln>
          </p:spPr>
          <p:txBody>
            <a:bodyPr/>
            <a:lstStyle/>
            <a:p>
              <a:endParaRPr lang="vi-VN" dirty="0"/>
            </a:p>
          </p:txBody>
        </p:sp>
        <p:sp>
          <p:nvSpPr>
            <p:cNvPr id="30" name="Shape 1">
              <a:extLst>
                <a:ext uri="{FF2B5EF4-FFF2-40B4-BE49-F238E27FC236}">
                  <a16:creationId xmlns:a16="http://schemas.microsoft.com/office/drawing/2014/main" id="{CAB2C6D0-BCC3-8564-C188-C5C2D30B8109}"/>
                </a:ext>
              </a:extLst>
            </p:cNvPr>
            <p:cNvSpPr/>
            <p:nvPr/>
          </p:nvSpPr>
          <p:spPr>
            <a:xfrm>
              <a:off x="538394" y="1794985"/>
              <a:ext cx="199794"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pic>
        <p:nvPicPr>
          <p:cNvPr id="32" name="Picture 31">
            <a:extLst>
              <a:ext uri="{FF2B5EF4-FFF2-40B4-BE49-F238E27FC236}">
                <a16:creationId xmlns:a16="http://schemas.microsoft.com/office/drawing/2014/main" id="{F02AD55A-0404-B7BB-7261-FDC0BBBC2C3A}"/>
              </a:ext>
            </a:extLst>
          </p:cNvPr>
          <p:cNvPicPr>
            <a:picLocks noChangeAspect="1"/>
          </p:cNvPicPr>
          <p:nvPr/>
        </p:nvPicPr>
        <p:blipFill>
          <a:blip r:embed="rId3"/>
          <a:stretch>
            <a:fillRect/>
          </a:stretch>
        </p:blipFill>
        <p:spPr>
          <a:xfrm>
            <a:off x="3630112" y="1902500"/>
            <a:ext cx="6986677" cy="56807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2" name="Shape 1">
            <a:extLst>
              <a:ext uri="{FF2B5EF4-FFF2-40B4-BE49-F238E27FC236}">
                <a16:creationId xmlns:a16="http://schemas.microsoft.com/office/drawing/2014/main" id="{EC048D1E-75BB-93FA-1E19-DF9E0E86EF6D}"/>
              </a:ext>
            </a:extLst>
          </p:cNvPr>
          <p:cNvSpPr/>
          <p:nvPr/>
        </p:nvSpPr>
        <p:spPr>
          <a:xfrm>
            <a:off x="793790" y="2512933"/>
            <a:ext cx="510302" cy="510302"/>
          </a:xfrm>
          <a:prstGeom prst="roundRect">
            <a:avLst>
              <a:gd name="adj" fmla="val 6667"/>
            </a:avLst>
          </a:prstGeom>
          <a:solidFill>
            <a:srgbClr val="3E3E3E"/>
          </a:solidFill>
          <a:ln/>
        </p:spPr>
        <p:txBody>
          <a:bodyPr/>
          <a:lstStyle/>
          <a:p>
            <a:endParaRPr lang="vi-VN"/>
          </a:p>
        </p:txBody>
      </p:sp>
      <p:sp>
        <p:nvSpPr>
          <p:cNvPr id="13" name="Text 2">
            <a:extLst>
              <a:ext uri="{FF2B5EF4-FFF2-40B4-BE49-F238E27FC236}">
                <a16:creationId xmlns:a16="http://schemas.microsoft.com/office/drawing/2014/main" id="{9049EB83-5B3C-5538-4309-557E9C3A08C4}"/>
              </a:ext>
            </a:extLst>
          </p:cNvPr>
          <p:cNvSpPr/>
          <p:nvPr/>
        </p:nvSpPr>
        <p:spPr>
          <a:xfrm>
            <a:off x="1530906" y="2590800"/>
            <a:ext cx="3356729" cy="354330"/>
          </a:xfrm>
          <a:prstGeom prst="rect">
            <a:avLst/>
          </a:prstGeom>
          <a:noFill/>
          <a:ln/>
        </p:spPr>
        <p:txBody>
          <a:bodyPr wrap="none" lIns="0" tIns="0" rIns="0" bIns="0" rtlCol="0" anchor="t"/>
          <a:lstStyle/>
          <a:p>
            <a:pPr marL="0" indent="0" algn="l">
              <a:lnSpc>
                <a:spcPts val="2750"/>
              </a:lnSpc>
              <a:buNone/>
            </a:pPr>
            <a:r>
              <a:rPr lang="en-US" sz="2200" dirty="0" err="1">
                <a:solidFill>
                  <a:srgbClr val="3D5A97"/>
                </a:solidFill>
                <a:latin typeface="Anton" pitchFamily="34" charset="0"/>
              </a:rPr>
              <a:t>Đăng</a:t>
            </a:r>
            <a:r>
              <a:rPr lang="en-US" sz="2200" dirty="0">
                <a:solidFill>
                  <a:srgbClr val="3D5A97"/>
                </a:solidFill>
                <a:latin typeface="Anton" pitchFamily="34" charset="0"/>
              </a:rPr>
              <a:t> </a:t>
            </a:r>
            <a:r>
              <a:rPr lang="en-US" sz="2200" dirty="0" err="1">
                <a:solidFill>
                  <a:srgbClr val="3D5A97"/>
                </a:solidFill>
                <a:latin typeface="Anton" pitchFamily="34" charset="0"/>
              </a:rPr>
              <a:t>ký</a:t>
            </a:r>
            <a:r>
              <a:rPr lang="en-US" sz="2200" dirty="0">
                <a:solidFill>
                  <a:srgbClr val="3D5A97"/>
                </a:solidFill>
                <a:latin typeface="Anton" pitchFamily="34" charset="0"/>
              </a:rPr>
              <a:t> </a:t>
            </a:r>
            <a:r>
              <a:rPr lang="en-US" sz="2200" dirty="0" err="1">
                <a:solidFill>
                  <a:srgbClr val="3D5A97"/>
                </a:solidFill>
                <a:latin typeface="Anton" pitchFamily="34" charset="0"/>
              </a:rPr>
              <a:t>thành</a:t>
            </a:r>
            <a:r>
              <a:rPr lang="en-US" sz="2200" dirty="0">
                <a:solidFill>
                  <a:srgbClr val="3D5A97"/>
                </a:solidFill>
                <a:latin typeface="Anton" pitchFamily="34" charset="0"/>
              </a:rPr>
              <a:t> </a:t>
            </a:r>
            <a:r>
              <a:rPr lang="en-US" sz="2200" dirty="0" err="1">
                <a:solidFill>
                  <a:srgbClr val="3D5A97"/>
                </a:solidFill>
                <a:latin typeface="Anton" pitchFamily="34" charset="0"/>
              </a:rPr>
              <a:t>viên</a:t>
            </a:r>
            <a:endParaRPr lang="en-US" sz="2200" dirty="0">
              <a:solidFill>
                <a:srgbClr val="3D5A97"/>
              </a:solidFill>
            </a:endParaRPr>
          </a:p>
        </p:txBody>
      </p:sp>
      <p:sp>
        <p:nvSpPr>
          <p:cNvPr id="14" name="Shape 3">
            <a:extLst>
              <a:ext uri="{FF2B5EF4-FFF2-40B4-BE49-F238E27FC236}">
                <a16:creationId xmlns:a16="http://schemas.microsoft.com/office/drawing/2014/main" id="{32E15FF3-4DF8-C91F-DA0E-C322EA75A115}"/>
              </a:ext>
            </a:extLst>
          </p:cNvPr>
          <p:cNvSpPr/>
          <p:nvPr/>
        </p:nvSpPr>
        <p:spPr>
          <a:xfrm>
            <a:off x="793790" y="3476863"/>
            <a:ext cx="510302" cy="510302"/>
          </a:xfrm>
          <a:prstGeom prst="roundRect">
            <a:avLst>
              <a:gd name="adj" fmla="val 6667"/>
            </a:avLst>
          </a:prstGeom>
          <a:solidFill>
            <a:srgbClr val="3E3E3E"/>
          </a:solidFill>
          <a:ln/>
        </p:spPr>
        <p:txBody>
          <a:bodyPr/>
          <a:lstStyle/>
          <a:p>
            <a:endParaRPr lang="vi-VN"/>
          </a:p>
        </p:txBody>
      </p:sp>
      <p:sp>
        <p:nvSpPr>
          <p:cNvPr id="15" name="Text 4">
            <a:extLst>
              <a:ext uri="{FF2B5EF4-FFF2-40B4-BE49-F238E27FC236}">
                <a16:creationId xmlns:a16="http://schemas.microsoft.com/office/drawing/2014/main" id="{57C00D1B-FDA9-7E01-1071-194F4C54863D}"/>
              </a:ext>
            </a:extLst>
          </p:cNvPr>
          <p:cNvSpPr/>
          <p:nvPr/>
        </p:nvSpPr>
        <p:spPr>
          <a:xfrm>
            <a:off x="1530906" y="3554730"/>
            <a:ext cx="4161473" cy="354330"/>
          </a:xfrm>
          <a:prstGeom prst="rect">
            <a:avLst/>
          </a:prstGeom>
          <a:noFill/>
          <a:ln/>
        </p:spPr>
        <p:txBody>
          <a:bodyPr wrap="none" lIns="0" tIns="0" rIns="0" bIns="0" rtlCol="0" anchor="t"/>
          <a:lstStyle/>
          <a:p>
            <a:pPr marL="0" indent="0" algn="l">
              <a:lnSpc>
                <a:spcPts val="2750"/>
              </a:lnSpc>
              <a:buNone/>
            </a:pPr>
            <a:r>
              <a:rPr lang="en-US" sz="2200" dirty="0" err="1">
                <a:solidFill>
                  <a:srgbClr val="3D5A97"/>
                </a:solidFill>
                <a:latin typeface="Anton" pitchFamily="34" charset="0"/>
              </a:rPr>
              <a:t>Đăng</a:t>
            </a:r>
            <a:r>
              <a:rPr lang="en-US" sz="2200" dirty="0">
                <a:solidFill>
                  <a:srgbClr val="3D5A97"/>
                </a:solidFill>
                <a:latin typeface="Anton" pitchFamily="34" charset="0"/>
              </a:rPr>
              <a:t> </a:t>
            </a:r>
            <a:r>
              <a:rPr lang="en-US" sz="2200" dirty="0" err="1">
                <a:solidFill>
                  <a:srgbClr val="3D5A97"/>
                </a:solidFill>
                <a:latin typeface="Anton" pitchFamily="34" charset="0"/>
              </a:rPr>
              <a:t>bài</a:t>
            </a:r>
            <a:r>
              <a:rPr lang="en-US" sz="2200" dirty="0">
                <a:solidFill>
                  <a:srgbClr val="3D5A97"/>
                </a:solidFill>
                <a:latin typeface="Anton" pitchFamily="34" charset="0"/>
              </a:rPr>
              <a:t> </a:t>
            </a:r>
            <a:r>
              <a:rPr lang="en-US" sz="2200" dirty="0" err="1">
                <a:solidFill>
                  <a:srgbClr val="3D5A97"/>
                </a:solidFill>
                <a:latin typeface="Anton" pitchFamily="34" charset="0"/>
              </a:rPr>
              <a:t>viết</a:t>
            </a:r>
            <a:endParaRPr lang="en-US" sz="2200" dirty="0">
              <a:solidFill>
                <a:srgbClr val="3D5A97"/>
              </a:solidFill>
            </a:endParaRPr>
          </a:p>
        </p:txBody>
      </p:sp>
      <p:sp>
        <p:nvSpPr>
          <p:cNvPr id="16" name="Shape 5">
            <a:extLst>
              <a:ext uri="{FF2B5EF4-FFF2-40B4-BE49-F238E27FC236}">
                <a16:creationId xmlns:a16="http://schemas.microsoft.com/office/drawing/2014/main" id="{ABB5D524-BE70-6DFD-D747-DFC4483B20AC}"/>
              </a:ext>
            </a:extLst>
          </p:cNvPr>
          <p:cNvSpPr/>
          <p:nvPr/>
        </p:nvSpPr>
        <p:spPr>
          <a:xfrm>
            <a:off x="793790" y="4440793"/>
            <a:ext cx="510302" cy="510302"/>
          </a:xfrm>
          <a:prstGeom prst="roundRect">
            <a:avLst>
              <a:gd name="adj" fmla="val 6667"/>
            </a:avLst>
          </a:prstGeom>
          <a:solidFill>
            <a:srgbClr val="3E3E3E"/>
          </a:solidFill>
          <a:ln/>
        </p:spPr>
        <p:txBody>
          <a:bodyPr/>
          <a:lstStyle/>
          <a:p>
            <a:endParaRPr lang="vi-VN"/>
          </a:p>
        </p:txBody>
      </p:sp>
      <p:sp>
        <p:nvSpPr>
          <p:cNvPr id="17" name="Text 6">
            <a:extLst>
              <a:ext uri="{FF2B5EF4-FFF2-40B4-BE49-F238E27FC236}">
                <a16:creationId xmlns:a16="http://schemas.microsoft.com/office/drawing/2014/main" id="{E7736EFA-E1E8-F79B-FCAD-B98C17B24FC9}"/>
              </a:ext>
            </a:extLst>
          </p:cNvPr>
          <p:cNvSpPr/>
          <p:nvPr/>
        </p:nvSpPr>
        <p:spPr>
          <a:xfrm>
            <a:off x="1530906" y="4518660"/>
            <a:ext cx="5148143" cy="354330"/>
          </a:xfrm>
          <a:prstGeom prst="rect">
            <a:avLst/>
          </a:prstGeom>
          <a:noFill/>
          <a:ln/>
        </p:spPr>
        <p:txBody>
          <a:bodyPr wrap="none" lIns="0" tIns="0" rIns="0" bIns="0" rtlCol="0" anchor="t"/>
          <a:lstStyle/>
          <a:p>
            <a:pPr marL="0" indent="0" algn="l">
              <a:lnSpc>
                <a:spcPts val="2750"/>
              </a:lnSpc>
              <a:buNone/>
            </a:pPr>
            <a:r>
              <a:rPr lang="en-US" sz="2200" dirty="0">
                <a:solidFill>
                  <a:srgbClr val="3D5A97"/>
                </a:solidFill>
                <a:latin typeface="Anton" pitchFamily="34" charset="0"/>
                <a:ea typeface="Anton" pitchFamily="34" charset="-122"/>
                <a:cs typeface="Anton" pitchFamily="34" charset="-120"/>
              </a:rPr>
              <a:t>Thích </a:t>
            </a:r>
            <a:r>
              <a:rPr lang="en-US" sz="2200" dirty="0" err="1">
                <a:solidFill>
                  <a:srgbClr val="3D5A97"/>
                </a:solidFill>
                <a:latin typeface="Anton" pitchFamily="34" charset="0"/>
                <a:ea typeface="Anton" pitchFamily="34" charset="-122"/>
                <a:cs typeface="Anton" pitchFamily="34" charset="-120"/>
              </a:rPr>
              <a:t>bài</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viết</a:t>
            </a:r>
            <a:endParaRPr lang="en-US" sz="2200" dirty="0">
              <a:solidFill>
                <a:srgbClr val="3D5A97"/>
              </a:solidFill>
            </a:endParaRPr>
          </a:p>
        </p:txBody>
      </p:sp>
      <p:sp>
        <p:nvSpPr>
          <p:cNvPr id="18" name="Shape 7">
            <a:extLst>
              <a:ext uri="{FF2B5EF4-FFF2-40B4-BE49-F238E27FC236}">
                <a16:creationId xmlns:a16="http://schemas.microsoft.com/office/drawing/2014/main" id="{DD8C1FB0-0766-5237-E2BE-541A9034BA97}"/>
              </a:ext>
            </a:extLst>
          </p:cNvPr>
          <p:cNvSpPr/>
          <p:nvPr/>
        </p:nvSpPr>
        <p:spPr>
          <a:xfrm>
            <a:off x="793790" y="5404723"/>
            <a:ext cx="510302" cy="510302"/>
          </a:xfrm>
          <a:prstGeom prst="roundRect">
            <a:avLst>
              <a:gd name="adj" fmla="val 6667"/>
            </a:avLst>
          </a:prstGeom>
          <a:solidFill>
            <a:srgbClr val="3E3E3E"/>
          </a:solidFill>
          <a:ln/>
        </p:spPr>
        <p:txBody>
          <a:bodyPr/>
          <a:lstStyle/>
          <a:p>
            <a:endParaRPr lang="vi-VN"/>
          </a:p>
        </p:txBody>
      </p:sp>
      <p:sp>
        <p:nvSpPr>
          <p:cNvPr id="19" name="Text 8">
            <a:extLst>
              <a:ext uri="{FF2B5EF4-FFF2-40B4-BE49-F238E27FC236}">
                <a16:creationId xmlns:a16="http://schemas.microsoft.com/office/drawing/2014/main" id="{A6450170-4416-33E7-17D1-766A47736886}"/>
              </a:ext>
            </a:extLst>
          </p:cNvPr>
          <p:cNvSpPr/>
          <p:nvPr/>
        </p:nvSpPr>
        <p:spPr>
          <a:xfrm>
            <a:off x="1530906" y="5482590"/>
            <a:ext cx="4328636" cy="354330"/>
          </a:xfrm>
          <a:prstGeom prst="rect">
            <a:avLst/>
          </a:prstGeom>
          <a:noFill/>
          <a:ln/>
        </p:spPr>
        <p:txBody>
          <a:bodyPr wrap="none" lIns="0" tIns="0" rIns="0" bIns="0" rtlCol="0" anchor="t"/>
          <a:lstStyle/>
          <a:p>
            <a:pPr marL="0" indent="0" algn="l">
              <a:lnSpc>
                <a:spcPts val="2750"/>
              </a:lnSpc>
              <a:buNone/>
            </a:pPr>
            <a:r>
              <a:rPr lang="en-US" sz="2200" dirty="0" err="1">
                <a:solidFill>
                  <a:srgbClr val="3D5A97"/>
                </a:solidFill>
                <a:latin typeface="Anton" pitchFamily="34" charset="0"/>
                <a:ea typeface="Anton" pitchFamily="34" charset="-122"/>
                <a:cs typeface="Anton" pitchFamily="34" charset="-120"/>
              </a:rPr>
              <a:t>Gửi</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lời</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mời</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kết</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bạn</a:t>
            </a:r>
            <a:endParaRPr lang="en-US" sz="2200" dirty="0">
              <a:solidFill>
                <a:srgbClr val="3D5A97"/>
              </a:solidFill>
            </a:endParaRPr>
          </a:p>
        </p:txBody>
      </p:sp>
      <p:sp>
        <p:nvSpPr>
          <p:cNvPr id="20" name="Shape 9">
            <a:extLst>
              <a:ext uri="{FF2B5EF4-FFF2-40B4-BE49-F238E27FC236}">
                <a16:creationId xmlns:a16="http://schemas.microsoft.com/office/drawing/2014/main" id="{B46C1EC4-6C0D-7CA8-C4B3-197D4D21A7C1}"/>
              </a:ext>
            </a:extLst>
          </p:cNvPr>
          <p:cNvSpPr/>
          <p:nvPr/>
        </p:nvSpPr>
        <p:spPr>
          <a:xfrm>
            <a:off x="7315200" y="2512695"/>
            <a:ext cx="510302" cy="510302"/>
          </a:xfrm>
          <a:prstGeom prst="roundRect">
            <a:avLst>
              <a:gd name="adj" fmla="val 6667"/>
            </a:avLst>
          </a:prstGeom>
          <a:solidFill>
            <a:srgbClr val="3E3E3E"/>
          </a:solidFill>
          <a:ln/>
        </p:spPr>
        <p:txBody>
          <a:bodyPr/>
          <a:lstStyle/>
          <a:p>
            <a:endParaRPr lang="vi-VN"/>
          </a:p>
        </p:txBody>
      </p:sp>
      <p:sp>
        <p:nvSpPr>
          <p:cNvPr id="21" name="Text 10">
            <a:extLst>
              <a:ext uri="{FF2B5EF4-FFF2-40B4-BE49-F238E27FC236}">
                <a16:creationId xmlns:a16="http://schemas.microsoft.com/office/drawing/2014/main" id="{006BFE0A-9A8A-9FC1-D943-8AD1043EA397}"/>
              </a:ext>
            </a:extLst>
          </p:cNvPr>
          <p:cNvSpPr/>
          <p:nvPr/>
        </p:nvSpPr>
        <p:spPr>
          <a:xfrm>
            <a:off x="8052316" y="2590562"/>
            <a:ext cx="2835235" cy="354330"/>
          </a:xfrm>
          <a:prstGeom prst="rect">
            <a:avLst/>
          </a:prstGeom>
          <a:noFill/>
          <a:ln/>
        </p:spPr>
        <p:txBody>
          <a:bodyPr wrap="none" lIns="0" tIns="0" rIns="0" bIns="0" rtlCol="0" anchor="t"/>
          <a:lstStyle/>
          <a:p>
            <a:pPr marL="0" indent="0" algn="l">
              <a:lnSpc>
                <a:spcPts val="2750"/>
              </a:lnSpc>
              <a:buNone/>
            </a:pPr>
            <a:r>
              <a:rPr lang="en-US" sz="2200" dirty="0" err="1">
                <a:solidFill>
                  <a:srgbClr val="3D5A97"/>
                </a:solidFill>
                <a:latin typeface="Anton" pitchFamily="34" charset="0"/>
                <a:ea typeface="Anton" pitchFamily="34" charset="-122"/>
                <a:cs typeface="Anton" pitchFamily="34" charset="-120"/>
              </a:rPr>
              <a:t>Chấp</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nhận</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lời</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mời</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kết</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bạn</a:t>
            </a:r>
            <a:endParaRPr lang="en-US" sz="2200" dirty="0">
              <a:solidFill>
                <a:srgbClr val="3D5A97"/>
              </a:solidFill>
            </a:endParaRPr>
          </a:p>
        </p:txBody>
      </p:sp>
      <p:sp>
        <p:nvSpPr>
          <p:cNvPr id="2" name="Text 0">
            <a:extLst>
              <a:ext uri="{FF2B5EF4-FFF2-40B4-BE49-F238E27FC236}">
                <a16:creationId xmlns:a16="http://schemas.microsoft.com/office/drawing/2014/main" id="{EFE5DF45-6FEF-C620-5810-D640DCFFE5FE}"/>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Shape 1">
            <a:extLst>
              <a:ext uri="{FF2B5EF4-FFF2-40B4-BE49-F238E27FC236}">
                <a16:creationId xmlns:a16="http://schemas.microsoft.com/office/drawing/2014/main" id="{91B6566C-3AA2-6E24-A144-11B3F534620B}"/>
              </a:ext>
            </a:extLst>
          </p:cNvPr>
          <p:cNvSpPr/>
          <p:nvPr/>
        </p:nvSpPr>
        <p:spPr>
          <a:xfrm>
            <a:off x="7315200" y="3398758"/>
            <a:ext cx="510302" cy="510302"/>
          </a:xfrm>
          <a:prstGeom prst="roundRect">
            <a:avLst>
              <a:gd name="adj" fmla="val 6667"/>
            </a:avLst>
          </a:prstGeom>
          <a:solidFill>
            <a:srgbClr val="3E3E3E"/>
          </a:solidFill>
          <a:ln/>
        </p:spPr>
        <p:txBody>
          <a:bodyPr/>
          <a:lstStyle/>
          <a:p>
            <a:endParaRPr lang="vi-VN"/>
          </a:p>
        </p:txBody>
      </p:sp>
      <p:sp>
        <p:nvSpPr>
          <p:cNvPr id="4" name="Text 2">
            <a:extLst>
              <a:ext uri="{FF2B5EF4-FFF2-40B4-BE49-F238E27FC236}">
                <a16:creationId xmlns:a16="http://schemas.microsoft.com/office/drawing/2014/main" id="{80C5AB25-E804-649D-9888-FCCFF32519FE}"/>
              </a:ext>
            </a:extLst>
          </p:cNvPr>
          <p:cNvSpPr/>
          <p:nvPr/>
        </p:nvSpPr>
        <p:spPr>
          <a:xfrm>
            <a:off x="8052316" y="3476625"/>
            <a:ext cx="3356729" cy="354330"/>
          </a:xfrm>
          <a:prstGeom prst="rect">
            <a:avLst/>
          </a:prstGeom>
          <a:noFill/>
          <a:ln/>
        </p:spPr>
        <p:txBody>
          <a:bodyPr wrap="none" lIns="0" tIns="0" rIns="0" bIns="0" rtlCol="0" anchor="t"/>
          <a:lstStyle/>
          <a:p>
            <a:pPr marL="0" indent="0" algn="l">
              <a:lnSpc>
                <a:spcPts val="2750"/>
              </a:lnSpc>
              <a:buNone/>
            </a:pPr>
            <a:r>
              <a:rPr lang="en-US" sz="2200" dirty="0">
                <a:solidFill>
                  <a:srgbClr val="3D5A97"/>
                </a:solidFill>
                <a:latin typeface="Anton" pitchFamily="34" charset="0"/>
              </a:rPr>
              <a:t>Quản </a:t>
            </a:r>
            <a:r>
              <a:rPr lang="en-US" sz="2200" dirty="0" err="1">
                <a:solidFill>
                  <a:srgbClr val="3D5A97"/>
                </a:solidFill>
                <a:latin typeface="Anton" pitchFamily="34" charset="0"/>
              </a:rPr>
              <a:t>lý</a:t>
            </a:r>
            <a:r>
              <a:rPr lang="en-US" sz="2200" dirty="0">
                <a:solidFill>
                  <a:srgbClr val="3D5A97"/>
                </a:solidFill>
                <a:latin typeface="Anton" pitchFamily="34" charset="0"/>
              </a:rPr>
              <a:t> </a:t>
            </a:r>
            <a:r>
              <a:rPr lang="en-US" sz="2200" dirty="0" err="1">
                <a:solidFill>
                  <a:srgbClr val="3D5A97"/>
                </a:solidFill>
                <a:latin typeface="Anton" pitchFamily="34" charset="0"/>
              </a:rPr>
              <a:t>mối</a:t>
            </a:r>
            <a:r>
              <a:rPr lang="en-US" sz="2200" dirty="0">
                <a:solidFill>
                  <a:srgbClr val="3D5A97"/>
                </a:solidFill>
                <a:latin typeface="Anton" pitchFamily="34" charset="0"/>
              </a:rPr>
              <a:t> </a:t>
            </a:r>
            <a:r>
              <a:rPr lang="en-US" sz="2200" dirty="0" err="1">
                <a:solidFill>
                  <a:srgbClr val="3D5A97"/>
                </a:solidFill>
                <a:latin typeface="Anton" pitchFamily="34" charset="0"/>
              </a:rPr>
              <a:t>quan</a:t>
            </a:r>
            <a:r>
              <a:rPr lang="en-US" sz="2200" dirty="0">
                <a:solidFill>
                  <a:srgbClr val="3D5A97"/>
                </a:solidFill>
                <a:latin typeface="Anton" pitchFamily="34" charset="0"/>
              </a:rPr>
              <a:t> </a:t>
            </a:r>
            <a:r>
              <a:rPr lang="en-US" sz="2200" dirty="0" err="1">
                <a:solidFill>
                  <a:srgbClr val="3D5A97"/>
                </a:solidFill>
                <a:latin typeface="Anton" pitchFamily="34" charset="0"/>
              </a:rPr>
              <a:t>hệ</a:t>
            </a:r>
            <a:r>
              <a:rPr lang="en-US" sz="2200" dirty="0">
                <a:solidFill>
                  <a:srgbClr val="3D5A97"/>
                </a:solidFill>
                <a:latin typeface="Anton" pitchFamily="34" charset="0"/>
              </a:rPr>
              <a:t> </a:t>
            </a:r>
            <a:r>
              <a:rPr lang="en-US" sz="2200" dirty="0" err="1">
                <a:solidFill>
                  <a:srgbClr val="3D5A97"/>
                </a:solidFill>
                <a:latin typeface="Anton" pitchFamily="34" charset="0"/>
              </a:rPr>
              <a:t>bạn</a:t>
            </a:r>
            <a:r>
              <a:rPr lang="en-US" sz="2200" dirty="0">
                <a:solidFill>
                  <a:srgbClr val="3D5A97"/>
                </a:solidFill>
                <a:latin typeface="Anton" pitchFamily="34" charset="0"/>
              </a:rPr>
              <a:t> </a:t>
            </a:r>
            <a:r>
              <a:rPr lang="en-US" sz="2200" dirty="0" err="1">
                <a:solidFill>
                  <a:srgbClr val="3D5A97"/>
                </a:solidFill>
                <a:latin typeface="Anton" pitchFamily="34" charset="0"/>
              </a:rPr>
              <a:t>bè</a:t>
            </a:r>
            <a:endParaRPr lang="en-US" sz="2200" dirty="0">
              <a:solidFill>
                <a:srgbClr val="3D5A97"/>
              </a:solidFill>
            </a:endParaRPr>
          </a:p>
        </p:txBody>
      </p:sp>
      <p:sp>
        <p:nvSpPr>
          <p:cNvPr id="5" name="Shape 3">
            <a:extLst>
              <a:ext uri="{FF2B5EF4-FFF2-40B4-BE49-F238E27FC236}">
                <a16:creationId xmlns:a16="http://schemas.microsoft.com/office/drawing/2014/main" id="{5E213724-8681-B356-CCC7-7D1E00344620}"/>
              </a:ext>
            </a:extLst>
          </p:cNvPr>
          <p:cNvSpPr/>
          <p:nvPr/>
        </p:nvSpPr>
        <p:spPr>
          <a:xfrm>
            <a:off x="7315200" y="4362688"/>
            <a:ext cx="510302" cy="510302"/>
          </a:xfrm>
          <a:prstGeom prst="roundRect">
            <a:avLst>
              <a:gd name="adj" fmla="val 6667"/>
            </a:avLst>
          </a:prstGeom>
          <a:solidFill>
            <a:srgbClr val="3E3E3E"/>
          </a:solidFill>
          <a:ln/>
        </p:spPr>
        <p:txBody>
          <a:bodyPr/>
          <a:lstStyle/>
          <a:p>
            <a:endParaRPr lang="vi-VN"/>
          </a:p>
        </p:txBody>
      </p:sp>
      <p:sp>
        <p:nvSpPr>
          <p:cNvPr id="6" name="Text 4">
            <a:extLst>
              <a:ext uri="{FF2B5EF4-FFF2-40B4-BE49-F238E27FC236}">
                <a16:creationId xmlns:a16="http://schemas.microsoft.com/office/drawing/2014/main" id="{1BA15CDD-03A0-A4E1-06C7-944D8EDFBCE8}"/>
              </a:ext>
            </a:extLst>
          </p:cNvPr>
          <p:cNvSpPr/>
          <p:nvPr/>
        </p:nvSpPr>
        <p:spPr>
          <a:xfrm>
            <a:off x="8052316" y="4440555"/>
            <a:ext cx="4161473" cy="354330"/>
          </a:xfrm>
          <a:prstGeom prst="rect">
            <a:avLst/>
          </a:prstGeom>
          <a:noFill/>
          <a:ln/>
        </p:spPr>
        <p:txBody>
          <a:bodyPr wrap="none" lIns="0" tIns="0" rIns="0" bIns="0" rtlCol="0" anchor="t"/>
          <a:lstStyle/>
          <a:p>
            <a:pPr marL="0" indent="0" algn="l">
              <a:lnSpc>
                <a:spcPts val="2750"/>
              </a:lnSpc>
              <a:buNone/>
            </a:pPr>
            <a:r>
              <a:rPr lang="en-US" sz="2200" dirty="0">
                <a:solidFill>
                  <a:srgbClr val="3D5A97"/>
                </a:solidFill>
                <a:latin typeface="Anton" pitchFamily="34" charset="0"/>
              </a:rPr>
              <a:t>Quản </a:t>
            </a:r>
            <a:r>
              <a:rPr lang="en-US" sz="2200" dirty="0" err="1">
                <a:solidFill>
                  <a:srgbClr val="3D5A97"/>
                </a:solidFill>
                <a:latin typeface="Anton" pitchFamily="34" charset="0"/>
              </a:rPr>
              <a:t>lý</a:t>
            </a:r>
            <a:r>
              <a:rPr lang="en-US" sz="2200" dirty="0">
                <a:solidFill>
                  <a:srgbClr val="3D5A97"/>
                </a:solidFill>
                <a:latin typeface="Anton" pitchFamily="34" charset="0"/>
              </a:rPr>
              <a:t> </a:t>
            </a:r>
            <a:r>
              <a:rPr lang="en-US" sz="2200" dirty="0" err="1">
                <a:solidFill>
                  <a:srgbClr val="3D5A97"/>
                </a:solidFill>
                <a:latin typeface="Anton" pitchFamily="34" charset="0"/>
              </a:rPr>
              <a:t>xoá</a:t>
            </a:r>
            <a:r>
              <a:rPr lang="en-US" sz="2200" dirty="0">
                <a:solidFill>
                  <a:srgbClr val="3D5A97"/>
                </a:solidFill>
                <a:latin typeface="Anton" pitchFamily="34" charset="0"/>
              </a:rPr>
              <a:t> </a:t>
            </a:r>
            <a:r>
              <a:rPr lang="en-US" sz="2200" dirty="0" err="1">
                <a:solidFill>
                  <a:srgbClr val="3D5A97"/>
                </a:solidFill>
                <a:latin typeface="Anton" pitchFamily="34" charset="0"/>
              </a:rPr>
              <a:t>bài</a:t>
            </a:r>
            <a:r>
              <a:rPr lang="en-US" sz="2200" dirty="0">
                <a:solidFill>
                  <a:srgbClr val="3D5A97"/>
                </a:solidFill>
                <a:latin typeface="Anton" pitchFamily="34" charset="0"/>
              </a:rPr>
              <a:t> </a:t>
            </a:r>
            <a:r>
              <a:rPr lang="en-US" sz="2200" dirty="0" err="1">
                <a:solidFill>
                  <a:srgbClr val="3D5A97"/>
                </a:solidFill>
                <a:latin typeface="Anton" pitchFamily="34" charset="0"/>
              </a:rPr>
              <a:t>viết</a:t>
            </a:r>
            <a:endParaRPr lang="en-US" sz="2200" dirty="0">
              <a:solidFill>
                <a:srgbClr val="3D5A97"/>
              </a:solidFill>
            </a:endParaRPr>
          </a:p>
        </p:txBody>
      </p:sp>
      <p:sp>
        <p:nvSpPr>
          <p:cNvPr id="7" name="Shape 5">
            <a:extLst>
              <a:ext uri="{FF2B5EF4-FFF2-40B4-BE49-F238E27FC236}">
                <a16:creationId xmlns:a16="http://schemas.microsoft.com/office/drawing/2014/main" id="{6B886E64-10EE-1C72-8B10-E20AFC3EABB9}"/>
              </a:ext>
            </a:extLst>
          </p:cNvPr>
          <p:cNvSpPr/>
          <p:nvPr/>
        </p:nvSpPr>
        <p:spPr>
          <a:xfrm>
            <a:off x="7315200" y="5326618"/>
            <a:ext cx="510302" cy="510302"/>
          </a:xfrm>
          <a:prstGeom prst="roundRect">
            <a:avLst>
              <a:gd name="adj" fmla="val 6667"/>
            </a:avLst>
          </a:prstGeom>
          <a:solidFill>
            <a:srgbClr val="3E3E3E"/>
          </a:solidFill>
          <a:ln/>
        </p:spPr>
        <p:txBody>
          <a:bodyPr/>
          <a:lstStyle/>
          <a:p>
            <a:endParaRPr lang="vi-VN"/>
          </a:p>
        </p:txBody>
      </p:sp>
      <p:sp>
        <p:nvSpPr>
          <p:cNvPr id="8" name="Text 6">
            <a:extLst>
              <a:ext uri="{FF2B5EF4-FFF2-40B4-BE49-F238E27FC236}">
                <a16:creationId xmlns:a16="http://schemas.microsoft.com/office/drawing/2014/main" id="{9E10338A-3BEF-0141-4DF3-3E7427383700}"/>
              </a:ext>
            </a:extLst>
          </p:cNvPr>
          <p:cNvSpPr/>
          <p:nvPr/>
        </p:nvSpPr>
        <p:spPr>
          <a:xfrm>
            <a:off x="8052316" y="5404485"/>
            <a:ext cx="5148143" cy="354330"/>
          </a:xfrm>
          <a:prstGeom prst="rect">
            <a:avLst/>
          </a:prstGeom>
          <a:noFill/>
          <a:ln/>
        </p:spPr>
        <p:txBody>
          <a:bodyPr wrap="none" lIns="0" tIns="0" rIns="0" bIns="0" rtlCol="0" anchor="t"/>
          <a:lstStyle/>
          <a:p>
            <a:pPr marL="0" indent="0" algn="l">
              <a:lnSpc>
                <a:spcPts val="2750"/>
              </a:lnSpc>
              <a:buNone/>
            </a:pPr>
            <a:r>
              <a:rPr lang="en-US" sz="2200" dirty="0">
                <a:solidFill>
                  <a:srgbClr val="3D5A97"/>
                </a:solidFill>
                <a:latin typeface="Anton" pitchFamily="34" charset="0"/>
                <a:ea typeface="Anton" pitchFamily="34" charset="-122"/>
                <a:cs typeface="Anton" pitchFamily="34" charset="-120"/>
              </a:rPr>
              <a:t>Quản </a:t>
            </a:r>
            <a:r>
              <a:rPr lang="en-US" sz="2200" dirty="0" err="1">
                <a:solidFill>
                  <a:srgbClr val="3D5A97"/>
                </a:solidFill>
                <a:latin typeface="Anton" pitchFamily="34" charset="0"/>
                <a:ea typeface="Anton" pitchFamily="34" charset="-122"/>
                <a:cs typeface="Anton" pitchFamily="34" charset="-120"/>
              </a:rPr>
              <a:t>lý</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xoá</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tài</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khoản</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người</a:t>
            </a:r>
            <a:r>
              <a:rPr lang="en-US" sz="2200" dirty="0">
                <a:solidFill>
                  <a:srgbClr val="3D5A97"/>
                </a:solidFill>
                <a:latin typeface="Anton" pitchFamily="34" charset="0"/>
                <a:ea typeface="Anton" pitchFamily="34" charset="-122"/>
                <a:cs typeface="Anton" pitchFamily="34" charset="-120"/>
              </a:rPr>
              <a:t> </a:t>
            </a:r>
            <a:r>
              <a:rPr lang="en-US" sz="2200" dirty="0" err="1">
                <a:solidFill>
                  <a:srgbClr val="3D5A97"/>
                </a:solidFill>
                <a:latin typeface="Anton" pitchFamily="34" charset="0"/>
                <a:ea typeface="Anton" pitchFamily="34" charset="-122"/>
                <a:cs typeface="Anton" pitchFamily="34" charset="-120"/>
              </a:rPr>
              <a:t>dùng</a:t>
            </a:r>
            <a:endParaRPr lang="en-US" sz="2200" dirty="0">
              <a:solidFill>
                <a:srgbClr val="3D5A97"/>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3034FFB-6A37-6B25-78A8-D5AD4D2A4F22}"/>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A8A8AECA-E2D5-E888-32F5-07E560A3AAE0}"/>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1. </a:t>
            </a:r>
            <a:r>
              <a:rPr lang="en-US" sz="2400" dirty="0" err="1">
                <a:solidFill>
                  <a:srgbClr val="3D5A97"/>
                </a:solidFill>
                <a:latin typeface="Anton" pitchFamily="34" charset="0"/>
                <a:ea typeface="Anton" pitchFamily="34" charset="-122"/>
                <a:cs typeface="Anton" pitchFamily="34" charset="-120"/>
              </a:rPr>
              <a:t>Đăng</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ký</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thành</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viên</a:t>
            </a:r>
            <a:endParaRPr lang="en-US" sz="2400" dirty="0">
              <a:solidFill>
                <a:srgbClr val="3D5A97"/>
              </a:solidFill>
            </a:endParaRPr>
          </a:p>
        </p:txBody>
      </p:sp>
      <p:grpSp>
        <p:nvGrpSpPr>
          <p:cNvPr id="4" name="Group 3">
            <a:extLst>
              <a:ext uri="{FF2B5EF4-FFF2-40B4-BE49-F238E27FC236}">
                <a16:creationId xmlns:a16="http://schemas.microsoft.com/office/drawing/2014/main" id="{671FF870-C7A1-3F8C-DE50-191E0F728CD1}"/>
              </a:ext>
            </a:extLst>
          </p:cNvPr>
          <p:cNvGrpSpPr/>
          <p:nvPr/>
        </p:nvGrpSpPr>
        <p:grpSpPr>
          <a:xfrm rot="5400000">
            <a:off x="1547922" y="1816169"/>
            <a:ext cx="4527401" cy="6171127"/>
            <a:chOff x="538394" y="1794986"/>
            <a:chExt cx="4196358" cy="1367909"/>
          </a:xfrm>
        </p:grpSpPr>
        <p:sp>
          <p:nvSpPr>
            <p:cNvPr id="5" name="Shape 1">
              <a:extLst>
                <a:ext uri="{FF2B5EF4-FFF2-40B4-BE49-F238E27FC236}">
                  <a16:creationId xmlns:a16="http://schemas.microsoft.com/office/drawing/2014/main" id="{F32A9BBD-A05E-2A19-C40C-C87844F4AF15}"/>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E66DF50B-9239-9815-9928-695C5F0A4BB4}"/>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9C4D1FB1-7B8D-C8CC-D7C4-CCF2DEE5604A}"/>
              </a:ext>
            </a:extLst>
          </p:cNvPr>
          <p:cNvSpPr txBox="1"/>
          <p:nvPr/>
        </p:nvSpPr>
        <p:spPr>
          <a:xfrm rot="5400000">
            <a:off x="3566059" y="2071087"/>
            <a:ext cx="553998" cy="1687893"/>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73A8CC12-4C1F-0549-030F-8BB418CE4279}"/>
              </a:ext>
            </a:extLst>
          </p:cNvPr>
          <p:cNvSpPr txBox="1"/>
          <p:nvPr/>
        </p:nvSpPr>
        <p:spPr>
          <a:xfrm>
            <a:off x="880325" y="3417377"/>
            <a:ext cx="5736854" cy="1711622"/>
          </a:xfrm>
          <a:prstGeom prst="rect">
            <a:avLst/>
          </a:prstGeom>
          <a:noFill/>
        </p:spPr>
        <p:txBody>
          <a:bodyPr wrap="square" rtlCol="0">
            <a:spAutoFit/>
          </a:bodyPr>
          <a:lstStyle/>
          <a:p>
            <a:pPr marL="342900" indent="-342900" algn="just">
              <a:lnSpc>
                <a:spcPct val="150000"/>
              </a:lnSpc>
              <a:buAutoNum type="arabicPeriod"/>
            </a:pPr>
            <a:r>
              <a:rPr lang="vi-VN" dirty="0">
                <a:solidFill>
                  <a:schemeClr val="tx2">
                    <a:lumMod val="20000"/>
                    <a:lumOff val="80000"/>
                  </a:schemeClr>
                </a:solidFill>
                <a:latin typeface="Fira Sans" panose="020B0503050000020004" pitchFamily="34" charset="0"/>
              </a:rPr>
              <a:t>Username và email phải là duy nhất, nếu trùng sẽ gây nhầm lẫn và vi phạm toàn vẹn dữ liệu.</a:t>
            </a:r>
            <a:endParaRPr lang="en-US" dirty="0">
              <a:solidFill>
                <a:schemeClr val="tx2">
                  <a:lumMod val="20000"/>
                  <a:lumOff val="80000"/>
                </a:schemeClr>
              </a:solidFill>
              <a:latin typeface="Fira Sans" panose="020B0503050000020004" pitchFamily="34" charset="0"/>
            </a:endParaRPr>
          </a:p>
          <a:p>
            <a:pPr marL="342900" indent="-342900" algn="just">
              <a:lnSpc>
                <a:spcPct val="150000"/>
              </a:lnSpc>
              <a:buAutoNum type="arabicPeriod"/>
            </a:pPr>
            <a:r>
              <a:rPr lang="vi-VN" dirty="0">
                <a:solidFill>
                  <a:schemeClr val="tx2">
                    <a:lumMod val="20000"/>
                    <a:lumOff val="80000"/>
                  </a:schemeClr>
                </a:solidFill>
                <a:latin typeface="Fira Sans" panose="020B0503050000020004" pitchFamily="34" charset="0"/>
              </a:rPr>
              <a:t>Người dùng có thể nhập username rỗng hoặc chỉ chứa khoảng trắng.</a:t>
            </a:r>
            <a:endParaRPr lang="en-US" dirty="0">
              <a:solidFill>
                <a:schemeClr val="tx2">
                  <a:lumMod val="20000"/>
                  <a:lumOff val="80000"/>
                </a:schemeClr>
              </a:solidFill>
              <a:latin typeface="Fira Sans" panose="020B0503050000020004" pitchFamily="34" charset="0"/>
            </a:endParaRPr>
          </a:p>
        </p:txBody>
      </p:sp>
      <p:grpSp>
        <p:nvGrpSpPr>
          <p:cNvPr id="23" name="Group 22">
            <a:extLst>
              <a:ext uri="{FF2B5EF4-FFF2-40B4-BE49-F238E27FC236}">
                <a16:creationId xmlns:a16="http://schemas.microsoft.com/office/drawing/2014/main" id="{BAC93FDF-BB46-D258-7C0F-B00331C96574}"/>
              </a:ext>
            </a:extLst>
          </p:cNvPr>
          <p:cNvGrpSpPr/>
          <p:nvPr/>
        </p:nvGrpSpPr>
        <p:grpSpPr>
          <a:xfrm rot="5400000">
            <a:off x="8555077" y="1816168"/>
            <a:ext cx="4527401" cy="6171127"/>
            <a:chOff x="538394" y="1794986"/>
            <a:chExt cx="4196358" cy="1367909"/>
          </a:xfrm>
        </p:grpSpPr>
        <p:sp>
          <p:nvSpPr>
            <p:cNvPr id="24" name="Shape 1">
              <a:extLst>
                <a:ext uri="{FF2B5EF4-FFF2-40B4-BE49-F238E27FC236}">
                  <a16:creationId xmlns:a16="http://schemas.microsoft.com/office/drawing/2014/main" id="{CDE1E15E-F66B-2D63-A61A-C2FD1D876548}"/>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6BB8702A-FE39-8065-E9F3-3361FE4030A8}"/>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C790B8D7-BCBE-7947-D59B-0BBA562FAE95}"/>
              </a:ext>
            </a:extLst>
          </p:cNvPr>
          <p:cNvSpPr txBox="1"/>
          <p:nvPr/>
        </p:nvSpPr>
        <p:spPr>
          <a:xfrm rot="5400000">
            <a:off x="10478907" y="2102524"/>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C3F83899-D73D-08D4-1CEC-4144145CC336}"/>
              </a:ext>
            </a:extLst>
          </p:cNvPr>
          <p:cNvSpPr txBox="1"/>
          <p:nvPr/>
        </p:nvSpPr>
        <p:spPr>
          <a:xfrm>
            <a:off x="7887480" y="3417376"/>
            <a:ext cx="5736854" cy="2446824"/>
          </a:xfrm>
          <a:prstGeom prst="rect">
            <a:avLst/>
          </a:prstGeom>
          <a:noFill/>
        </p:spPr>
        <p:txBody>
          <a:bodyPr wrap="square" rtlCol="0">
            <a:spAutoFit/>
          </a:bodyPr>
          <a:lstStyle/>
          <a:p>
            <a:pPr algn="just">
              <a:lnSpc>
                <a:spcPct val="150000"/>
              </a:lnSpc>
            </a:pPr>
            <a:r>
              <a:rPr lang="en-US" dirty="0">
                <a:solidFill>
                  <a:schemeClr val="tx2">
                    <a:lumMod val="20000"/>
                    <a:lumOff val="80000"/>
                  </a:schemeClr>
                </a:solidFill>
                <a:latin typeface="Fira Sans" panose="020B0503050000020004" pitchFamily="34" charset="0"/>
              </a:rPr>
              <a:t>1. </a:t>
            </a:r>
            <a:r>
              <a:rPr lang="vi-VN" b="1" dirty="0">
                <a:solidFill>
                  <a:schemeClr val="tx2">
                    <a:lumMod val="20000"/>
                    <a:lumOff val="80000"/>
                  </a:schemeClr>
                </a:solidFill>
                <a:latin typeface="Fira Sans" panose="020B0503050000020004" pitchFamily="34" charset="0"/>
              </a:rPr>
              <a:t>Kiểm tra trùng username và email</a:t>
            </a:r>
            <a:endParaRPr lang="vi-VN" dirty="0">
              <a:solidFill>
                <a:schemeClr val="tx2">
                  <a:lumMod val="20000"/>
                  <a:lumOff val="80000"/>
                </a:schemeClr>
              </a:solidFill>
              <a:latin typeface="Fira Sans" panose="020B0503050000020004" pitchFamily="34" charset="0"/>
            </a:endParaRPr>
          </a:p>
          <a:p>
            <a:pPr>
              <a:lnSpc>
                <a:spcPct val="150000"/>
              </a:lnSpc>
            </a:pPr>
            <a:r>
              <a:rPr lang="en-US" dirty="0">
                <a:solidFill>
                  <a:schemeClr val="tx2">
                    <a:lumMod val="20000"/>
                    <a:lumOff val="80000"/>
                  </a:schemeClr>
                </a:solidFill>
                <a:latin typeface="Fira Sans" panose="020B0503050000020004" pitchFamily="34" charset="0"/>
              </a:rPr>
              <a:t>- </a:t>
            </a:r>
            <a:r>
              <a:rPr lang="vi-VN" dirty="0">
                <a:solidFill>
                  <a:schemeClr val="tx2">
                    <a:lumMod val="20000"/>
                    <a:lumOff val="80000"/>
                  </a:schemeClr>
                </a:solidFill>
                <a:latin typeface="Fira Sans" panose="020B0503050000020004" pitchFamily="34" charset="0"/>
              </a:rPr>
              <a:t>Stored Procedure sp_register_user kiểm tra trùng username và email trong bảng users.</a:t>
            </a:r>
          </a:p>
          <a:p>
            <a:pPr>
              <a:lnSpc>
                <a:spcPct val="150000"/>
              </a:lnSpc>
            </a:pPr>
            <a:r>
              <a:rPr lang="en-US" dirty="0">
                <a:solidFill>
                  <a:schemeClr val="tx2">
                    <a:lumMod val="20000"/>
                    <a:lumOff val="80000"/>
                  </a:schemeClr>
                </a:solidFill>
                <a:latin typeface="Fira Sans" panose="020B0503050000020004" pitchFamily="34" charset="0"/>
              </a:rPr>
              <a:t>- </a:t>
            </a:r>
            <a:r>
              <a:rPr lang="vi-VN" dirty="0">
                <a:solidFill>
                  <a:schemeClr val="tx2">
                    <a:lumMod val="20000"/>
                    <a:lumOff val="80000"/>
                  </a:schemeClr>
                </a:solidFill>
                <a:latin typeface="Fira Sans" panose="020B0503050000020004" pitchFamily="34" charset="0"/>
              </a:rPr>
              <a:t>Nếu phát hiện trùng, dùng SIGNAL SQLSTATE '45000' để dừng xử lý và không insert dữ liệu.</a:t>
            </a:r>
          </a:p>
          <a:p>
            <a:pPr algn="just"/>
            <a:endParaRPr lang="vi-VN" dirty="0">
              <a:solidFill>
                <a:schemeClr val="tx2">
                  <a:lumMod val="20000"/>
                  <a:lumOff val="80000"/>
                </a:schemeClr>
              </a:solidFill>
              <a:latin typeface="Fira Sans" panose="020B0503050000020004" pitchFamily="34" charset="0"/>
            </a:endParaRPr>
          </a:p>
        </p:txBody>
      </p:sp>
    </p:spTree>
    <p:extLst>
      <p:ext uri="{BB962C8B-B14F-4D97-AF65-F5344CB8AC3E}">
        <p14:creationId xmlns:p14="http://schemas.microsoft.com/office/powerpoint/2010/main" val="192260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E3765-C9C1-8B22-4620-E170A0B4D32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D1AB11-D232-3C2E-F4C5-61F5B3096DA2}"/>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E4EB455B-22A0-C570-3F2B-E36E52ED65D9}"/>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1. </a:t>
            </a:r>
            <a:r>
              <a:rPr lang="en-US" sz="2400" dirty="0" err="1">
                <a:solidFill>
                  <a:srgbClr val="3D5A97"/>
                </a:solidFill>
                <a:latin typeface="Anton" pitchFamily="34" charset="0"/>
                <a:ea typeface="Anton" pitchFamily="34" charset="-122"/>
                <a:cs typeface="Anton" pitchFamily="34" charset="-120"/>
              </a:rPr>
              <a:t>Đăng</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ký</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thành</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viên</a:t>
            </a:r>
            <a:endParaRPr lang="en-US" sz="2400" dirty="0">
              <a:solidFill>
                <a:srgbClr val="3D5A97"/>
              </a:solidFill>
            </a:endParaRPr>
          </a:p>
        </p:txBody>
      </p:sp>
      <p:grpSp>
        <p:nvGrpSpPr>
          <p:cNvPr id="4" name="Group 3">
            <a:extLst>
              <a:ext uri="{FF2B5EF4-FFF2-40B4-BE49-F238E27FC236}">
                <a16:creationId xmlns:a16="http://schemas.microsoft.com/office/drawing/2014/main" id="{36E21C99-B2D0-84FD-D966-0EA5D8E9FE05}"/>
              </a:ext>
            </a:extLst>
          </p:cNvPr>
          <p:cNvGrpSpPr/>
          <p:nvPr/>
        </p:nvGrpSpPr>
        <p:grpSpPr>
          <a:xfrm rot="5400000">
            <a:off x="1547922" y="1816169"/>
            <a:ext cx="4527401" cy="6171127"/>
            <a:chOff x="538394" y="1794986"/>
            <a:chExt cx="4196358" cy="1367909"/>
          </a:xfrm>
        </p:grpSpPr>
        <p:sp>
          <p:nvSpPr>
            <p:cNvPr id="5" name="Shape 1">
              <a:extLst>
                <a:ext uri="{FF2B5EF4-FFF2-40B4-BE49-F238E27FC236}">
                  <a16:creationId xmlns:a16="http://schemas.microsoft.com/office/drawing/2014/main" id="{9E9E07AA-B49E-A8F1-4EC8-AC8533316AEB}"/>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23C21A1D-CB8D-05AF-3724-99AC7236421B}"/>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D764FD59-C8CE-6DD8-267B-AB36BAE3FC23}"/>
              </a:ext>
            </a:extLst>
          </p:cNvPr>
          <p:cNvSpPr txBox="1"/>
          <p:nvPr/>
        </p:nvSpPr>
        <p:spPr>
          <a:xfrm rot="5400000">
            <a:off x="3566059" y="2071087"/>
            <a:ext cx="553998" cy="1687893"/>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3431AEA7-A5A2-9FE0-6277-5C765C377682}"/>
              </a:ext>
            </a:extLst>
          </p:cNvPr>
          <p:cNvSpPr txBox="1"/>
          <p:nvPr/>
        </p:nvSpPr>
        <p:spPr>
          <a:xfrm>
            <a:off x="880325" y="3417377"/>
            <a:ext cx="5736854" cy="1711622"/>
          </a:xfrm>
          <a:prstGeom prst="rect">
            <a:avLst/>
          </a:prstGeom>
          <a:noFill/>
        </p:spPr>
        <p:txBody>
          <a:bodyPr wrap="square" rtlCol="0">
            <a:spAutoFit/>
          </a:bodyPr>
          <a:lstStyle/>
          <a:p>
            <a:pPr marL="342900" indent="-342900" algn="just">
              <a:lnSpc>
                <a:spcPct val="150000"/>
              </a:lnSpc>
              <a:buAutoNum type="arabicPeriod"/>
            </a:pPr>
            <a:r>
              <a:rPr lang="vi-VN" dirty="0">
                <a:solidFill>
                  <a:schemeClr val="tx2">
                    <a:lumMod val="20000"/>
                    <a:lumOff val="80000"/>
                  </a:schemeClr>
                </a:solidFill>
                <a:latin typeface="Fira Sans" panose="020B0503050000020004" pitchFamily="34" charset="0"/>
              </a:rPr>
              <a:t>Username và email phải là duy nhất, nếu trùng sẽ gây nhầm lẫn và vi phạm toàn vẹn dữ liệu.</a:t>
            </a:r>
            <a:endParaRPr lang="en-US" dirty="0">
              <a:solidFill>
                <a:schemeClr val="tx2">
                  <a:lumMod val="20000"/>
                  <a:lumOff val="80000"/>
                </a:schemeClr>
              </a:solidFill>
              <a:latin typeface="Fira Sans" panose="020B0503050000020004" pitchFamily="34" charset="0"/>
            </a:endParaRPr>
          </a:p>
          <a:p>
            <a:pPr marL="342900" indent="-342900" algn="just">
              <a:lnSpc>
                <a:spcPct val="150000"/>
              </a:lnSpc>
              <a:buAutoNum type="arabicPeriod"/>
            </a:pPr>
            <a:r>
              <a:rPr lang="vi-VN" dirty="0">
                <a:solidFill>
                  <a:schemeClr val="tx2">
                    <a:lumMod val="20000"/>
                    <a:lumOff val="80000"/>
                  </a:schemeClr>
                </a:solidFill>
                <a:latin typeface="Fira Sans" panose="020B0503050000020004" pitchFamily="34" charset="0"/>
              </a:rPr>
              <a:t>Người dùng có thể nhập username rỗng hoặc chỉ chứa khoảng trắng.</a:t>
            </a:r>
            <a:endParaRPr lang="en-US" dirty="0">
              <a:solidFill>
                <a:schemeClr val="tx2">
                  <a:lumMod val="20000"/>
                  <a:lumOff val="80000"/>
                </a:schemeClr>
              </a:solidFill>
              <a:latin typeface="Fira Sans" panose="020B0503050000020004" pitchFamily="34" charset="0"/>
            </a:endParaRPr>
          </a:p>
        </p:txBody>
      </p:sp>
      <p:grpSp>
        <p:nvGrpSpPr>
          <p:cNvPr id="23" name="Group 22">
            <a:extLst>
              <a:ext uri="{FF2B5EF4-FFF2-40B4-BE49-F238E27FC236}">
                <a16:creationId xmlns:a16="http://schemas.microsoft.com/office/drawing/2014/main" id="{9A67331C-C7EE-B482-013E-009CEF12BD80}"/>
              </a:ext>
            </a:extLst>
          </p:cNvPr>
          <p:cNvGrpSpPr/>
          <p:nvPr/>
        </p:nvGrpSpPr>
        <p:grpSpPr>
          <a:xfrm rot="5400000">
            <a:off x="8555077" y="1816168"/>
            <a:ext cx="4527401" cy="6171127"/>
            <a:chOff x="538394" y="1794986"/>
            <a:chExt cx="4196358" cy="1367909"/>
          </a:xfrm>
        </p:grpSpPr>
        <p:sp>
          <p:nvSpPr>
            <p:cNvPr id="24" name="Shape 1">
              <a:extLst>
                <a:ext uri="{FF2B5EF4-FFF2-40B4-BE49-F238E27FC236}">
                  <a16:creationId xmlns:a16="http://schemas.microsoft.com/office/drawing/2014/main" id="{D3EA80ED-F7A3-518B-6464-258E726E8E54}"/>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011657F9-1506-F223-25CE-DED93B352B8A}"/>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0B5B87B5-1C57-97A2-7EF5-D608DB04E0DE}"/>
              </a:ext>
            </a:extLst>
          </p:cNvPr>
          <p:cNvSpPr txBox="1"/>
          <p:nvPr/>
        </p:nvSpPr>
        <p:spPr>
          <a:xfrm rot="5400000">
            <a:off x="10478907" y="2102524"/>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96993BAD-314F-AB5D-DFCC-0DEB95710951}"/>
              </a:ext>
            </a:extLst>
          </p:cNvPr>
          <p:cNvSpPr txBox="1"/>
          <p:nvPr/>
        </p:nvSpPr>
        <p:spPr>
          <a:xfrm>
            <a:off x="7887479" y="3417376"/>
            <a:ext cx="5862595" cy="2031325"/>
          </a:xfrm>
          <a:prstGeom prst="rect">
            <a:avLst/>
          </a:prstGeom>
          <a:noFill/>
        </p:spPr>
        <p:txBody>
          <a:bodyPr wrap="square" rtlCol="0">
            <a:spAutoFit/>
          </a:bodyPr>
          <a:lstStyle/>
          <a:p>
            <a:pPr algn="just">
              <a:lnSpc>
                <a:spcPct val="150000"/>
              </a:lnSpc>
            </a:pPr>
            <a:r>
              <a:rPr lang="en-US" b="1" dirty="0">
                <a:solidFill>
                  <a:schemeClr val="tx2">
                    <a:lumMod val="20000"/>
                    <a:lumOff val="80000"/>
                  </a:schemeClr>
                </a:solidFill>
                <a:latin typeface="Fira Sans" panose="020B0503050000020004" pitchFamily="34" charset="0"/>
              </a:rPr>
              <a:t>2. </a:t>
            </a:r>
            <a:r>
              <a:rPr lang="en-US" b="1" dirty="0" err="1">
                <a:solidFill>
                  <a:schemeClr val="tx2">
                    <a:lumMod val="20000"/>
                    <a:lumOff val="80000"/>
                  </a:schemeClr>
                </a:solidFill>
                <a:latin typeface="Fira Sans" panose="020B0503050000020004" pitchFamily="34" charset="0"/>
              </a:rPr>
              <a:t>Kiểm</a:t>
            </a:r>
            <a:r>
              <a:rPr lang="en-US" b="1" dirty="0">
                <a:solidFill>
                  <a:schemeClr val="tx2">
                    <a:lumMod val="20000"/>
                    <a:lumOff val="80000"/>
                  </a:schemeClr>
                </a:solidFill>
                <a:latin typeface="Fira Sans" panose="020B0503050000020004" pitchFamily="34" charset="0"/>
              </a:rPr>
              <a:t> </a:t>
            </a:r>
            <a:r>
              <a:rPr lang="en-US" b="1" dirty="0" err="1">
                <a:solidFill>
                  <a:schemeClr val="tx2">
                    <a:lumMod val="20000"/>
                    <a:lumOff val="80000"/>
                  </a:schemeClr>
                </a:solidFill>
                <a:latin typeface="Fira Sans" panose="020B0503050000020004" pitchFamily="34" charset="0"/>
              </a:rPr>
              <a:t>soát</a:t>
            </a:r>
            <a:r>
              <a:rPr lang="en-US" b="1" dirty="0">
                <a:solidFill>
                  <a:schemeClr val="tx2">
                    <a:lumMod val="20000"/>
                    <a:lumOff val="80000"/>
                  </a:schemeClr>
                </a:solidFill>
                <a:latin typeface="Fira Sans" panose="020B0503050000020004" pitchFamily="34" charset="0"/>
              </a:rPr>
              <a:t> </a:t>
            </a:r>
            <a:r>
              <a:rPr lang="en-US" b="1" dirty="0" err="1">
                <a:solidFill>
                  <a:schemeClr val="tx2">
                    <a:lumMod val="20000"/>
                    <a:lumOff val="80000"/>
                  </a:schemeClr>
                </a:solidFill>
                <a:latin typeface="Fira Sans" panose="020B0503050000020004" pitchFamily="34" charset="0"/>
              </a:rPr>
              <a:t>dữ</a:t>
            </a:r>
            <a:r>
              <a:rPr lang="en-US" b="1" dirty="0">
                <a:solidFill>
                  <a:schemeClr val="tx2">
                    <a:lumMod val="20000"/>
                    <a:lumOff val="80000"/>
                  </a:schemeClr>
                </a:solidFill>
                <a:latin typeface="Fira Sans" panose="020B0503050000020004" pitchFamily="34" charset="0"/>
              </a:rPr>
              <a:t> </a:t>
            </a:r>
            <a:r>
              <a:rPr lang="en-US" b="1" dirty="0" err="1">
                <a:solidFill>
                  <a:schemeClr val="tx2">
                    <a:lumMod val="20000"/>
                    <a:lumOff val="80000"/>
                  </a:schemeClr>
                </a:solidFill>
                <a:latin typeface="Fira Sans" panose="020B0503050000020004" pitchFamily="34" charset="0"/>
              </a:rPr>
              <a:t>liệu</a:t>
            </a:r>
            <a:r>
              <a:rPr lang="en-US" b="1" dirty="0">
                <a:solidFill>
                  <a:schemeClr val="tx2">
                    <a:lumMod val="20000"/>
                    <a:lumOff val="80000"/>
                  </a:schemeClr>
                </a:solidFill>
                <a:latin typeface="Fira Sans" panose="020B0503050000020004" pitchFamily="34" charset="0"/>
              </a:rPr>
              <a:t> </a:t>
            </a:r>
            <a:r>
              <a:rPr lang="en-US" b="1" dirty="0" err="1">
                <a:solidFill>
                  <a:schemeClr val="tx2">
                    <a:lumMod val="20000"/>
                    <a:lumOff val="80000"/>
                  </a:schemeClr>
                </a:solidFill>
                <a:latin typeface="Fira Sans" panose="020B0503050000020004" pitchFamily="34" charset="0"/>
              </a:rPr>
              <a:t>đầu</a:t>
            </a:r>
            <a:r>
              <a:rPr lang="en-US" b="1" dirty="0">
                <a:solidFill>
                  <a:schemeClr val="tx2">
                    <a:lumMod val="20000"/>
                    <a:lumOff val="80000"/>
                  </a:schemeClr>
                </a:solidFill>
                <a:latin typeface="Fira Sans" panose="020B0503050000020004" pitchFamily="34" charset="0"/>
              </a:rPr>
              <a:t> </a:t>
            </a:r>
            <a:r>
              <a:rPr lang="en-US" b="1" dirty="0" err="1">
                <a:solidFill>
                  <a:schemeClr val="tx2">
                    <a:lumMod val="20000"/>
                    <a:lumOff val="80000"/>
                  </a:schemeClr>
                </a:solidFill>
                <a:latin typeface="Fira Sans" panose="020B0503050000020004" pitchFamily="34" charset="0"/>
              </a:rPr>
              <a:t>vào</a:t>
            </a:r>
            <a:endParaRPr lang="vi-VN" b="1" dirty="0">
              <a:solidFill>
                <a:schemeClr val="tx2">
                  <a:lumMod val="20000"/>
                  <a:lumOff val="80000"/>
                </a:schemeClr>
              </a:solidFill>
              <a:latin typeface="Fira Sans" panose="020B0503050000020004" pitchFamily="34" charset="0"/>
            </a:endParaRPr>
          </a:p>
          <a:p>
            <a:pPr>
              <a:lnSpc>
                <a:spcPct val="150000"/>
              </a:lnSpc>
            </a:pPr>
            <a:r>
              <a:rPr lang="en-US" dirty="0">
                <a:solidFill>
                  <a:schemeClr val="tx2">
                    <a:lumMod val="20000"/>
                    <a:lumOff val="80000"/>
                  </a:schemeClr>
                </a:solidFill>
                <a:latin typeface="Fira Sans" panose="020B0503050000020004" pitchFamily="34" charset="0"/>
              </a:rPr>
              <a:t>- </a:t>
            </a:r>
            <a:r>
              <a:rPr lang="vi-VN" dirty="0">
                <a:solidFill>
                  <a:schemeClr val="tx2">
                    <a:lumMod val="20000"/>
                    <a:lumOff val="80000"/>
                  </a:schemeClr>
                </a:solidFill>
                <a:latin typeface="Fira Sans" panose="020B0503050000020004" pitchFamily="34" charset="0"/>
              </a:rPr>
              <a:t>Procedure kiểm tra p_username IS NULL hoặc TRIM(p_username) = ‘’.</a:t>
            </a:r>
          </a:p>
          <a:p>
            <a:pPr>
              <a:lnSpc>
                <a:spcPct val="150000"/>
              </a:lnSpc>
            </a:pPr>
            <a:r>
              <a:rPr lang="en-US" dirty="0">
                <a:solidFill>
                  <a:schemeClr val="tx2">
                    <a:lumMod val="20000"/>
                    <a:lumOff val="80000"/>
                  </a:schemeClr>
                </a:solidFill>
                <a:latin typeface="Fira Sans" panose="020B0503050000020004" pitchFamily="34" charset="0"/>
              </a:rPr>
              <a:t>- </a:t>
            </a:r>
            <a:r>
              <a:rPr lang="vi-VN" dirty="0">
                <a:solidFill>
                  <a:schemeClr val="tx2">
                    <a:lumMod val="20000"/>
                    <a:lumOff val="80000"/>
                  </a:schemeClr>
                </a:solidFill>
                <a:latin typeface="Fira Sans" panose="020B0503050000020004" pitchFamily="34" charset="0"/>
              </a:rPr>
              <a:t>Nếu vi phạm, phát sinh lỗi và không cho đăng ký.</a:t>
            </a:r>
          </a:p>
          <a:p>
            <a:pPr algn="just"/>
            <a:endParaRPr lang="vi-VN" dirty="0">
              <a:solidFill>
                <a:schemeClr val="tx2">
                  <a:lumMod val="20000"/>
                  <a:lumOff val="80000"/>
                </a:schemeClr>
              </a:solidFill>
              <a:latin typeface="Fira Sans" panose="020B0503050000020004" pitchFamily="34" charset="0"/>
            </a:endParaRPr>
          </a:p>
        </p:txBody>
      </p:sp>
    </p:spTree>
    <p:extLst>
      <p:ext uri="{BB962C8B-B14F-4D97-AF65-F5344CB8AC3E}">
        <p14:creationId xmlns:p14="http://schemas.microsoft.com/office/powerpoint/2010/main" val="693966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0D01B-7236-1F7A-01DA-7219FAE78BB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B7E6FA-D264-BF90-4D0C-1DFE713CEBAB}"/>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ACE1D512-A22A-FB3E-F5F5-9536AF5B4F1B}"/>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2. </a:t>
            </a:r>
            <a:r>
              <a:rPr lang="en-US" sz="2400" dirty="0" err="1">
                <a:solidFill>
                  <a:srgbClr val="3D5A97"/>
                </a:solidFill>
                <a:latin typeface="Anton" pitchFamily="34" charset="0"/>
                <a:ea typeface="Anton" pitchFamily="34" charset="-122"/>
                <a:cs typeface="Anton" pitchFamily="34" charset="-120"/>
              </a:rPr>
              <a:t>Đăng</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viết</a:t>
            </a:r>
            <a:endParaRPr lang="en-US" sz="2400" dirty="0">
              <a:solidFill>
                <a:srgbClr val="3D5A97"/>
              </a:solidFill>
            </a:endParaRPr>
          </a:p>
        </p:txBody>
      </p:sp>
      <p:sp>
        <p:nvSpPr>
          <p:cNvPr id="8" name="TextBox 7">
            <a:extLst>
              <a:ext uri="{FF2B5EF4-FFF2-40B4-BE49-F238E27FC236}">
                <a16:creationId xmlns:a16="http://schemas.microsoft.com/office/drawing/2014/main" id="{E62A0325-3B89-DDA4-433F-A2BE66F62598}"/>
              </a:ext>
            </a:extLst>
          </p:cNvPr>
          <p:cNvSpPr txBox="1"/>
          <p:nvPr/>
        </p:nvSpPr>
        <p:spPr>
          <a:xfrm>
            <a:off x="424136" y="2185958"/>
            <a:ext cx="13180352" cy="2031325"/>
          </a:xfrm>
          <a:prstGeom prst="rect">
            <a:avLst/>
          </a:prstGeom>
          <a:noFill/>
        </p:spPr>
        <p:txBody>
          <a:bodyPr wrap="square" rtlCol="0">
            <a:spAutoFit/>
          </a:bodyPr>
          <a:lstStyle/>
          <a:p>
            <a:pPr algn="just">
              <a:lnSpc>
                <a:spcPct val="150000"/>
              </a:lnSpc>
            </a:pPr>
            <a:r>
              <a:rPr lang="en-US" b="1" dirty="0" err="1">
                <a:solidFill>
                  <a:srgbClr val="3D5A97"/>
                </a:solidFill>
                <a:latin typeface="Fira Sans" panose="020B0503050000020004" pitchFamily="34" charset="0"/>
              </a:rPr>
              <a:t>Thách</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thức</a:t>
            </a:r>
            <a:endParaRPr lang="en-US" b="1" dirty="0">
              <a:solidFill>
                <a:srgbClr val="3D5A97"/>
              </a:solidFill>
              <a:latin typeface="Fira Sans" panose="020B0503050000020004" pitchFamily="34" charset="0"/>
            </a:endParaRPr>
          </a:p>
          <a:p>
            <a:pPr marL="342900" indent="-342900" algn="just">
              <a:lnSpc>
                <a:spcPct val="150000"/>
              </a:lnSpc>
              <a:buAutoNum type="arabicPeriod"/>
            </a:pPr>
            <a:r>
              <a:rPr lang="vi-VN" dirty="0">
                <a:solidFill>
                  <a:srgbClr val="3D5A97"/>
                </a:solidFill>
                <a:latin typeface="Fira Sans" panose="020B0503050000020004" pitchFamily="34" charset="0"/>
              </a:rPr>
              <a:t>Bài viết phải thuộc về người dùng hợp lệ, nếu không sẽ làm sai lệch dữ liệu.</a:t>
            </a:r>
            <a:endParaRPr lang="en-US" dirty="0">
              <a:solidFill>
                <a:srgbClr val="3D5A97"/>
              </a:solidFill>
              <a:latin typeface="Fira Sans" panose="020B0503050000020004" pitchFamily="34" charset="0"/>
            </a:endParaRPr>
          </a:p>
          <a:p>
            <a:pPr marL="342900" indent="-342900" algn="just">
              <a:lnSpc>
                <a:spcPct val="150000"/>
              </a:lnSpc>
              <a:buAutoNum type="arabicPeriod"/>
            </a:pPr>
            <a:r>
              <a:rPr lang="vi-VN" dirty="0">
                <a:solidFill>
                  <a:srgbClr val="3D5A97"/>
                </a:solidFill>
                <a:latin typeface="Fira Sans" panose="020B0503050000020004" pitchFamily="34" charset="0"/>
              </a:rPr>
              <a:t>Người dùng có thể đăng bài với nội dung rỗng hoặc chỉ chứa khoảng trắng</a:t>
            </a:r>
            <a:endParaRPr lang="en-US" dirty="0">
              <a:solidFill>
                <a:srgbClr val="3D5A97"/>
              </a:solidFill>
              <a:latin typeface="Fira Sans" panose="020B0503050000020004" pitchFamily="34" charset="0"/>
            </a:endParaRPr>
          </a:p>
          <a:p>
            <a:pPr marL="342900" indent="-342900" algn="just">
              <a:lnSpc>
                <a:spcPct val="150000"/>
              </a:lnSpc>
              <a:buFontTx/>
              <a:buAutoNum type="arabicPeriod"/>
            </a:pPr>
            <a:r>
              <a:rPr lang="vi-VN" dirty="0">
                <a:solidFill>
                  <a:srgbClr val="3D5A97"/>
                </a:solidFill>
                <a:latin typeface="Fira Sans" panose="020B0503050000020004" pitchFamily="34" charset="0"/>
              </a:rPr>
              <a:t>Cần theo dõi lịch sử đăng bài để phục vụ audit và thống kê.</a:t>
            </a:r>
          </a:p>
          <a:p>
            <a:pPr marL="342900" indent="-342900" algn="just">
              <a:buAutoNum type="arabicPeriod"/>
            </a:pPr>
            <a:endParaRPr lang="en-US" dirty="0">
              <a:solidFill>
                <a:srgbClr val="3D5A97"/>
              </a:solidFill>
              <a:latin typeface="Fira Sans" panose="020B0503050000020004" pitchFamily="34" charset="0"/>
            </a:endParaRPr>
          </a:p>
        </p:txBody>
      </p:sp>
      <p:sp>
        <p:nvSpPr>
          <p:cNvPr id="10" name="TextBox 9">
            <a:extLst>
              <a:ext uri="{FF2B5EF4-FFF2-40B4-BE49-F238E27FC236}">
                <a16:creationId xmlns:a16="http://schemas.microsoft.com/office/drawing/2014/main" id="{2B05C03B-6486-C74F-AC45-AF8F442ADC39}"/>
              </a:ext>
            </a:extLst>
          </p:cNvPr>
          <p:cNvSpPr txBox="1"/>
          <p:nvPr/>
        </p:nvSpPr>
        <p:spPr>
          <a:xfrm>
            <a:off x="424136" y="4217283"/>
            <a:ext cx="13180352" cy="3693319"/>
          </a:xfrm>
          <a:prstGeom prst="rect">
            <a:avLst/>
          </a:prstGeom>
          <a:noFill/>
        </p:spPr>
        <p:txBody>
          <a:bodyPr wrap="square" rtlCol="0">
            <a:spAutoFit/>
          </a:bodyPr>
          <a:lstStyle/>
          <a:p>
            <a:pPr algn="just">
              <a:lnSpc>
                <a:spcPct val="150000"/>
              </a:lnSpc>
            </a:pPr>
            <a:r>
              <a:rPr lang="en-US" b="1" dirty="0" err="1">
                <a:solidFill>
                  <a:srgbClr val="3D5A97"/>
                </a:solidFill>
                <a:latin typeface="Fira Sans" panose="020B0503050000020004" pitchFamily="34" charset="0"/>
              </a:rPr>
              <a:t>Giải</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quyết</a:t>
            </a:r>
            <a:endParaRPr lang="en-US" b="1" dirty="0">
              <a:solidFill>
                <a:srgbClr val="3D5A97"/>
              </a:solidFill>
              <a:latin typeface="Fira Sans" panose="020B0503050000020004" pitchFamily="34" charset="0"/>
            </a:endParaRPr>
          </a:p>
          <a:p>
            <a:pPr algn="just">
              <a:lnSpc>
                <a:spcPct val="150000"/>
              </a:lnSpc>
            </a:pPr>
            <a:r>
              <a:rPr lang="en-US" b="1" dirty="0">
                <a:solidFill>
                  <a:srgbClr val="3D5A97"/>
                </a:solidFill>
                <a:latin typeface="Fira Sans" panose="020B0503050000020004" pitchFamily="34" charset="0"/>
              </a:rPr>
              <a:t>1. </a:t>
            </a:r>
            <a:r>
              <a:rPr lang="en-US" b="1" dirty="0" err="1">
                <a:solidFill>
                  <a:srgbClr val="3D5A97"/>
                </a:solidFill>
                <a:latin typeface="Fira Sans" panose="020B0503050000020004" pitchFamily="34" charset="0"/>
              </a:rPr>
              <a:t>Đảm</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bảo</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người</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dùng</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tồn</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tại</a:t>
            </a:r>
            <a:endParaRPr lang="vi-VN" b="1" dirty="0">
              <a:solidFill>
                <a:srgbClr val="3D5A97"/>
              </a:solidFill>
              <a:latin typeface="Fira Sans" panose="020B0503050000020004" pitchFamily="34" charset="0"/>
            </a:endParaRPr>
          </a:p>
          <a:p>
            <a:pPr>
              <a:lnSpc>
                <a:spcPct val="150000"/>
              </a:lnSpc>
            </a:pPr>
            <a:r>
              <a:rPr lang="vi-VN" dirty="0">
                <a:solidFill>
                  <a:srgbClr val="3D5A97"/>
                </a:solidFill>
                <a:latin typeface="Fira Sans" panose="020B0503050000020004" pitchFamily="34" charset="0"/>
              </a:rPr>
              <a:t>Stored Procedure sp_create_post kiểm tra user_id có tồn tại trong bảng users bằng NOT EXISTS. Nếu không, dùng SIGNAL SQLSTATE '45000' để dừng xử lý.</a:t>
            </a:r>
          </a:p>
          <a:p>
            <a:pPr algn="just">
              <a:lnSpc>
                <a:spcPct val="150000"/>
              </a:lnSpc>
            </a:pPr>
            <a:r>
              <a:rPr lang="en-US" b="1" dirty="0">
                <a:solidFill>
                  <a:srgbClr val="3D5A97"/>
                </a:solidFill>
                <a:latin typeface="Fira Sans" panose="020B0503050000020004" pitchFamily="34" charset="0"/>
              </a:rPr>
              <a:t>2. </a:t>
            </a:r>
            <a:r>
              <a:rPr lang="en-US" b="1" dirty="0" err="1">
                <a:solidFill>
                  <a:srgbClr val="3D5A97"/>
                </a:solidFill>
                <a:latin typeface="Fira Sans" panose="020B0503050000020004" pitchFamily="34" charset="0"/>
              </a:rPr>
              <a:t>Kiểm</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soát</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nội</a:t>
            </a:r>
            <a:r>
              <a:rPr lang="en-US" b="1" dirty="0">
                <a:solidFill>
                  <a:srgbClr val="3D5A97"/>
                </a:solidFill>
                <a:latin typeface="Fira Sans" panose="020B0503050000020004" pitchFamily="34" charset="0"/>
              </a:rPr>
              <a:t> dung </a:t>
            </a:r>
            <a:r>
              <a:rPr lang="en-US" b="1" dirty="0" err="1">
                <a:solidFill>
                  <a:srgbClr val="3D5A97"/>
                </a:solidFill>
                <a:latin typeface="Fira Sans" panose="020B0503050000020004" pitchFamily="34" charset="0"/>
              </a:rPr>
              <a:t>bài</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viết</a:t>
            </a:r>
            <a:endParaRPr lang="vi-VN" b="1" dirty="0">
              <a:solidFill>
                <a:srgbClr val="3D5A97"/>
              </a:solidFill>
              <a:latin typeface="Fira Sans" panose="020B0503050000020004" pitchFamily="34" charset="0"/>
            </a:endParaRPr>
          </a:p>
          <a:p>
            <a:pPr>
              <a:lnSpc>
                <a:spcPct val="150000"/>
              </a:lnSpc>
            </a:pPr>
            <a:r>
              <a:rPr lang="vi-VN" dirty="0">
                <a:solidFill>
                  <a:srgbClr val="3D5A97"/>
                </a:solidFill>
                <a:latin typeface="Fira Sans" panose="020B0503050000020004" pitchFamily="34" charset="0"/>
              </a:rPr>
              <a:t>Procedure kiểm tra p_content IS NULL hoặc TRIM(p_content) = ''. Nếu vi phạm, phát sinh lỗi và không cho insert.</a:t>
            </a:r>
          </a:p>
          <a:p>
            <a:pPr algn="just">
              <a:lnSpc>
                <a:spcPct val="150000"/>
              </a:lnSpc>
            </a:pPr>
            <a:r>
              <a:rPr lang="en-US" b="1" dirty="0">
                <a:solidFill>
                  <a:srgbClr val="3D5A97"/>
                </a:solidFill>
                <a:latin typeface="Fira Sans" panose="020B0503050000020004" pitchFamily="34" charset="0"/>
              </a:rPr>
              <a:t>3. </a:t>
            </a:r>
            <a:r>
              <a:rPr lang="en-US" b="1" dirty="0" err="1">
                <a:solidFill>
                  <a:srgbClr val="3D5A97"/>
                </a:solidFill>
                <a:latin typeface="Fira Sans" panose="020B0503050000020004" pitchFamily="34" charset="0"/>
              </a:rPr>
              <a:t>Ghi</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nhận</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hành</a:t>
            </a:r>
            <a:r>
              <a:rPr lang="en-US" b="1" dirty="0">
                <a:solidFill>
                  <a:srgbClr val="3D5A97"/>
                </a:solidFill>
                <a:latin typeface="Fira Sans" panose="020B0503050000020004" pitchFamily="34" charset="0"/>
              </a:rPr>
              <a:t> vi </a:t>
            </a:r>
            <a:r>
              <a:rPr lang="en-US" b="1" dirty="0" err="1">
                <a:solidFill>
                  <a:srgbClr val="3D5A97"/>
                </a:solidFill>
                <a:latin typeface="Fira Sans" panose="020B0503050000020004" pitchFamily="34" charset="0"/>
              </a:rPr>
              <a:t>đăng</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bài</a:t>
            </a:r>
            <a:endParaRPr lang="vi-VN" b="1" dirty="0">
              <a:solidFill>
                <a:srgbClr val="3D5A97"/>
              </a:solidFill>
              <a:latin typeface="Fira Sans" panose="020B0503050000020004" pitchFamily="34" charset="0"/>
            </a:endParaRPr>
          </a:p>
          <a:p>
            <a:pPr>
              <a:lnSpc>
                <a:spcPct val="150000"/>
              </a:lnSpc>
            </a:pPr>
            <a:r>
              <a:rPr lang="vi-VN" dirty="0">
                <a:solidFill>
                  <a:srgbClr val="3D5A97"/>
                </a:solidFill>
                <a:latin typeface="Fira Sans" panose="020B0503050000020004" pitchFamily="34" charset="0"/>
              </a:rPr>
              <a:t>Trigger AFTER INSERT trên bảng posts tự động ghi log vào bảng post_log.</a:t>
            </a:r>
          </a:p>
          <a:p>
            <a:pPr algn="just"/>
            <a:endParaRPr lang="en-US" dirty="0">
              <a:solidFill>
                <a:srgbClr val="3D5A97"/>
              </a:solidFill>
              <a:latin typeface="Fira Sans" panose="020B0503050000020004" pitchFamily="34" charset="0"/>
            </a:endParaRPr>
          </a:p>
        </p:txBody>
      </p:sp>
    </p:spTree>
    <p:extLst>
      <p:ext uri="{BB962C8B-B14F-4D97-AF65-F5344CB8AC3E}">
        <p14:creationId xmlns:p14="http://schemas.microsoft.com/office/powerpoint/2010/main" val="3622982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DA74D-B715-D5D0-8D4A-B0ADB4E0CF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E8448E-5EB7-44F0-BA4F-B93F9C2D85F4}"/>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09A69C9A-94B9-BE7D-E6A2-F6CFD9715228}"/>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3. Thích </a:t>
            </a: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viết</a:t>
            </a:r>
            <a:endParaRPr lang="en-US" sz="2400" dirty="0">
              <a:solidFill>
                <a:srgbClr val="3D5A97"/>
              </a:solidFill>
            </a:endParaRPr>
          </a:p>
        </p:txBody>
      </p:sp>
      <p:grpSp>
        <p:nvGrpSpPr>
          <p:cNvPr id="4" name="Group 3">
            <a:extLst>
              <a:ext uri="{FF2B5EF4-FFF2-40B4-BE49-F238E27FC236}">
                <a16:creationId xmlns:a16="http://schemas.microsoft.com/office/drawing/2014/main" id="{92CEBA70-3CAD-3EBD-EE8D-0FEA40B34CAA}"/>
              </a:ext>
            </a:extLst>
          </p:cNvPr>
          <p:cNvGrpSpPr/>
          <p:nvPr/>
        </p:nvGrpSpPr>
        <p:grpSpPr>
          <a:xfrm rot="5400000">
            <a:off x="2349532" y="210444"/>
            <a:ext cx="2364167" cy="6171127"/>
            <a:chOff x="538394" y="1794986"/>
            <a:chExt cx="2052616" cy="1367909"/>
          </a:xfrm>
        </p:grpSpPr>
        <p:sp>
          <p:nvSpPr>
            <p:cNvPr id="5" name="Shape 1">
              <a:extLst>
                <a:ext uri="{FF2B5EF4-FFF2-40B4-BE49-F238E27FC236}">
                  <a16:creationId xmlns:a16="http://schemas.microsoft.com/office/drawing/2014/main" id="{465CF1F8-E941-911A-D6EF-72133FAF8098}"/>
                </a:ext>
              </a:extLst>
            </p:cNvPr>
            <p:cNvSpPr/>
            <p:nvPr/>
          </p:nvSpPr>
          <p:spPr>
            <a:xfrm>
              <a:off x="538394" y="1794986"/>
              <a:ext cx="2052616"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FD7EBD38-B5EF-E04B-9C5F-AF664A1A4CC9}"/>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0B771258-3EE4-718C-12AA-5278518A59FA}"/>
              </a:ext>
            </a:extLst>
          </p:cNvPr>
          <p:cNvSpPr txBox="1"/>
          <p:nvPr/>
        </p:nvSpPr>
        <p:spPr>
          <a:xfrm rot="5400000">
            <a:off x="3286052" y="1546979"/>
            <a:ext cx="553998" cy="1687893"/>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12219107-0C93-9CB3-099A-B27A8BB5E207}"/>
              </a:ext>
            </a:extLst>
          </p:cNvPr>
          <p:cNvSpPr txBox="1"/>
          <p:nvPr/>
        </p:nvSpPr>
        <p:spPr>
          <a:xfrm>
            <a:off x="600318" y="2893269"/>
            <a:ext cx="5736854" cy="1296124"/>
          </a:xfrm>
          <a:prstGeom prst="rect">
            <a:avLst/>
          </a:prstGeom>
          <a:noFill/>
        </p:spPr>
        <p:txBody>
          <a:bodyPr wrap="square" rtlCol="0">
            <a:spAutoFit/>
          </a:bodyPr>
          <a:lstStyle/>
          <a:p>
            <a:pPr algn="just">
              <a:lnSpc>
                <a:spcPct val="150000"/>
              </a:lnSpc>
            </a:pPr>
            <a:r>
              <a:rPr lang="en-US" dirty="0">
                <a:solidFill>
                  <a:schemeClr val="tx2">
                    <a:lumMod val="20000"/>
                    <a:lumOff val="80000"/>
                  </a:schemeClr>
                </a:solidFill>
                <a:latin typeface="Fira Sans" panose="020B0503050000020004" pitchFamily="34" charset="0"/>
              </a:rPr>
              <a:t>1. </a:t>
            </a:r>
            <a:r>
              <a:rPr lang="vi-VN" dirty="0">
                <a:solidFill>
                  <a:schemeClr val="tx2">
                    <a:lumMod val="20000"/>
                    <a:lumOff val="80000"/>
                  </a:schemeClr>
                </a:solidFill>
                <a:latin typeface="Fira Sans" panose="020B0503050000020004" pitchFamily="34" charset="0"/>
              </a:rPr>
              <a:t>Một người dùng có thể cố tình hoặc vô ý thích (like) cùng một bài viết nhiều lần, gây sai lệch số lượt thích và làm mất tính chính xác của dữ liệu.</a:t>
            </a:r>
            <a:endParaRPr lang="en-US" dirty="0">
              <a:solidFill>
                <a:schemeClr val="tx2">
                  <a:lumMod val="20000"/>
                  <a:lumOff val="80000"/>
                </a:schemeClr>
              </a:solidFill>
              <a:latin typeface="Fira Sans" panose="020B0503050000020004" pitchFamily="34" charset="0"/>
            </a:endParaRPr>
          </a:p>
        </p:txBody>
      </p:sp>
      <p:grpSp>
        <p:nvGrpSpPr>
          <p:cNvPr id="8" name="Group 7">
            <a:extLst>
              <a:ext uri="{FF2B5EF4-FFF2-40B4-BE49-F238E27FC236}">
                <a16:creationId xmlns:a16="http://schemas.microsoft.com/office/drawing/2014/main" id="{10AF601E-DE43-2056-FE90-7C037630FEEE}"/>
              </a:ext>
            </a:extLst>
          </p:cNvPr>
          <p:cNvGrpSpPr/>
          <p:nvPr/>
        </p:nvGrpSpPr>
        <p:grpSpPr>
          <a:xfrm rot="5400000">
            <a:off x="9621353" y="215145"/>
            <a:ext cx="2364167" cy="6171127"/>
            <a:chOff x="538394" y="1794986"/>
            <a:chExt cx="2052616" cy="1367909"/>
          </a:xfrm>
        </p:grpSpPr>
        <p:sp>
          <p:nvSpPr>
            <p:cNvPr id="9" name="Shape 1">
              <a:extLst>
                <a:ext uri="{FF2B5EF4-FFF2-40B4-BE49-F238E27FC236}">
                  <a16:creationId xmlns:a16="http://schemas.microsoft.com/office/drawing/2014/main" id="{7DC0EBA0-E9A8-0101-D99F-F45C481578AA}"/>
                </a:ext>
              </a:extLst>
            </p:cNvPr>
            <p:cNvSpPr/>
            <p:nvPr/>
          </p:nvSpPr>
          <p:spPr>
            <a:xfrm>
              <a:off x="538394" y="1794986"/>
              <a:ext cx="2052616"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10" name="Shape 1">
              <a:extLst>
                <a:ext uri="{FF2B5EF4-FFF2-40B4-BE49-F238E27FC236}">
                  <a16:creationId xmlns:a16="http://schemas.microsoft.com/office/drawing/2014/main" id="{95F615F4-5971-EC3A-E22C-A7652FA36507}"/>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11" name="TextBox 10">
            <a:extLst>
              <a:ext uri="{FF2B5EF4-FFF2-40B4-BE49-F238E27FC236}">
                <a16:creationId xmlns:a16="http://schemas.microsoft.com/office/drawing/2014/main" id="{B63CDE3F-31D6-F8D5-F18C-0EF32DE2C5F8}"/>
              </a:ext>
            </a:extLst>
          </p:cNvPr>
          <p:cNvSpPr txBox="1"/>
          <p:nvPr/>
        </p:nvSpPr>
        <p:spPr>
          <a:xfrm rot="5400000">
            <a:off x="10557873" y="1551680"/>
            <a:ext cx="553998" cy="1687893"/>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2" name="TextBox 11">
            <a:extLst>
              <a:ext uri="{FF2B5EF4-FFF2-40B4-BE49-F238E27FC236}">
                <a16:creationId xmlns:a16="http://schemas.microsoft.com/office/drawing/2014/main" id="{9F93AB4E-615C-D6C8-7D62-79AA79BBCCC2}"/>
              </a:ext>
            </a:extLst>
          </p:cNvPr>
          <p:cNvSpPr txBox="1"/>
          <p:nvPr/>
        </p:nvSpPr>
        <p:spPr>
          <a:xfrm>
            <a:off x="7872139" y="2897970"/>
            <a:ext cx="5736854" cy="1296124"/>
          </a:xfrm>
          <a:prstGeom prst="rect">
            <a:avLst/>
          </a:prstGeom>
          <a:noFill/>
        </p:spPr>
        <p:txBody>
          <a:bodyPr wrap="square" rtlCol="0">
            <a:spAutoFit/>
          </a:bodyPr>
          <a:lstStyle/>
          <a:p>
            <a:pPr algn="just">
              <a:lnSpc>
                <a:spcPct val="150000"/>
              </a:lnSpc>
            </a:pPr>
            <a:r>
              <a:rPr lang="en-US" dirty="0">
                <a:solidFill>
                  <a:schemeClr val="tx2">
                    <a:lumMod val="20000"/>
                    <a:lumOff val="80000"/>
                  </a:schemeClr>
                </a:solidFill>
                <a:latin typeface="Fira Sans" panose="020B0503050000020004" pitchFamily="34" charset="0"/>
              </a:rPr>
              <a:t>2. </a:t>
            </a:r>
            <a:r>
              <a:rPr lang="vi-VN" dirty="0">
                <a:solidFill>
                  <a:schemeClr val="tx2">
                    <a:lumMod val="20000"/>
                    <a:lumOff val="80000"/>
                  </a:schemeClr>
                </a:solidFill>
                <a:latin typeface="Fira Sans" panose="020B0503050000020004" pitchFamily="34" charset="0"/>
              </a:rPr>
              <a:t>Người dùng có thể thực hiện thao tác bỏ thích (unlike) đối với bài viết mà trước đó chưa từng thích, dẫn đến dữ liệu không nhất quán.</a:t>
            </a:r>
            <a:endParaRPr lang="en-US" dirty="0">
              <a:solidFill>
                <a:schemeClr val="tx2">
                  <a:lumMod val="20000"/>
                  <a:lumOff val="80000"/>
                </a:schemeClr>
              </a:solidFill>
              <a:latin typeface="Fira Sans" panose="020B0503050000020004" pitchFamily="34" charset="0"/>
            </a:endParaRPr>
          </a:p>
        </p:txBody>
      </p:sp>
      <p:sp>
        <p:nvSpPr>
          <p:cNvPr id="13" name="TextBox 12">
            <a:extLst>
              <a:ext uri="{FF2B5EF4-FFF2-40B4-BE49-F238E27FC236}">
                <a16:creationId xmlns:a16="http://schemas.microsoft.com/office/drawing/2014/main" id="{AF09C02F-6693-7118-85B9-577470D93D2C}"/>
              </a:ext>
            </a:extLst>
          </p:cNvPr>
          <p:cNvSpPr txBox="1"/>
          <p:nvPr/>
        </p:nvSpPr>
        <p:spPr>
          <a:xfrm>
            <a:off x="322352" y="4557753"/>
            <a:ext cx="13180352" cy="3373616"/>
          </a:xfrm>
          <a:prstGeom prst="rect">
            <a:avLst/>
          </a:prstGeom>
          <a:noFill/>
        </p:spPr>
        <p:txBody>
          <a:bodyPr wrap="square" rtlCol="0">
            <a:spAutoFit/>
          </a:bodyPr>
          <a:lstStyle/>
          <a:p>
            <a:pPr algn="just">
              <a:lnSpc>
                <a:spcPct val="150000"/>
              </a:lnSpc>
            </a:pPr>
            <a:r>
              <a:rPr lang="en-US" b="1" dirty="0" err="1">
                <a:solidFill>
                  <a:srgbClr val="3D5A97"/>
                </a:solidFill>
                <a:latin typeface="Fira Sans" panose="020B0503050000020004" pitchFamily="34" charset="0"/>
              </a:rPr>
              <a:t>Giải</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quyết</a:t>
            </a:r>
            <a:endParaRPr lang="en-US" b="1" dirty="0">
              <a:solidFill>
                <a:srgbClr val="3D5A97"/>
              </a:solidFill>
              <a:latin typeface="Fira Sans" panose="020B0503050000020004" pitchFamily="34" charset="0"/>
            </a:endParaRPr>
          </a:p>
          <a:p>
            <a:pPr algn="just">
              <a:lnSpc>
                <a:spcPct val="150000"/>
              </a:lnSpc>
            </a:pPr>
            <a:r>
              <a:rPr lang="en-US" b="1" dirty="0">
                <a:solidFill>
                  <a:srgbClr val="3D5A97"/>
                </a:solidFill>
                <a:latin typeface="Fira Sans" panose="020B0503050000020004" pitchFamily="34" charset="0"/>
              </a:rPr>
              <a:t>1. </a:t>
            </a:r>
            <a:r>
              <a:rPr lang="en-US" b="1" dirty="0" err="1">
                <a:solidFill>
                  <a:srgbClr val="3D5A97"/>
                </a:solidFill>
                <a:latin typeface="Fira Sans" panose="020B0503050000020004" pitchFamily="34" charset="0"/>
              </a:rPr>
              <a:t>Ngăn</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chặn</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hành</a:t>
            </a:r>
            <a:r>
              <a:rPr lang="en-US" b="1" dirty="0">
                <a:solidFill>
                  <a:srgbClr val="3D5A97"/>
                </a:solidFill>
                <a:latin typeface="Fira Sans" panose="020B0503050000020004" pitchFamily="34" charset="0"/>
              </a:rPr>
              <a:t> vi </a:t>
            </a:r>
            <a:r>
              <a:rPr lang="en-US" b="1" dirty="0" err="1">
                <a:solidFill>
                  <a:srgbClr val="3D5A97"/>
                </a:solidFill>
                <a:latin typeface="Fira Sans" panose="020B0503050000020004" pitchFamily="34" charset="0"/>
              </a:rPr>
              <a:t>thích</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trùng</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lặp</a:t>
            </a:r>
            <a:endParaRPr lang="vi-VN" b="1" dirty="0">
              <a:solidFill>
                <a:srgbClr val="3D5A97"/>
              </a:solidFill>
              <a:latin typeface="Fira Sans" panose="020B0503050000020004" pitchFamily="34" charset="0"/>
            </a:endParaRPr>
          </a:p>
          <a:p>
            <a:pPr algn="just"/>
            <a:r>
              <a:rPr lang="en-US" dirty="0">
                <a:solidFill>
                  <a:srgbClr val="3D5A97"/>
                </a:solidFill>
                <a:latin typeface="Fira Sans" panose="020B0503050000020004" pitchFamily="34" charset="0"/>
              </a:rPr>
              <a:t>- </a:t>
            </a:r>
            <a:r>
              <a:rPr lang="vi-VN" dirty="0">
                <a:solidFill>
                  <a:srgbClr val="3D5A97"/>
                </a:solidFill>
                <a:latin typeface="Fira Sans" panose="020B0503050000020004" pitchFamily="34" charset="0"/>
              </a:rPr>
              <a:t>Stored Procedure sp_like_post kiểm tra sự tồn tại của cặp (user_id, post_id) trong bảng likes.</a:t>
            </a:r>
          </a:p>
          <a:p>
            <a:pPr algn="just"/>
            <a:r>
              <a:rPr lang="en-US" dirty="0">
                <a:solidFill>
                  <a:srgbClr val="3D5A97"/>
                </a:solidFill>
                <a:latin typeface="Fira Sans" panose="020B0503050000020004" pitchFamily="34" charset="0"/>
              </a:rPr>
              <a:t>- </a:t>
            </a:r>
            <a:r>
              <a:rPr lang="vi-VN" dirty="0">
                <a:solidFill>
                  <a:srgbClr val="3D5A97"/>
                </a:solidFill>
                <a:latin typeface="Fira Sans" panose="020B0503050000020004" pitchFamily="34" charset="0"/>
              </a:rPr>
              <a:t>Nếu đã tồn tại, procedure sử dụng SIGNAL SQLSTATE '45000' để dừng xử lý và thông báo lỗi nghiệp vụ.</a:t>
            </a:r>
          </a:p>
          <a:p>
            <a:pPr algn="just"/>
            <a:r>
              <a:rPr lang="vi-VN" dirty="0">
                <a:solidFill>
                  <a:srgbClr val="3D5A97"/>
                </a:solidFill>
                <a:latin typeface="Fira Sans" panose="020B0503050000020004" pitchFamily="34" charset="0"/>
              </a:rPr>
              <a:t>→ Đảm bảo mỗi người dùng chỉ được like một lần cho mỗi bài viết.</a:t>
            </a:r>
          </a:p>
          <a:p>
            <a:pPr algn="just">
              <a:lnSpc>
                <a:spcPct val="150000"/>
              </a:lnSpc>
            </a:pPr>
            <a:r>
              <a:rPr lang="en-US" b="1" dirty="0">
                <a:solidFill>
                  <a:srgbClr val="3D5A97"/>
                </a:solidFill>
                <a:latin typeface="Fira Sans" panose="020B0503050000020004" pitchFamily="34" charset="0"/>
              </a:rPr>
              <a:t>2. </a:t>
            </a:r>
            <a:r>
              <a:rPr lang="en-US" b="1" dirty="0" err="1">
                <a:solidFill>
                  <a:srgbClr val="3D5A97"/>
                </a:solidFill>
                <a:latin typeface="Fira Sans" panose="020B0503050000020004" pitchFamily="34" charset="0"/>
              </a:rPr>
              <a:t>kiểm</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soát</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hành</a:t>
            </a:r>
            <a:r>
              <a:rPr lang="en-US" b="1" dirty="0">
                <a:solidFill>
                  <a:srgbClr val="3D5A97"/>
                </a:solidFill>
                <a:latin typeface="Fira Sans" panose="020B0503050000020004" pitchFamily="34" charset="0"/>
              </a:rPr>
              <a:t> vi </a:t>
            </a:r>
            <a:r>
              <a:rPr lang="en-US" b="1" dirty="0" err="1">
                <a:solidFill>
                  <a:srgbClr val="3D5A97"/>
                </a:solidFill>
                <a:latin typeface="Fira Sans" panose="020B0503050000020004" pitchFamily="34" charset="0"/>
              </a:rPr>
              <a:t>bỏ</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thích</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hợp</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lệ</a:t>
            </a:r>
            <a:endParaRPr lang="vi-VN" b="1" dirty="0">
              <a:solidFill>
                <a:srgbClr val="3D5A97"/>
              </a:solidFill>
              <a:latin typeface="Fira Sans" panose="020B0503050000020004" pitchFamily="34" charset="0"/>
            </a:endParaRPr>
          </a:p>
          <a:p>
            <a:r>
              <a:rPr lang="en-US" dirty="0">
                <a:solidFill>
                  <a:srgbClr val="3D5A97"/>
                </a:solidFill>
                <a:latin typeface="Fira Sans" panose="020B0503050000020004" pitchFamily="34" charset="0"/>
              </a:rPr>
              <a:t>- </a:t>
            </a:r>
            <a:r>
              <a:rPr lang="vi-VN" dirty="0">
                <a:solidFill>
                  <a:srgbClr val="3D5A97"/>
                </a:solidFill>
                <a:latin typeface="Fira Sans" panose="020B0503050000020004" pitchFamily="34" charset="0"/>
              </a:rPr>
              <a:t>Stored Procedure sp_unlike_post kiểm tra sự tồn tại của lượt like trước khi cho phép xóa.</a:t>
            </a:r>
          </a:p>
          <a:p>
            <a:r>
              <a:rPr lang="en-US" dirty="0">
                <a:solidFill>
                  <a:srgbClr val="3D5A97"/>
                </a:solidFill>
                <a:latin typeface="Fira Sans" panose="020B0503050000020004" pitchFamily="34" charset="0"/>
              </a:rPr>
              <a:t>- </a:t>
            </a:r>
            <a:r>
              <a:rPr lang="vi-VN" dirty="0">
                <a:solidFill>
                  <a:srgbClr val="3D5A97"/>
                </a:solidFill>
                <a:latin typeface="Fira Sans" panose="020B0503050000020004" pitchFamily="34" charset="0"/>
              </a:rPr>
              <a:t>Nếu không tồn tại bản ghi tương ứng trong bảng likes, procedure phát sinh lỗi và không thực hiện thao tác.</a:t>
            </a:r>
          </a:p>
          <a:p>
            <a:r>
              <a:rPr lang="vi-VN" dirty="0">
                <a:solidFill>
                  <a:srgbClr val="3D5A97"/>
                </a:solidFill>
                <a:latin typeface="Fira Sans" panose="020B0503050000020004" pitchFamily="34" charset="0"/>
              </a:rPr>
              <a:t>→ Ngăn chặn thao tác sai logic ngay tại tầng cơ sở dữ liệu.</a:t>
            </a:r>
          </a:p>
          <a:p>
            <a:pPr algn="just">
              <a:lnSpc>
                <a:spcPct val="150000"/>
              </a:lnSpc>
            </a:pPr>
            <a:endParaRPr lang="en-US" dirty="0">
              <a:solidFill>
                <a:srgbClr val="3D5A97"/>
              </a:solidFill>
              <a:latin typeface="Fira Sans" panose="020B0503050000020004" pitchFamily="34" charset="0"/>
            </a:endParaRPr>
          </a:p>
        </p:txBody>
      </p:sp>
    </p:spTree>
    <p:extLst>
      <p:ext uri="{BB962C8B-B14F-4D97-AF65-F5344CB8AC3E}">
        <p14:creationId xmlns:p14="http://schemas.microsoft.com/office/powerpoint/2010/main" val="3611846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AF264-60D4-9B6F-F730-CE5C5A323B5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4E75A0-6B0C-75DA-EDD9-68772EE5E236}"/>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35B0F1B0-760C-EF8D-7D32-266F6B357650}"/>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4. </a:t>
            </a:r>
            <a:r>
              <a:rPr lang="en-US" sz="2400" dirty="0" err="1">
                <a:solidFill>
                  <a:srgbClr val="3D5A97"/>
                </a:solidFill>
                <a:latin typeface="Anton" pitchFamily="34" charset="0"/>
                <a:ea typeface="Anton" pitchFamily="34" charset="-122"/>
                <a:cs typeface="Anton" pitchFamily="34" charset="-120"/>
              </a:rPr>
              <a:t>Gửi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lời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mời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kết</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bạn</a:t>
            </a:r>
            <a:endParaRPr lang="en-US" sz="2400" dirty="0">
              <a:solidFill>
                <a:srgbClr val="3D5A97"/>
              </a:solidFill>
            </a:endParaRPr>
          </a:p>
        </p:txBody>
      </p:sp>
      <p:grpSp>
        <p:nvGrpSpPr>
          <p:cNvPr id="4" name="Group 3">
            <a:extLst>
              <a:ext uri="{FF2B5EF4-FFF2-40B4-BE49-F238E27FC236}">
                <a16:creationId xmlns:a16="http://schemas.microsoft.com/office/drawing/2014/main" id="{6CF5C7C5-B94A-F183-CE6D-F5E82BC82071}"/>
              </a:ext>
            </a:extLst>
          </p:cNvPr>
          <p:cNvGrpSpPr/>
          <p:nvPr/>
        </p:nvGrpSpPr>
        <p:grpSpPr>
          <a:xfrm rot="5400000">
            <a:off x="1335152" y="2028938"/>
            <a:ext cx="4952940" cy="6171127"/>
            <a:chOff x="538394" y="1794986"/>
            <a:chExt cx="4196358" cy="1367909"/>
          </a:xfrm>
        </p:grpSpPr>
        <p:sp>
          <p:nvSpPr>
            <p:cNvPr id="5" name="Shape 1">
              <a:extLst>
                <a:ext uri="{FF2B5EF4-FFF2-40B4-BE49-F238E27FC236}">
                  <a16:creationId xmlns:a16="http://schemas.microsoft.com/office/drawing/2014/main" id="{1C397572-392A-B82A-B1E2-C766E5272B0E}"/>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DEFC70AE-598A-A624-9323-FA9C96AEB04E}"/>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3C60FD67-CF4E-5601-AEF8-2BCFE21A3E55}"/>
              </a:ext>
            </a:extLst>
          </p:cNvPr>
          <p:cNvSpPr txBox="1"/>
          <p:nvPr/>
        </p:nvSpPr>
        <p:spPr>
          <a:xfrm rot="5400000">
            <a:off x="3534621" y="2091465"/>
            <a:ext cx="553998" cy="174705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EB9C6785-635A-4082-2AE9-1DDD1DB0A8A8}"/>
              </a:ext>
            </a:extLst>
          </p:cNvPr>
          <p:cNvSpPr txBox="1"/>
          <p:nvPr/>
        </p:nvSpPr>
        <p:spPr>
          <a:xfrm>
            <a:off x="880325" y="3417377"/>
            <a:ext cx="5736854" cy="3970318"/>
          </a:xfrm>
          <a:prstGeom prst="rect">
            <a:avLst/>
          </a:prstGeom>
          <a:noFill/>
        </p:spPr>
        <p:txBody>
          <a:bodyPr wrap="square" rtlCol="0">
            <a:spAutoFit/>
          </a:bodyPr>
          <a:lstStyle/>
          <a:p>
            <a:pPr marL="342900" lvl="0" indent="-342900">
              <a:buAutoNum type="arabicPeriod"/>
            </a:pPr>
            <a:r>
              <a:rPr lang="vi-VN" b="1" dirty="0">
                <a:solidFill>
                  <a:schemeClr val="tx2">
                    <a:lumMod val="20000"/>
                    <a:lumOff val="80000"/>
                  </a:schemeClr>
                </a:solidFill>
                <a:latin typeface="Fira Sans" panose="020B0503050000020004" pitchFamily="34" charset="0"/>
              </a:rPr>
              <a:t>Tính hợp lệ của chủ thể:</a:t>
            </a:r>
            <a:r>
              <a:rPr lang="vi-VN" dirty="0">
                <a:solidFill>
                  <a:schemeClr val="tx2">
                    <a:lumMod val="20000"/>
                    <a:lumOff val="80000"/>
                  </a:schemeClr>
                </a:solidFill>
                <a:latin typeface="Fira Sans" panose="020B0503050000020004" pitchFamily="34" charset="0"/>
              </a:rPr>
              <a:t> Người dùng có thể cố tình gửi lời mời cho chính mình hoặc gửi cho một User ID không tồn tại.</a:t>
            </a:r>
            <a:endParaRPr lang="en-US" dirty="0">
              <a:solidFill>
                <a:schemeClr val="tx2">
                  <a:lumMod val="20000"/>
                  <a:lumOff val="80000"/>
                </a:schemeClr>
              </a:solidFill>
              <a:latin typeface="Fira Sans" panose="020B0503050000020004" pitchFamily="34" charset="0"/>
            </a:endParaRPr>
          </a:p>
          <a:p>
            <a:pPr marL="342900" lvl="0" indent="-342900">
              <a:buAutoNum type="arabicPeriod"/>
            </a:pPr>
            <a:endParaRPr lang="vi-VN" dirty="0">
              <a:solidFill>
                <a:schemeClr val="tx2">
                  <a:lumMod val="20000"/>
                  <a:lumOff val="80000"/>
                </a:schemeClr>
              </a:solidFill>
              <a:latin typeface="Fira Sans" panose="020B0503050000020004" pitchFamily="34" charset="0"/>
            </a:endParaRPr>
          </a:p>
          <a:p>
            <a:pPr lvl="0"/>
            <a:r>
              <a:rPr lang="en-US" b="1" dirty="0">
                <a:solidFill>
                  <a:schemeClr val="tx2">
                    <a:lumMod val="20000"/>
                    <a:lumOff val="80000"/>
                  </a:schemeClr>
                </a:solidFill>
                <a:latin typeface="Fira Sans" panose="020B0503050000020004" pitchFamily="34" charset="0"/>
              </a:rPr>
              <a:t>2. </a:t>
            </a:r>
            <a:r>
              <a:rPr lang="vi-VN" b="1" dirty="0">
                <a:solidFill>
                  <a:schemeClr val="tx2">
                    <a:lumMod val="20000"/>
                    <a:lumOff val="80000"/>
                  </a:schemeClr>
                </a:solidFill>
                <a:latin typeface="Fira Sans" panose="020B0503050000020004" pitchFamily="34" charset="0"/>
              </a:rPr>
              <a:t>Xung đột quan hệ 2 chiều:</a:t>
            </a:r>
            <a:endParaRPr lang="vi-VN" dirty="0">
              <a:solidFill>
                <a:schemeClr val="tx2">
                  <a:lumMod val="20000"/>
                  <a:lumOff val="80000"/>
                </a:schemeClr>
              </a:solidFill>
              <a:latin typeface="Fira Sans" panose="020B0503050000020004" pitchFamily="34" charset="0"/>
            </a:endParaRPr>
          </a:p>
          <a:p>
            <a:pPr marL="742950" lvl="1" indent="-285750">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Tránh việc gửi lặp lại</a:t>
            </a:r>
          </a:p>
          <a:p>
            <a:pPr marL="742950" lvl="1" indent="-285750">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Tránh xung đột logic ngược chiều: Nếu A đã mời B, hệ thống phải chặn B gửi lời mời mới cho A </a:t>
            </a:r>
            <a:endParaRPr lang="en-US" dirty="0">
              <a:solidFill>
                <a:schemeClr val="tx2">
                  <a:lumMod val="20000"/>
                  <a:lumOff val="80000"/>
                </a:schemeClr>
              </a:solidFill>
              <a:latin typeface="Fira Sans" panose="020B0503050000020004" pitchFamily="34" charset="0"/>
            </a:endParaRPr>
          </a:p>
          <a:p>
            <a:pPr marL="742950" lvl="1" indent="-285750">
              <a:buFont typeface="Arial" panose="020B0604020202020204" pitchFamily="34" charset="0"/>
              <a:buChar char="•"/>
            </a:pPr>
            <a:endParaRPr lang="vi-VN" dirty="0">
              <a:solidFill>
                <a:schemeClr val="tx2">
                  <a:lumMod val="20000"/>
                  <a:lumOff val="80000"/>
                </a:schemeClr>
              </a:solidFill>
              <a:latin typeface="Fira Sans" panose="020B0503050000020004" pitchFamily="34" charset="0"/>
            </a:endParaRPr>
          </a:p>
          <a:p>
            <a:pPr lvl="0"/>
            <a:r>
              <a:rPr lang="en-US" b="1" dirty="0">
                <a:solidFill>
                  <a:schemeClr val="tx2">
                    <a:lumMod val="20000"/>
                    <a:lumOff val="80000"/>
                  </a:schemeClr>
                </a:solidFill>
                <a:latin typeface="Fira Sans" panose="020B0503050000020004" pitchFamily="34" charset="0"/>
              </a:rPr>
              <a:t>3.</a:t>
            </a:r>
            <a:r>
              <a:rPr lang="vi-VN" b="1" dirty="0">
                <a:solidFill>
                  <a:schemeClr val="tx2">
                    <a:lumMod val="20000"/>
                    <a:lumOff val="80000"/>
                  </a:schemeClr>
                </a:solidFill>
                <a:latin typeface="Fira Sans" panose="020B0503050000020004" pitchFamily="34" charset="0"/>
              </a:rPr>
              <a:t>Tách biệt nhiệm vụ:</a:t>
            </a:r>
            <a:r>
              <a:rPr lang="vi-VN" dirty="0">
                <a:solidFill>
                  <a:schemeClr val="tx2">
                    <a:lumMod val="20000"/>
                    <a:lumOff val="80000"/>
                  </a:schemeClr>
                </a:solidFill>
                <a:latin typeface="Fira Sans" panose="020B0503050000020004" pitchFamily="34" charset="0"/>
              </a:rPr>
              <a:t> Làm sao để vừa xử lý nghiệp vụ, vừa ghi nhật ký mà không viết quá nhiều code lồng nhau, đảm bảo log luôn được ghi nếu thao tác thành công.</a:t>
            </a:r>
          </a:p>
        </p:txBody>
      </p:sp>
      <p:grpSp>
        <p:nvGrpSpPr>
          <p:cNvPr id="23" name="Group 22">
            <a:extLst>
              <a:ext uri="{FF2B5EF4-FFF2-40B4-BE49-F238E27FC236}">
                <a16:creationId xmlns:a16="http://schemas.microsoft.com/office/drawing/2014/main" id="{545E6E78-532C-B47D-F373-EA8D4F395624}"/>
              </a:ext>
            </a:extLst>
          </p:cNvPr>
          <p:cNvGrpSpPr/>
          <p:nvPr/>
        </p:nvGrpSpPr>
        <p:grpSpPr>
          <a:xfrm rot="5400000">
            <a:off x="7591233" y="912951"/>
            <a:ext cx="6996193" cy="6403700"/>
            <a:chOff x="538394" y="1794986"/>
            <a:chExt cx="5927495" cy="1367909"/>
          </a:xfrm>
        </p:grpSpPr>
        <p:sp>
          <p:nvSpPr>
            <p:cNvPr id="24" name="Shape 1">
              <a:extLst>
                <a:ext uri="{FF2B5EF4-FFF2-40B4-BE49-F238E27FC236}">
                  <a16:creationId xmlns:a16="http://schemas.microsoft.com/office/drawing/2014/main" id="{A9DC519D-7110-0B1F-5415-D52024AFF949}"/>
                </a:ext>
              </a:extLst>
            </p:cNvPr>
            <p:cNvSpPr/>
            <p:nvPr/>
          </p:nvSpPr>
          <p:spPr>
            <a:xfrm>
              <a:off x="538397" y="1794986"/>
              <a:ext cx="5927492" cy="1367909"/>
            </a:xfrm>
            <a:prstGeom prst="roundRect">
              <a:avLst>
                <a:gd name="adj" fmla="val 443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D2DEB3BF-69C1-62A0-AF19-EB23B1A070EF}"/>
                </a:ext>
              </a:extLst>
            </p:cNvPr>
            <p:cNvSpPr/>
            <p:nvPr/>
          </p:nvSpPr>
          <p:spPr>
            <a:xfrm>
              <a:off x="538394" y="1794986"/>
              <a:ext cx="600511"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7AAFD4F5-5CE0-A9C2-9DD2-AC5D8AD65C63}"/>
              </a:ext>
            </a:extLst>
          </p:cNvPr>
          <p:cNvSpPr txBox="1"/>
          <p:nvPr/>
        </p:nvSpPr>
        <p:spPr>
          <a:xfrm rot="5400000">
            <a:off x="10672327" y="81197"/>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EB50109B-B283-8373-C415-131FE67C08AB}"/>
              </a:ext>
            </a:extLst>
          </p:cNvPr>
          <p:cNvSpPr txBox="1"/>
          <p:nvPr/>
        </p:nvSpPr>
        <p:spPr>
          <a:xfrm>
            <a:off x="8080899" y="1396049"/>
            <a:ext cx="6210280" cy="3789114"/>
          </a:xfrm>
          <a:prstGeom prst="rect">
            <a:avLst/>
          </a:prstGeom>
          <a:noFill/>
        </p:spPr>
        <p:txBody>
          <a:bodyPr wrap="square" rtlCol="0">
            <a:spAutoFit/>
          </a:bodyPr>
          <a:lstStyle/>
          <a:p>
            <a:pPr marL="342900" indent="-342900">
              <a:lnSpc>
                <a:spcPct val="150000"/>
              </a:lnSpc>
              <a:buAutoNum type="arabicPeriod"/>
            </a:pPr>
            <a:r>
              <a:rPr lang="vi-VN" b="1" dirty="0">
                <a:solidFill>
                  <a:schemeClr val="tx2">
                    <a:lumMod val="20000"/>
                    <a:lumOff val="80000"/>
                  </a:schemeClr>
                </a:solidFill>
                <a:latin typeface="Fira Sans" panose="020B0503050000020004" pitchFamily="34" charset="0"/>
              </a:rPr>
              <a:t>Sử dụng Stored Procedure</a:t>
            </a:r>
            <a:r>
              <a:rPr lang="en-US" b="1" dirty="0">
                <a:solidFill>
                  <a:schemeClr val="tx2">
                    <a:lumMod val="20000"/>
                    <a:lumOff val="80000"/>
                  </a:schemeClr>
                </a:solidFill>
                <a:latin typeface="Fira Sans" panose="020B0503050000020004" pitchFamily="34" charset="0"/>
              </a:rPr>
              <a:t> </a:t>
            </a:r>
            <a:r>
              <a:rPr lang="vi-VN" b="1" dirty="0">
                <a:solidFill>
                  <a:schemeClr val="tx2">
                    <a:lumMod val="20000"/>
                    <a:lumOff val="80000"/>
                  </a:schemeClr>
                </a:solidFill>
                <a:latin typeface="Fira Sans" panose="020B0503050000020004" pitchFamily="34" charset="0"/>
              </a:rPr>
              <a:t>(sp_send_friend_request)</a:t>
            </a:r>
            <a:endParaRPr lang="en-US" b="1" dirty="0">
              <a:solidFill>
                <a:schemeClr val="tx2">
                  <a:lumMod val="20000"/>
                  <a:lumOff val="80000"/>
                </a:schemeClr>
              </a:solidFill>
              <a:latin typeface="Fira Sans" panose="020B0503050000020004" pitchFamily="34" charset="0"/>
            </a:endParaRPr>
          </a:p>
          <a:p>
            <a:pPr marL="28575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Validate</a:t>
            </a:r>
            <a:endParaRPr lang="en-US" dirty="0">
              <a:solidFill>
                <a:schemeClr val="tx2">
                  <a:lumMod val="20000"/>
                  <a:lumOff val="80000"/>
                </a:schemeClr>
              </a:solidFill>
              <a:latin typeface="Fira Sans" panose="020B0503050000020004" pitchFamily="34" charset="0"/>
            </a:endParaRPr>
          </a:p>
          <a:p>
            <a:pPr marL="28575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Cơ chế báo lỗi (SIGNAL SQLSTATE)</a:t>
            </a:r>
            <a:endParaRPr lang="en-US" dirty="0">
              <a:solidFill>
                <a:schemeClr val="tx2">
                  <a:lumMod val="20000"/>
                  <a:lumOff val="80000"/>
                </a:schemeClr>
              </a:solidFill>
              <a:latin typeface="Fira Sans" panose="020B0503050000020004" pitchFamily="34" charset="0"/>
            </a:endParaRPr>
          </a:p>
          <a:p>
            <a:pPr>
              <a:lnSpc>
                <a:spcPct val="150000"/>
              </a:lnSpc>
            </a:pPr>
            <a:r>
              <a:rPr lang="en-US" b="1" dirty="0">
                <a:solidFill>
                  <a:schemeClr val="tx2">
                    <a:lumMod val="20000"/>
                    <a:lumOff val="80000"/>
                  </a:schemeClr>
                </a:solidFill>
                <a:latin typeface="Fira Sans" panose="020B0503050000020004" pitchFamily="34" charset="0"/>
              </a:rPr>
              <a:t>2. </a:t>
            </a:r>
            <a:r>
              <a:rPr lang="vi-VN" b="1" dirty="0">
                <a:solidFill>
                  <a:schemeClr val="tx2">
                    <a:lumMod val="20000"/>
                    <a:lumOff val="80000"/>
                  </a:schemeClr>
                </a:solidFill>
                <a:latin typeface="Fira Sans" panose="020B0503050000020004" pitchFamily="34" charset="0"/>
              </a:rPr>
              <a:t>Sử dụng Trigger (trg_friends_after_insert) để tự động hóa Log</a:t>
            </a:r>
            <a:endParaRPr lang="en-US" b="1" dirty="0">
              <a:solidFill>
                <a:schemeClr val="tx2">
                  <a:lumMod val="20000"/>
                  <a:lumOff val="80000"/>
                </a:schemeClr>
              </a:solidFill>
              <a:latin typeface="Fira Sans" panose="020B0503050000020004" pitchFamily="34" charset="0"/>
            </a:endParaRPr>
          </a:p>
          <a:p>
            <a:pPr marL="28575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Tách hoàn toàn việc ghi log ra khỏi Procedure xử lý chính.</a:t>
            </a:r>
            <a:endParaRPr lang="en-US" dirty="0">
              <a:solidFill>
                <a:schemeClr val="tx2">
                  <a:lumMod val="20000"/>
                  <a:lumOff val="80000"/>
                </a:schemeClr>
              </a:solidFill>
              <a:latin typeface="Fira Sans" panose="020B0503050000020004" pitchFamily="34" charset="0"/>
            </a:endParaRPr>
          </a:p>
          <a:p>
            <a:pPr marL="28575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Kích hoạt sự kiện AFTER INSERT:</a:t>
            </a:r>
          </a:p>
          <a:p>
            <a:pPr marL="342900" indent="-342900">
              <a:lnSpc>
                <a:spcPct val="150000"/>
              </a:lnSpc>
              <a:buAutoNum type="arabicPeriod"/>
            </a:pPr>
            <a:endParaRPr lang="vi-VN" dirty="0">
              <a:solidFill>
                <a:schemeClr val="tx2">
                  <a:lumMod val="20000"/>
                  <a:lumOff val="80000"/>
                </a:schemeClr>
              </a:solidFill>
              <a:latin typeface="Fira Sans" panose="020B0503050000020004" pitchFamily="34" charset="0"/>
            </a:endParaRPr>
          </a:p>
        </p:txBody>
      </p:sp>
    </p:spTree>
    <p:extLst>
      <p:ext uri="{BB962C8B-B14F-4D97-AF65-F5344CB8AC3E}">
        <p14:creationId xmlns:p14="http://schemas.microsoft.com/office/powerpoint/2010/main" val="1878178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B8422-190F-9897-3A65-D9E3B3FC0B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3EFD9F-1567-DD1E-66A3-4A99E0D43933}"/>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A496BBFE-6480-487D-37D2-0C3D0811B1E4}"/>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5. </a:t>
            </a:r>
            <a:r>
              <a:rPr lang="en-US" sz="2400" dirty="0" err="1">
                <a:solidFill>
                  <a:srgbClr val="3D5A97"/>
                </a:solidFill>
                <a:latin typeface="Anton" pitchFamily="34" charset="0"/>
                <a:ea typeface="Anton" pitchFamily="34" charset="-122"/>
                <a:cs typeface="Anton" pitchFamily="34" charset="-120"/>
              </a:rPr>
              <a:t>Chấp</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nhận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lời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mời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kết</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bạn</a:t>
            </a:r>
            <a:endParaRPr lang="en-US" sz="2400" dirty="0">
              <a:solidFill>
                <a:srgbClr val="3D5A97"/>
              </a:solidFill>
            </a:endParaRPr>
          </a:p>
        </p:txBody>
      </p:sp>
      <p:sp>
        <p:nvSpPr>
          <p:cNvPr id="17" name="TextBox 16">
            <a:extLst>
              <a:ext uri="{FF2B5EF4-FFF2-40B4-BE49-F238E27FC236}">
                <a16:creationId xmlns:a16="http://schemas.microsoft.com/office/drawing/2014/main" id="{0E46EE03-E535-EF04-102F-ABADE58056DF}"/>
              </a:ext>
            </a:extLst>
          </p:cNvPr>
          <p:cNvSpPr txBox="1"/>
          <p:nvPr/>
        </p:nvSpPr>
        <p:spPr>
          <a:xfrm>
            <a:off x="434663" y="1927153"/>
            <a:ext cx="13574455" cy="2585323"/>
          </a:xfrm>
          <a:prstGeom prst="rect">
            <a:avLst/>
          </a:prstGeom>
          <a:noFill/>
        </p:spPr>
        <p:txBody>
          <a:bodyPr wrap="square" rtlCol="0">
            <a:spAutoFit/>
          </a:bodyPr>
          <a:lstStyle/>
          <a:p>
            <a:pPr lvl="0">
              <a:lnSpc>
                <a:spcPct val="150000"/>
              </a:lnSpc>
            </a:pPr>
            <a:r>
              <a:rPr lang="en-US" sz="2400" b="1" dirty="0" err="1">
                <a:solidFill>
                  <a:srgbClr val="3D5A97"/>
                </a:solidFill>
                <a:latin typeface="Fira Sans" panose="020B0503050000020004" pitchFamily="34" charset="0"/>
              </a:rPr>
              <a:t>Thách</a:t>
            </a:r>
            <a:r>
              <a:rPr lang="en-US" sz="2400" b="1" dirty="0">
                <a:solidFill>
                  <a:srgbClr val="3D5A97"/>
                </a:solidFill>
                <a:latin typeface="Fira Sans" panose="020B0503050000020004" pitchFamily="34" charset="0"/>
              </a:rPr>
              <a:t> </a:t>
            </a:r>
            <a:r>
              <a:rPr lang="en-US" sz="2400" b="1" dirty="0" err="1">
                <a:solidFill>
                  <a:srgbClr val="3D5A97"/>
                </a:solidFill>
                <a:latin typeface="Fira Sans" panose="020B0503050000020004" pitchFamily="34" charset="0"/>
              </a:rPr>
              <a:t>thức</a:t>
            </a:r>
            <a:endParaRPr lang="en-US" sz="2400" b="1" dirty="0">
              <a:solidFill>
                <a:srgbClr val="3D5A97"/>
              </a:solidFill>
              <a:latin typeface="Fira Sans" panose="020B0503050000020004" pitchFamily="34" charset="0"/>
            </a:endParaRPr>
          </a:p>
          <a:p>
            <a:pPr marL="342900" lvl="0" indent="-342900">
              <a:lnSpc>
                <a:spcPct val="150000"/>
              </a:lnSpc>
              <a:buAutoNum type="arabicPeriod"/>
            </a:pPr>
            <a:r>
              <a:rPr lang="en-US" b="1" dirty="0" err="1">
                <a:solidFill>
                  <a:srgbClr val="3D5A97"/>
                </a:solidFill>
                <a:latin typeface="Fira Sans" panose="020B0503050000020004" pitchFamily="34" charset="0"/>
              </a:rPr>
              <a:t>Tính</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hợp</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lệ</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của</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lời</a:t>
            </a:r>
            <a:r>
              <a:rPr lang="en-US" b="1" dirty="0">
                <a:solidFill>
                  <a:srgbClr val="3D5A97"/>
                </a:solidFill>
                <a:latin typeface="Fira Sans" panose="020B0503050000020004" pitchFamily="34" charset="0"/>
              </a:rPr>
              <a:t> </a:t>
            </a:r>
            <a:r>
              <a:rPr lang="en-US" b="1" dirty="0" err="1">
                <a:solidFill>
                  <a:srgbClr val="3D5A97"/>
                </a:solidFill>
                <a:latin typeface="Fira Sans" panose="020B0503050000020004" pitchFamily="34" charset="0"/>
              </a:rPr>
              <a:t>mời</a:t>
            </a:r>
            <a:r>
              <a:rPr lang="en-US" b="1" dirty="0">
                <a:solidFill>
                  <a:srgbClr val="3D5A97"/>
                </a:solidFill>
                <a:latin typeface="Fira Sans" panose="020B0503050000020004" pitchFamily="34" charset="0"/>
              </a:rPr>
              <a:t>: </a:t>
            </a:r>
            <a:r>
              <a:rPr lang="vi-VN" dirty="0">
                <a:solidFill>
                  <a:srgbClr val="3D5A97"/>
                </a:solidFill>
                <a:latin typeface="Fira Sans" panose="020B0503050000020004" pitchFamily="34" charset="0"/>
              </a:rPr>
              <a:t>Lời mời phải tồn tại và đang ở trạng thái pending</a:t>
            </a:r>
            <a:endParaRPr lang="en-US" dirty="0">
              <a:solidFill>
                <a:srgbClr val="3D5A97"/>
              </a:solidFill>
              <a:latin typeface="Fira Sans" panose="020B0503050000020004" pitchFamily="34" charset="0"/>
            </a:endParaRPr>
          </a:p>
          <a:p>
            <a:pPr marL="342900" indent="-342900">
              <a:lnSpc>
                <a:spcPct val="150000"/>
              </a:lnSpc>
              <a:buFontTx/>
              <a:buAutoNum type="arabicPeriod"/>
            </a:pPr>
            <a:r>
              <a:rPr lang="vi-VN" b="1" dirty="0">
                <a:solidFill>
                  <a:srgbClr val="3D5A97"/>
                </a:solidFill>
                <a:latin typeface="Fira Sans" panose="020B0503050000020004" pitchFamily="34" charset="0"/>
              </a:rPr>
              <a:t>Quan hệ hai chiều: </a:t>
            </a:r>
            <a:r>
              <a:rPr lang="vi-VN" dirty="0">
                <a:solidFill>
                  <a:srgbClr val="3D5A97"/>
                </a:solidFill>
                <a:latin typeface="Fira Sans" panose="020B0503050000020004" pitchFamily="34" charset="0"/>
              </a:rPr>
              <a:t>Cần tạo thêm bản ghi ngược (B → A) với status 'accepted' để mô hình bạn bè đối xứng.</a:t>
            </a:r>
          </a:p>
          <a:p>
            <a:pPr marL="342900" indent="-342900">
              <a:lnSpc>
                <a:spcPct val="150000"/>
              </a:lnSpc>
              <a:buFontTx/>
              <a:buAutoNum type="arabicPeriod"/>
            </a:pPr>
            <a:r>
              <a:rPr lang="vi-VN" b="1" dirty="0">
                <a:solidFill>
                  <a:srgbClr val="3D5A97"/>
                </a:solidFill>
                <a:latin typeface="Fira Sans" panose="020B0503050000020004" pitchFamily="34" charset="0"/>
              </a:rPr>
              <a:t>Tính nguyên vẹn giao dịch: </a:t>
            </a:r>
            <a:r>
              <a:rPr lang="vi-VN" dirty="0">
                <a:solidFill>
                  <a:srgbClr val="3D5A97"/>
                </a:solidFill>
                <a:latin typeface="Fira Sans" panose="020B0503050000020004" pitchFamily="34" charset="0"/>
              </a:rPr>
              <a:t>Cả hai thao tác (update + insert) phải thành công cùng nhau, nếu một bước lỗi thì không để lại dữ liệu nửa vời.</a:t>
            </a:r>
          </a:p>
          <a:p>
            <a:pPr marL="342900" lvl="0" indent="-342900">
              <a:buAutoNum type="arabicPeriod"/>
            </a:pPr>
            <a:endParaRPr lang="vi-VN" dirty="0">
              <a:solidFill>
                <a:srgbClr val="3D5A97"/>
              </a:solidFill>
              <a:latin typeface="Fira Sans" panose="020B0503050000020004" pitchFamily="34" charset="0"/>
            </a:endParaRPr>
          </a:p>
        </p:txBody>
      </p:sp>
      <p:grpSp>
        <p:nvGrpSpPr>
          <p:cNvPr id="23" name="Group 22">
            <a:extLst>
              <a:ext uri="{FF2B5EF4-FFF2-40B4-BE49-F238E27FC236}">
                <a16:creationId xmlns:a16="http://schemas.microsoft.com/office/drawing/2014/main" id="{8EC5B873-1AE0-A3FA-6169-C0B42DF89CD3}"/>
              </a:ext>
            </a:extLst>
          </p:cNvPr>
          <p:cNvGrpSpPr/>
          <p:nvPr/>
        </p:nvGrpSpPr>
        <p:grpSpPr>
          <a:xfrm rot="5400000">
            <a:off x="1719540" y="2950431"/>
            <a:ext cx="3874281" cy="6403700"/>
            <a:chOff x="538394" y="1794986"/>
            <a:chExt cx="3282468" cy="1367909"/>
          </a:xfrm>
        </p:grpSpPr>
        <p:sp>
          <p:nvSpPr>
            <p:cNvPr id="24" name="Shape 1">
              <a:extLst>
                <a:ext uri="{FF2B5EF4-FFF2-40B4-BE49-F238E27FC236}">
                  <a16:creationId xmlns:a16="http://schemas.microsoft.com/office/drawing/2014/main" id="{4340C066-4DCC-B2F4-F66D-969BB3DED9B2}"/>
                </a:ext>
              </a:extLst>
            </p:cNvPr>
            <p:cNvSpPr/>
            <p:nvPr/>
          </p:nvSpPr>
          <p:spPr>
            <a:xfrm>
              <a:off x="538394" y="1794986"/>
              <a:ext cx="328246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2A1CF516-F9B9-CB0F-5BED-BB205C21992D}"/>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476FC6C9-CA06-D38B-7397-25CFB90D1BA0}"/>
              </a:ext>
            </a:extLst>
          </p:cNvPr>
          <p:cNvSpPr txBox="1"/>
          <p:nvPr/>
        </p:nvSpPr>
        <p:spPr>
          <a:xfrm rot="5400000">
            <a:off x="3200521" y="3679633"/>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75BF1654-3592-7027-AFB7-F1A21769B8F6}"/>
              </a:ext>
            </a:extLst>
          </p:cNvPr>
          <p:cNvSpPr txBox="1"/>
          <p:nvPr/>
        </p:nvSpPr>
        <p:spPr>
          <a:xfrm>
            <a:off x="609093" y="4994485"/>
            <a:ext cx="6210280" cy="3235116"/>
          </a:xfrm>
          <a:prstGeom prst="rect">
            <a:avLst/>
          </a:prstGeom>
          <a:noFill/>
        </p:spPr>
        <p:txBody>
          <a:bodyPr wrap="square" rtlCol="0">
            <a:spAutoFit/>
          </a:bodyPr>
          <a:lstStyle/>
          <a:p>
            <a:pPr lvl="0"/>
            <a:r>
              <a:rPr lang="en-US" b="1" dirty="0">
                <a:solidFill>
                  <a:schemeClr val="tx2">
                    <a:lumMod val="20000"/>
                    <a:lumOff val="80000"/>
                  </a:schemeClr>
                </a:solidFill>
                <a:latin typeface="Fira Sans" panose="020B0503050000020004" pitchFamily="34" charset="0"/>
              </a:rPr>
              <a:t>1. </a:t>
            </a:r>
            <a:r>
              <a:rPr lang="vi-VN" b="1" dirty="0">
                <a:solidFill>
                  <a:schemeClr val="tx2">
                    <a:lumMod val="20000"/>
                    <a:lumOff val="80000"/>
                  </a:schemeClr>
                </a:solidFill>
                <a:latin typeface="Fira Sans" panose="020B0503050000020004" pitchFamily="34" charset="0"/>
              </a:rPr>
              <a:t>Stored Procedure (sp_accept_friend_request)</a:t>
            </a:r>
            <a:r>
              <a:rPr lang="vi-VN" dirty="0">
                <a:solidFill>
                  <a:schemeClr val="tx2">
                    <a:lumMod val="20000"/>
                    <a:lumOff val="80000"/>
                  </a:schemeClr>
                </a:solidFill>
                <a:latin typeface="Fira Sans" panose="020B0503050000020004" pitchFamily="34" charset="0"/>
              </a:rPr>
              <a:t>:</a:t>
            </a:r>
            <a:endParaRPr lang="en-US" dirty="0">
              <a:solidFill>
                <a:schemeClr val="tx2">
                  <a:lumMod val="20000"/>
                  <a:lumOff val="80000"/>
                </a:schemeClr>
              </a:solidFill>
              <a:latin typeface="Fira Sans" panose="020B0503050000020004" pitchFamily="34" charset="0"/>
            </a:endParaRPr>
          </a:p>
          <a:p>
            <a:pPr marL="285750" lvl="0" indent="-285750">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Kiểm tra trước: lời mời từ sender → receiver có tồn tại và đang pending không</a:t>
            </a:r>
            <a:endParaRPr lang="en-US" dirty="0">
              <a:solidFill>
                <a:schemeClr val="tx2">
                  <a:lumMod val="20000"/>
                  <a:lumOff val="80000"/>
                </a:schemeClr>
              </a:solidFill>
              <a:latin typeface="Fira Sans" panose="020B0503050000020004" pitchFamily="34" charset="0"/>
            </a:endParaRPr>
          </a:p>
          <a:p>
            <a:pPr marL="285750" lvl="0" indent="-285750">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Dùng </a:t>
            </a:r>
            <a:r>
              <a:rPr lang="vi-VN" b="1" dirty="0">
                <a:solidFill>
                  <a:schemeClr val="tx2">
                    <a:lumMod val="20000"/>
                    <a:lumOff val="80000"/>
                  </a:schemeClr>
                </a:solidFill>
                <a:latin typeface="Fira Sans" panose="020B0503050000020004" pitchFamily="34" charset="0"/>
              </a:rPr>
              <a:t>START TRANSACTION</a:t>
            </a:r>
            <a:r>
              <a:rPr lang="vi-VN" dirty="0">
                <a:solidFill>
                  <a:schemeClr val="tx2">
                    <a:lumMod val="20000"/>
                    <a:lumOff val="80000"/>
                  </a:schemeClr>
                </a:solidFill>
                <a:latin typeface="Fira Sans" panose="020B0503050000020004" pitchFamily="34" charset="0"/>
              </a:rPr>
              <a:t> … </a:t>
            </a:r>
            <a:r>
              <a:rPr lang="vi-VN" b="1" dirty="0">
                <a:solidFill>
                  <a:schemeClr val="tx2">
                    <a:lumMod val="20000"/>
                    <a:lumOff val="80000"/>
                  </a:schemeClr>
                </a:solidFill>
                <a:latin typeface="Fira Sans" panose="020B0503050000020004" pitchFamily="34" charset="0"/>
              </a:rPr>
              <a:t>COMMIT</a:t>
            </a:r>
            <a:r>
              <a:rPr lang="vi-VN" dirty="0">
                <a:solidFill>
                  <a:schemeClr val="tx2">
                    <a:lumMod val="20000"/>
                    <a:lumOff val="80000"/>
                  </a:schemeClr>
                </a:solidFill>
                <a:latin typeface="Fira Sans" panose="020B0503050000020004" pitchFamily="34" charset="0"/>
              </a:rPr>
              <a:t> để đảm bảo atomicity:</a:t>
            </a:r>
            <a:endParaRPr lang="en-US" dirty="0">
              <a:solidFill>
                <a:schemeClr val="tx2">
                  <a:lumMod val="20000"/>
                  <a:lumOff val="80000"/>
                </a:schemeClr>
              </a:solidFill>
              <a:latin typeface="Fira Sans" panose="020B0503050000020004" pitchFamily="34" charset="0"/>
            </a:endParaRPr>
          </a:p>
          <a:p>
            <a:pPr marL="742950" lvl="1" indent="-285750">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Update trạng thái bản ghi gốc thành 'accepted’</a:t>
            </a:r>
            <a:endParaRPr lang="en-US" dirty="0">
              <a:solidFill>
                <a:schemeClr val="tx2">
                  <a:lumMod val="20000"/>
                  <a:lumOff val="80000"/>
                </a:schemeClr>
              </a:solidFill>
              <a:latin typeface="Fira Sans" panose="020B0503050000020004" pitchFamily="34" charset="0"/>
            </a:endParaRPr>
          </a:p>
          <a:p>
            <a:pPr marL="742950" lvl="1" indent="-285750">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Insert bản ghi ngược chiều (receiver → sender) với 'accepted’</a:t>
            </a:r>
            <a:endParaRPr lang="en-US" dirty="0">
              <a:solidFill>
                <a:schemeClr val="tx2">
                  <a:lumMod val="20000"/>
                  <a:lumOff val="80000"/>
                </a:schemeClr>
              </a:solidFill>
              <a:latin typeface="Fira Sans" panose="020B0503050000020004" pitchFamily="34" charset="0"/>
            </a:endParaRPr>
          </a:p>
          <a:p>
            <a:pPr marL="285750" lvl="0" indent="-285750">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Báo lỗi rõ ràng bằng </a:t>
            </a:r>
            <a:r>
              <a:rPr lang="vi-VN" b="1" dirty="0">
                <a:solidFill>
                  <a:schemeClr val="tx2">
                    <a:lumMod val="20000"/>
                    <a:lumOff val="80000"/>
                  </a:schemeClr>
                </a:solidFill>
                <a:latin typeface="Fira Sans" panose="020B0503050000020004" pitchFamily="34" charset="0"/>
              </a:rPr>
              <a:t>SIGNAL</a:t>
            </a:r>
            <a:r>
              <a:rPr lang="vi-VN" dirty="0">
                <a:solidFill>
                  <a:schemeClr val="tx2">
                    <a:lumMod val="20000"/>
                    <a:lumOff val="80000"/>
                  </a:schemeClr>
                </a:solidFill>
                <a:latin typeface="Fira Sans" panose="020B0503050000020004" pitchFamily="34" charset="0"/>
              </a:rPr>
              <a:t> nếu không thỏa điều kiện (dễ hiển thị trên frontend).</a:t>
            </a:r>
          </a:p>
          <a:p>
            <a:pPr>
              <a:lnSpc>
                <a:spcPct val="150000"/>
              </a:lnSpc>
            </a:pPr>
            <a:endParaRPr lang="vi-VN" dirty="0">
              <a:solidFill>
                <a:schemeClr val="tx2">
                  <a:lumMod val="20000"/>
                  <a:lumOff val="80000"/>
                </a:schemeClr>
              </a:solidFill>
              <a:latin typeface="Fira Sans" panose="020B0503050000020004" pitchFamily="34" charset="0"/>
            </a:endParaRPr>
          </a:p>
        </p:txBody>
      </p:sp>
      <p:grpSp>
        <p:nvGrpSpPr>
          <p:cNvPr id="8" name="Group 7">
            <a:extLst>
              <a:ext uri="{FF2B5EF4-FFF2-40B4-BE49-F238E27FC236}">
                <a16:creationId xmlns:a16="http://schemas.microsoft.com/office/drawing/2014/main" id="{1683E911-FBD0-DC95-609F-A199D97ACFCD}"/>
              </a:ext>
            </a:extLst>
          </p:cNvPr>
          <p:cNvGrpSpPr/>
          <p:nvPr/>
        </p:nvGrpSpPr>
        <p:grpSpPr>
          <a:xfrm rot="5400000">
            <a:off x="8870128" y="2950434"/>
            <a:ext cx="3874281" cy="6403700"/>
            <a:chOff x="538394" y="1794986"/>
            <a:chExt cx="3282468" cy="1367909"/>
          </a:xfrm>
        </p:grpSpPr>
        <p:sp>
          <p:nvSpPr>
            <p:cNvPr id="9" name="Shape 1">
              <a:extLst>
                <a:ext uri="{FF2B5EF4-FFF2-40B4-BE49-F238E27FC236}">
                  <a16:creationId xmlns:a16="http://schemas.microsoft.com/office/drawing/2014/main" id="{29EF7A29-A2CF-A79C-D3C3-49FF7E47649E}"/>
                </a:ext>
              </a:extLst>
            </p:cNvPr>
            <p:cNvSpPr/>
            <p:nvPr/>
          </p:nvSpPr>
          <p:spPr>
            <a:xfrm>
              <a:off x="538394" y="1794986"/>
              <a:ext cx="328246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10" name="Shape 1">
              <a:extLst>
                <a:ext uri="{FF2B5EF4-FFF2-40B4-BE49-F238E27FC236}">
                  <a16:creationId xmlns:a16="http://schemas.microsoft.com/office/drawing/2014/main" id="{FBC69779-F1CF-0F8D-419A-1A6AC15DAA9B}"/>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11" name="TextBox 10">
            <a:extLst>
              <a:ext uri="{FF2B5EF4-FFF2-40B4-BE49-F238E27FC236}">
                <a16:creationId xmlns:a16="http://schemas.microsoft.com/office/drawing/2014/main" id="{E16CF85E-B7C3-1EAD-2861-C7247491D50E}"/>
              </a:ext>
            </a:extLst>
          </p:cNvPr>
          <p:cNvSpPr txBox="1"/>
          <p:nvPr/>
        </p:nvSpPr>
        <p:spPr>
          <a:xfrm rot="5400000">
            <a:off x="10351109" y="3679636"/>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12" name="TextBox 11">
            <a:extLst>
              <a:ext uri="{FF2B5EF4-FFF2-40B4-BE49-F238E27FC236}">
                <a16:creationId xmlns:a16="http://schemas.microsoft.com/office/drawing/2014/main" id="{2314B03C-CA13-2F93-9DA2-53ABEC7CE90B}"/>
              </a:ext>
            </a:extLst>
          </p:cNvPr>
          <p:cNvSpPr txBox="1"/>
          <p:nvPr/>
        </p:nvSpPr>
        <p:spPr>
          <a:xfrm>
            <a:off x="7702128" y="4969157"/>
            <a:ext cx="6210280" cy="2958117"/>
          </a:xfrm>
          <a:prstGeom prst="rect">
            <a:avLst/>
          </a:prstGeom>
          <a:noFill/>
        </p:spPr>
        <p:txBody>
          <a:bodyPr wrap="square" rtlCol="0">
            <a:spAutoFit/>
          </a:bodyPr>
          <a:lstStyle/>
          <a:p>
            <a:pPr lvl="0">
              <a:lnSpc>
                <a:spcPct val="150000"/>
              </a:lnSpc>
            </a:pPr>
            <a:r>
              <a:rPr lang="en-US" b="1" dirty="0">
                <a:solidFill>
                  <a:schemeClr val="tx2">
                    <a:lumMod val="20000"/>
                    <a:lumOff val="80000"/>
                  </a:schemeClr>
                </a:solidFill>
                <a:latin typeface="Fira Sans" panose="020B0503050000020004" pitchFamily="34" charset="0"/>
              </a:rPr>
              <a:t>2. </a:t>
            </a:r>
            <a:r>
              <a:rPr lang="vi-VN" b="1" dirty="0">
                <a:solidFill>
                  <a:schemeClr val="tx2">
                    <a:lumMod val="20000"/>
                    <a:lumOff val="80000"/>
                  </a:schemeClr>
                </a:solidFill>
                <a:latin typeface="Fira Sans" panose="020B0503050000020004" pitchFamily="34" charset="0"/>
              </a:rPr>
              <a:t>Trigger (trg_friends_after_update)</a:t>
            </a:r>
            <a:r>
              <a:rPr lang="vi-VN" dirty="0">
                <a:solidFill>
                  <a:schemeClr val="tx2">
                    <a:lumMod val="20000"/>
                    <a:lumOff val="80000"/>
                  </a:schemeClr>
                </a:solidFill>
                <a:latin typeface="Fira Sans" panose="020B0503050000020004" pitchFamily="34" charset="0"/>
              </a:rPr>
              <a:t>:</a:t>
            </a:r>
            <a:endParaRPr lang="en-US" dirty="0">
              <a:solidFill>
                <a:schemeClr val="tx2">
                  <a:lumMod val="20000"/>
                  <a:lumOff val="80000"/>
                </a:schemeClr>
              </a:solidFill>
              <a:latin typeface="Fira Sans" panose="020B0503050000020004" pitchFamily="34" charset="0"/>
            </a:endParaRP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Kích hoạt sau khi update status.</a:t>
            </a:r>
            <a:endParaRPr lang="en-US" dirty="0">
              <a:solidFill>
                <a:schemeClr val="tx2">
                  <a:lumMod val="20000"/>
                  <a:lumOff val="80000"/>
                </a:schemeClr>
              </a:solidFill>
              <a:latin typeface="Fira Sans" panose="020B0503050000020004" pitchFamily="34" charset="0"/>
            </a:endParaRP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Chỉ ghi log khi status thực sự thay đổi (old.status &lt;&gt; new.status).</a:t>
            </a:r>
            <a:endParaRPr lang="en-US" dirty="0">
              <a:solidFill>
                <a:schemeClr val="tx2">
                  <a:lumMod val="20000"/>
                  <a:lumOff val="80000"/>
                </a:schemeClr>
              </a:solidFill>
              <a:latin typeface="Fira Sans" panose="020B0503050000020004" pitchFamily="34" charset="0"/>
            </a:endParaRP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Tự động lấy dữ liệu mới (NEW.status) để ghi vào friend_log → đảm bảo log luôn chính xác, không bỏ sót</a:t>
            </a:r>
          </a:p>
          <a:p>
            <a:pPr>
              <a:lnSpc>
                <a:spcPct val="150000"/>
              </a:lnSpc>
            </a:pPr>
            <a:endParaRPr lang="vi-VN" dirty="0">
              <a:solidFill>
                <a:schemeClr val="tx2">
                  <a:lumMod val="20000"/>
                  <a:lumOff val="80000"/>
                </a:schemeClr>
              </a:solidFill>
              <a:latin typeface="Fira Sans" panose="020B0503050000020004" pitchFamily="34" charset="0"/>
            </a:endParaRPr>
          </a:p>
        </p:txBody>
      </p:sp>
    </p:spTree>
    <p:extLst>
      <p:ext uri="{BB962C8B-B14F-4D97-AF65-F5344CB8AC3E}">
        <p14:creationId xmlns:p14="http://schemas.microsoft.com/office/powerpoint/2010/main" val="2189322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46E42-FB1F-40AB-382E-73DEAB1AE0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AF48040-DA46-6020-FE70-40844D0F100E}"/>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0D57A7AD-1CDF-A76D-93D7-8A757A9D17BC}"/>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6. Quản </a:t>
            </a:r>
            <a:r>
              <a:rPr lang="en-US" sz="2400" dirty="0" err="1">
                <a:solidFill>
                  <a:srgbClr val="3D5A97"/>
                </a:solidFill>
                <a:latin typeface="Anton" pitchFamily="34" charset="0"/>
                <a:ea typeface="Anton" pitchFamily="34" charset="-122"/>
                <a:cs typeface="Anton" pitchFamily="34" charset="-120"/>
              </a:rPr>
              <a:t>lý</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mối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quan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hệ</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bạn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bè</a:t>
            </a:r>
            <a:endParaRPr lang="en-US" sz="2400" dirty="0">
              <a:solidFill>
                <a:srgbClr val="3D5A97"/>
              </a:solidFill>
            </a:endParaRPr>
          </a:p>
        </p:txBody>
      </p:sp>
      <p:grpSp>
        <p:nvGrpSpPr>
          <p:cNvPr id="4" name="Group 3">
            <a:extLst>
              <a:ext uri="{FF2B5EF4-FFF2-40B4-BE49-F238E27FC236}">
                <a16:creationId xmlns:a16="http://schemas.microsoft.com/office/drawing/2014/main" id="{CECBFF0C-2419-27D1-AC08-537CE3D87F60}"/>
              </a:ext>
            </a:extLst>
          </p:cNvPr>
          <p:cNvGrpSpPr/>
          <p:nvPr/>
        </p:nvGrpSpPr>
        <p:grpSpPr>
          <a:xfrm rot="5400000">
            <a:off x="1335152" y="2028938"/>
            <a:ext cx="4952940" cy="6171127"/>
            <a:chOff x="538394" y="1794986"/>
            <a:chExt cx="4196358" cy="1367909"/>
          </a:xfrm>
        </p:grpSpPr>
        <p:sp>
          <p:nvSpPr>
            <p:cNvPr id="5" name="Shape 1">
              <a:extLst>
                <a:ext uri="{FF2B5EF4-FFF2-40B4-BE49-F238E27FC236}">
                  <a16:creationId xmlns:a16="http://schemas.microsoft.com/office/drawing/2014/main" id="{F443750A-18BE-9BEB-080C-FC7C70DB57D7}"/>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34286B5D-FB4D-6486-2C01-F211CD940EBF}"/>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969EC67F-BDB1-164B-B88C-426803976DDF}"/>
              </a:ext>
            </a:extLst>
          </p:cNvPr>
          <p:cNvSpPr txBox="1"/>
          <p:nvPr/>
        </p:nvSpPr>
        <p:spPr>
          <a:xfrm rot="5400000">
            <a:off x="3534621" y="2091465"/>
            <a:ext cx="553998" cy="174705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3291FA9C-9292-4C68-B65C-891156DD1220}"/>
              </a:ext>
            </a:extLst>
          </p:cNvPr>
          <p:cNvSpPr txBox="1"/>
          <p:nvPr/>
        </p:nvSpPr>
        <p:spPr>
          <a:xfrm>
            <a:off x="880325" y="3417377"/>
            <a:ext cx="5736854" cy="2446824"/>
          </a:xfrm>
          <a:prstGeom prst="rect">
            <a:avLst/>
          </a:prstGeom>
          <a:noFill/>
        </p:spPr>
        <p:txBody>
          <a:bodyPr wrap="square" rtlCol="0">
            <a:spAutoFit/>
          </a:bodyPr>
          <a:lstStyle/>
          <a:p>
            <a:pPr marL="342900" lvl="0" indent="-342900">
              <a:lnSpc>
                <a:spcPct val="150000"/>
              </a:lnSpc>
              <a:buAutoNum type="arabicPeriod"/>
            </a:pPr>
            <a:r>
              <a:rPr lang="vi-VN" b="1" dirty="0">
                <a:solidFill>
                  <a:schemeClr val="tx2">
                    <a:lumMod val="20000"/>
                    <a:lumOff val="80000"/>
                  </a:schemeClr>
                </a:solidFill>
                <a:latin typeface="Fira Sans" panose="020B0503050000020004" pitchFamily="34" charset="0"/>
              </a:rPr>
              <a:t>Đảm bảo tính toàn vẹn dữ liệu (Data Consistency)</a:t>
            </a:r>
            <a:endParaRPr lang="en-US" b="1"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latin typeface="Fira Sans" panose="020B0503050000020004" pitchFamily="34" charset="0"/>
              </a:rPr>
              <a:t>Xử lý lỗi khi quan hệ bạn bè không tồn tại</a:t>
            </a:r>
            <a:endParaRPr lang="vi-VN"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latin typeface="Fira Sans" panose="020B0503050000020004" pitchFamily="34" charset="0"/>
              </a:rPr>
              <a:t>Rủi ro khi thực hiện nhiều thao tác cùng lúc</a:t>
            </a:r>
            <a:endParaRPr lang="vi-VN"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latin typeface="Fira Sans" panose="020B0503050000020004" pitchFamily="34" charset="0"/>
              </a:rPr>
              <a:t>Rủi ro khi thực hiện nhiều thao tác cùng lúc</a:t>
            </a:r>
            <a:endParaRPr lang="vi-VN" dirty="0">
              <a:solidFill>
                <a:schemeClr val="tx2">
                  <a:lumMod val="20000"/>
                  <a:lumOff val="80000"/>
                </a:schemeClr>
              </a:solidFill>
              <a:latin typeface="Fira Sans" panose="020B0503050000020004" pitchFamily="34" charset="0"/>
            </a:endParaRPr>
          </a:p>
          <a:p>
            <a:pPr marL="342900" lvl="0" indent="-342900">
              <a:lnSpc>
                <a:spcPct val="150000"/>
              </a:lnSpc>
              <a:buAutoNum type="arabicPeriod"/>
            </a:pPr>
            <a:endParaRPr lang="vi-VN" dirty="0">
              <a:solidFill>
                <a:schemeClr val="tx2">
                  <a:lumMod val="20000"/>
                  <a:lumOff val="80000"/>
                </a:schemeClr>
              </a:solidFill>
              <a:latin typeface="Fira Sans" panose="020B0503050000020004" pitchFamily="34" charset="0"/>
            </a:endParaRPr>
          </a:p>
          <a:p>
            <a:pPr marL="342900" lvl="0" indent="-342900">
              <a:buAutoNum type="arabicPeriod"/>
            </a:pPr>
            <a:endParaRPr lang="vi-VN" dirty="0">
              <a:solidFill>
                <a:schemeClr val="tx2">
                  <a:lumMod val="20000"/>
                  <a:lumOff val="80000"/>
                </a:schemeClr>
              </a:solidFill>
              <a:latin typeface="Fira Sans" panose="020B0503050000020004" pitchFamily="34" charset="0"/>
            </a:endParaRPr>
          </a:p>
        </p:txBody>
      </p:sp>
      <p:grpSp>
        <p:nvGrpSpPr>
          <p:cNvPr id="23" name="Group 22">
            <a:extLst>
              <a:ext uri="{FF2B5EF4-FFF2-40B4-BE49-F238E27FC236}">
                <a16:creationId xmlns:a16="http://schemas.microsoft.com/office/drawing/2014/main" id="{810678F2-B034-DA5E-404B-5BF31AB95D41}"/>
              </a:ext>
            </a:extLst>
          </p:cNvPr>
          <p:cNvGrpSpPr/>
          <p:nvPr/>
        </p:nvGrpSpPr>
        <p:grpSpPr>
          <a:xfrm rot="5400000">
            <a:off x="8419439" y="1912651"/>
            <a:ext cx="4952940" cy="6403700"/>
            <a:chOff x="538394" y="1794986"/>
            <a:chExt cx="4196358" cy="1367909"/>
          </a:xfrm>
        </p:grpSpPr>
        <p:sp>
          <p:nvSpPr>
            <p:cNvPr id="24" name="Shape 1">
              <a:extLst>
                <a:ext uri="{FF2B5EF4-FFF2-40B4-BE49-F238E27FC236}">
                  <a16:creationId xmlns:a16="http://schemas.microsoft.com/office/drawing/2014/main" id="{882A64B7-01CC-7DA3-8FFF-2ACCE651C558}"/>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055F9918-6874-E51D-AB50-FF5F6433F537}"/>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14100D97-7F57-B832-303C-2EC9E4F14B9F}"/>
              </a:ext>
            </a:extLst>
          </p:cNvPr>
          <p:cNvSpPr txBox="1"/>
          <p:nvPr/>
        </p:nvSpPr>
        <p:spPr>
          <a:xfrm rot="5400000">
            <a:off x="10478907" y="2102524"/>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AB059AF5-92D2-5120-AD84-E8A3D0F5AFBA}"/>
              </a:ext>
            </a:extLst>
          </p:cNvPr>
          <p:cNvSpPr txBox="1"/>
          <p:nvPr/>
        </p:nvSpPr>
        <p:spPr>
          <a:xfrm>
            <a:off x="7887479" y="3417376"/>
            <a:ext cx="6210280" cy="3789114"/>
          </a:xfrm>
          <a:prstGeom prst="rect">
            <a:avLst/>
          </a:prstGeom>
          <a:noFill/>
        </p:spPr>
        <p:txBody>
          <a:bodyPr wrap="square" rtlCol="0">
            <a:spAutoFit/>
          </a:bodyPr>
          <a:lstStyle/>
          <a:p>
            <a:pPr marL="342900" lvl="0" indent="-342900">
              <a:lnSpc>
                <a:spcPct val="150000"/>
              </a:lnSpc>
              <a:buAutoNum type="arabicPeriod"/>
            </a:pPr>
            <a:r>
              <a:rPr lang="vi-VN" b="1" dirty="0">
                <a:solidFill>
                  <a:schemeClr val="tx2">
                    <a:lumMod val="20000"/>
                    <a:lumOff val="80000"/>
                  </a:schemeClr>
                </a:solidFill>
                <a:latin typeface="Fira Sans" panose="020B0503050000020004" pitchFamily="34" charset="0"/>
              </a:rPr>
              <a:t>Sử dụng Transaction để đảm bảo tính nguyên </a:t>
            </a:r>
            <a:endParaRPr lang="en-US" b="1" dirty="0">
              <a:solidFill>
                <a:schemeClr val="tx2">
                  <a:lumMod val="20000"/>
                  <a:lumOff val="80000"/>
                </a:schemeClr>
              </a:solidFill>
              <a:latin typeface="Fira Sans" panose="020B0503050000020004" pitchFamily="34" charset="0"/>
            </a:endParaRPr>
          </a:p>
          <a:p>
            <a:pPr lvl="0">
              <a:lnSpc>
                <a:spcPct val="150000"/>
              </a:lnSpc>
            </a:pPr>
            <a:r>
              <a:rPr lang="en-US" dirty="0">
                <a:solidFill>
                  <a:schemeClr val="tx2">
                    <a:lumMod val="20000"/>
                    <a:lumOff val="80000"/>
                  </a:schemeClr>
                </a:solidFill>
                <a:latin typeface="Fira Sans" panose="020B0503050000020004" pitchFamily="34" charset="0"/>
              </a:rPr>
              <a:t>- </a:t>
            </a:r>
            <a:r>
              <a:rPr lang="vi-VN" dirty="0">
                <a:solidFill>
                  <a:schemeClr val="tx2">
                    <a:lumMod val="20000"/>
                    <a:lumOff val="80000"/>
                  </a:schemeClr>
                </a:solidFill>
                <a:latin typeface="Fira Sans" panose="020B0503050000020004" pitchFamily="34" charset="0"/>
              </a:rPr>
              <a:t>Bao toàn bộ thao tác cập nhật / xóa trong:</a:t>
            </a:r>
          </a:p>
          <a:p>
            <a:pPr>
              <a:lnSpc>
                <a:spcPct val="150000"/>
              </a:lnSpc>
            </a:pPr>
            <a:r>
              <a:rPr lang="vi-VN" dirty="0">
                <a:solidFill>
                  <a:schemeClr val="tx2">
                    <a:lumMod val="20000"/>
                    <a:lumOff val="80000"/>
                  </a:schemeClr>
                </a:solidFill>
                <a:latin typeface="Fira Sans" panose="020B0503050000020004" pitchFamily="34" charset="0"/>
              </a:rPr>
              <a:t>start transaction;</a:t>
            </a:r>
          </a:p>
          <a:p>
            <a:pPr>
              <a:lnSpc>
                <a:spcPct val="150000"/>
              </a:lnSpc>
            </a:pPr>
            <a:r>
              <a:rPr lang="vi-VN" dirty="0">
                <a:solidFill>
                  <a:schemeClr val="tx2">
                    <a:lumMod val="20000"/>
                    <a:lumOff val="80000"/>
                  </a:schemeClr>
                </a:solidFill>
                <a:latin typeface="Fira Sans" panose="020B0503050000020004" pitchFamily="34" charset="0"/>
              </a:rPr>
              <a:t>...</a:t>
            </a:r>
          </a:p>
          <a:p>
            <a:pPr>
              <a:lnSpc>
                <a:spcPct val="150000"/>
              </a:lnSpc>
            </a:pPr>
            <a:r>
              <a:rPr lang="vi-VN" dirty="0">
                <a:solidFill>
                  <a:schemeClr val="tx2">
                    <a:lumMod val="20000"/>
                    <a:lumOff val="80000"/>
                  </a:schemeClr>
                </a:solidFill>
                <a:latin typeface="Fira Sans" panose="020B0503050000020004" pitchFamily="34" charset="0"/>
              </a:rPr>
              <a:t>commit; hoặc rollback</a:t>
            </a:r>
          </a:p>
          <a:p>
            <a:pPr>
              <a:lnSpc>
                <a:spcPct val="150000"/>
              </a:lnSpc>
            </a:pPr>
            <a:r>
              <a:rPr lang="en-US" dirty="0">
                <a:solidFill>
                  <a:schemeClr val="tx2">
                    <a:lumMod val="20000"/>
                    <a:lumOff val="80000"/>
                  </a:schemeClr>
                </a:solidFill>
                <a:latin typeface="Fira Sans" panose="020B0503050000020004" pitchFamily="34" charset="0"/>
              </a:rPr>
              <a:t>- </a:t>
            </a:r>
            <a:r>
              <a:rPr lang="vi-VN" dirty="0">
                <a:solidFill>
                  <a:schemeClr val="tx2">
                    <a:lumMod val="20000"/>
                    <a:lumOff val="80000"/>
                  </a:schemeClr>
                </a:solidFill>
                <a:latin typeface="Fira Sans" panose="020B0503050000020004" pitchFamily="34" charset="0"/>
              </a:rPr>
              <a:t>Đảm bảo:</a:t>
            </a:r>
          </a:p>
          <a:p>
            <a:pPr marL="742950" lvl="1"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Hoặc cả 2 chiều đều thay đổi</a:t>
            </a:r>
          </a:p>
          <a:p>
            <a:pPr marL="742950" lvl="1"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Hoặc không thay đổi gì</a:t>
            </a:r>
          </a:p>
          <a:p>
            <a:pPr>
              <a:lnSpc>
                <a:spcPct val="150000"/>
              </a:lnSpc>
            </a:pPr>
            <a:endParaRPr lang="vi-VN" dirty="0">
              <a:solidFill>
                <a:schemeClr val="tx2">
                  <a:lumMod val="20000"/>
                  <a:lumOff val="80000"/>
                </a:schemeClr>
              </a:solidFill>
              <a:latin typeface="Fira Sans" panose="020B0503050000020004" pitchFamily="34" charset="0"/>
            </a:endParaRPr>
          </a:p>
        </p:txBody>
      </p:sp>
    </p:spTree>
    <p:extLst>
      <p:ext uri="{BB962C8B-B14F-4D97-AF65-F5344CB8AC3E}">
        <p14:creationId xmlns:p14="http://schemas.microsoft.com/office/powerpoint/2010/main" val="4129842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9CCF7-7430-1E35-5335-7994A324E43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D7A9A19-D17A-7D87-95A8-C24610DE5C98}"/>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6FED716D-9275-E938-8CA8-DFD8C9563327}"/>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6. Quản </a:t>
            </a:r>
            <a:r>
              <a:rPr lang="en-US" sz="2400" dirty="0" err="1">
                <a:solidFill>
                  <a:srgbClr val="3D5A97"/>
                </a:solidFill>
                <a:latin typeface="Anton" pitchFamily="34" charset="0"/>
                <a:ea typeface="Anton" pitchFamily="34" charset="-122"/>
                <a:cs typeface="Anton" pitchFamily="34" charset="-120"/>
              </a:rPr>
              <a:t>lý</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mối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quan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hệ</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bạn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bè</a:t>
            </a:r>
            <a:endParaRPr lang="en-US" sz="2400" dirty="0">
              <a:solidFill>
                <a:srgbClr val="3D5A97"/>
              </a:solidFill>
            </a:endParaRPr>
          </a:p>
        </p:txBody>
      </p:sp>
      <p:grpSp>
        <p:nvGrpSpPr>
          <p:cNvPr id="4" name="Group 3">
            <a:extLst>
              <a:ext uri="{FF2B5EF4-FFF2-40B4-BE49-F238E27FC236}">
                <a16:creationId xmlns:a16="http://schemas.microsoft.com/office/drawing/2014/main" id="{5C1BD9E9-2617-3B19-42FA-523721BDAAEC}"/>
              </a:ext>
            </a:extLst>
          </p:cNvPr>
          <p:cNvGrpSpPr/>
          <p:nvPr/>
        </p:nvGrpSpPr>
        <p:grpSpPr>
          <a:xfrm rot="5400000">
            <a:off x="1335152" y="2028938"/>
            <a:ext cx="4952940" cy="6171127"/>
            <a:chOff x="538394" y="1794986"/>
            <a:chExt cx="4196358" cy="1367909"/>
          </a:xfrm>
        </p:grpSpPr>
        <p:sp>
          <p:nvSpPr>
            <p:cNvPr id="5" name="Shape 1">
              <a:extLst>
                <a:ext uri="{FF2B5EF4-FFF2-40B4-BE49-F238E27FC236}">
                  <a16:creationId xmlns:a16="http://schemas.microsoft.com/office/drawing/2014/main" id="{630D2B43-42AC-B9CE-07BD-710A7F3DB032}"/>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A95A69D8-D71B-83E1-E6F8-ACB922AFC7B4}"/>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288DF264-DE4A-CA63-0540-FECA233C46F6}"/>
              </a:ext>
            </a:extLst>
          </p:cNvPr>
          <p:cNvSpPr txBox="1"/>
          <p:nvPr/>
        </p:nvSpPr>
        <p:spPr>
          <a:xfrm rot="5400000">
            <a:off x="3534621" y="2091465"/>
            <a:ext cx="553998" cy="174705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DD7B3191-ABAA-43C9-6D9F-DD690F96D365}"/>
              </a:ext>
            </a:extLst>
          </p:cNvPr>
          <p:cNvSpPr txBox="1"/>
          <p:nvPr/>
        </p:nvSpPr>
        <p:spPr>
          <a:xfrm>
            <a:off x="880325" y="3417377"/>
            <a:ext cx="5736854" cy="2446824"/>
          </a:xfrm>
          <a:prstGeom prst="rect">
            <a:avLst/>
          </a:prstGeom>
          <a:noFill/>
        </p:spPr>
        <p:txBody>
          <a:bodyPr wrap="square" rtlCol="0">
            <a:spAutoFit/>
          </a:bodyPr>
          <a:lstStyle/>
          <a:p>
            <a:pPr marL="342900" lvl="0" indent="-342900">
              <a:lnSpc>
                <a:spcPct val="150000"/>
              </a:lnSpc>
              <a:buAutoNum type="arabicPeriod"/>
            </a:pPr>
            <a:r>
              <a:rPr lang="vi-VN" b="1" dirty="0">
                <a:solidFill>
                  <a:schemeClr val="tx2">
                    <a:lumMod val="20000"/>
                    <a:lumOff val="80000"/>
                  </a:schemeClr>
                </a:solidFill>
                <a:latin typeface="Fira Sans" panose="020B0503050000020004" pitchFamily="34" charset="0"/>
              </a:rPr>
              <a:t>Đảm bảo tính toàn vẹn dữ liệu (Data Consistency)</a:t>
            </a:r>
            <a:endParaRPr lang="en-US" b="1"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latin typeface="Fira Sans" panose="020B0503050000020004" pitchFamily="34" charset="0"/>
              </a:rPr>
              <a:t>Xử lý lỗi khi quan hệ bạn bè không tồn tại</a:t>
            </a:r>
            <a:endParaRPr lang="vi-VN"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latin typeface="Fira Sans" panose="020B0503050000020004" pitchFamily="34" charset="0"/>
              </a:rPr>
              <a:t>Rủi ro khi thực hiện nhiều thao tác cùng lúc</a:t>
            </a:r>
            <a:endParaRPr lang="vi-VN"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latin typeface="Fira Sans" panose="020B0503050000020004" pitchFamily="34" charset="0"/>
              </a:rPr>
              <a:t>Rủi ro khi thực hiện nhiều thao tác cùng lúc</a:t>
            </a:r>
            <a:endParaRPr lang="vi-VN" dirty="0">
              <a:solidFill>
                <a:schemeClr val="tx2">
                  <a:lumMod val="20000"/>
                  <a:lumOff val="80000"/>
                </a:schemeClr>
              </a:solidFill>
              <a:latin typeface="Fira Sans" panose="020B0503050000020004" pitchFamily="34" charset="0"/>
            </a:endParaRPr>
          </a:p>
          <a:p>
            <a:pPr marL="342900" lvl="0" indent="-342900">
              <a:lnSpc>
                <a:spcPct val="150000"/>
              </a:lnSpc>
              <a:buAutoNum type="arabicPeriod"/>
            </a:pPr>
            <a:endParaRPr lang="vi-VN" dirty="0">
              <a:solidFill>
                <a:schemeClr val="tx2">
                  <a:lumMod val="20000"/>
                  <a:lumOff val="80000"/>
                </a:schemeClr>
              </a:solidFill>
              <a:latin typeface="Fira Sans" panose="020B0503050000020004" pitchFamily="34" charset="0"/>
            </a:endParaRPr>
          </a:p>
          <a:p>
            <a:pPr marL="342900" lvl="0" indent="-342900">
              <a:buAutoNum type="arabicPeriod"/>
            </a:pPr>
            <a:endParaRPr lang="vi-VN" dirty="0">
              <a:solidFill>
                <a:schemeClr val="tx2">
                  <a:lumMod val="20000"/>
                  <a:lumOff val="80000"/>
                </a:schemeClr>
              </a:solidFill>
              <a:latin typeface="Fira Sans" panose="020B0503050000020004" pitchFamily="34" charset="0"/>
            </a:endParaRPr>
          </a:p>
        </p:txBody>
      </p:sp>
      <p:grpSp>
        <p:nvGrpSpPr>
          <p:cNvPr id="23" name="Group 22">
            <a:extLst>
              <a:ext uri="{FF2B5EF4-FFF2-40B4-BE49-F238E27FC236}">
                <a16:creationId xmlns:a16="http://schemas.microsoft.com/office/drawing/2014/main" id="{7EDEB71B-DB03-09E9-9812-45636B990B98}"/>
              </a:ext>
            </a:extLst>
          </p:cNvPr>
          <p:cNvGrpSpPr/>
          <p:nvPr/>
        </p:nvGrpSpPr>
        <p:grpSpPr>
          <a:xfrm rot="5400000">
            <a:off x="8419439" y="1912651"/>
            <a:ext cx="4952940" cy="6403700"/>
            <a:chOff x="538394" y="1794986"/>
            <a:chExt cx="4196358" cy="1367909"/>
          </a:xfrm>
        </p:grpSpPr>
        <p:sp>
          <p:nvSpPr>
            <p:cNvPr id="24" name="Shape 1">
              <a:extLst>
                <a:ext uri="{FF2B5EF4-FFF2-40B4-BE49-F238E27FC236}">
                  <a16:creationId xmlns:a16="http://schemas.microsoft.com/office/drawing/2014/main" id="{67002AC1-66B2-14C5-291C-D71F1875B677}"/>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A7658487-F367-CAC4-55CB-5780E6EA9F5E}"/>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F1808F96-2009-B005-6E05-CE9DF51AC4F6}"/>
              </a:ext>
            </a:extLst>
          </p:cNvPr>
          <p:cNvSpPr txBox="1"/>
          <p:nvPr/>
        </p:nvSpPr>
        <p:spPr>
          <a:xfrm rot="5400000">
            <a:off x="10478907" y="2102524"/>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7765BCF1-D8C8-709C-A2B8-20640A811A5D}"/>
              </a:ext>
            </a:extLst>
          </p:cNvPr>
          <p:cNvSpPr txBox="1"/>
          <p:nvPr/>
        </p:nvSpPr>
        <p:spPr>
          <a:xfrm>
            <a:off x="7887479" y="3417376"/>
            <a:ext cx="6210280" cy="2958117"/>
          </a:xfrm>
          <a:prstGeom prst="rect">
            <a:avLst/>
          </a:prstGeom>
          <a:noFill/>
        </p:spPr>
        <p:txBody>
          <a:bodyPr wrap="square" rtlCol="0">
            <a:spAutoFit/>
          </a:bodyPr>
          <a:lstStyle/>
          <a:p>
            <a:pPr>
              <a:lnSpc>
                <a:spcPct val="150000"/>
              </a:lnSpc>
            </a:pPr>
            <a:r>
              <a:rPr lang="en-US" b="1" dirty="0">
                <a:solidFill>
                  <a:schemeClr val="tx2">
                    <a:lumMod val="20000"/>
                    <a:lumOff val="80000"/>
                  </a:schemeClr>
                </a:solidFill>
                <a:latin typeface="Fira Sans" panose="020B0503050000020004" pitchFamily="34" charset="0"/>
              </a:rPr>
              <a:t>2. </a:t>
            </a:r>
            <a:r>
              <a:rPr lang="vi-VN" b="1" dirty="0">
                <a:solidFill>
                  <a:schemeClr val="tx2">
                    <a:lumMod val="20000"/>
                    <a:lumOff val="80000"/>
                  </a:schemeClr>
                </a:solidFill>
                <a:latin typeface="Fira Sans" panose="020B0503050000020004" pitchFamily="34" charset="0"/>
              </a:rPr>
              <a:t>Kiểm tra dữ liệu trước khi thao tác</a:t>
            </a:r>
            <a:endParaRPr lang="en-US" b="1" dirty="0">
              <a:solidFill>
                <a:schemeClr val="tx2">
                  <a:lumMod val="20000"/>
                  <a:lumOff val="80000"/>
                </a:schemeClr>
              </a:solidFill>
              <a:latin typeface="Fira Sans" panose="020B0503050000020004" pitchFamily="34" charset="0"/>
            </a:endParaRPr>
          </a:p>
          <a:p>
            <a:pPr lvl="0">
              <a:lnSpc>
                <a:spcPct val="150000"/>
              </a:lnSpc>
            </a:pPr>
            <a:r>
              <a:rPr lang="en-US" dirty="0">
                <a:solidFill>
                  <a:schemeClr val="tx2">
                    <a:lumMod val="20000"/>
                    <a:lumOff val="80000"/>
                  </a:schemeClr>
                </a:solidFill>
                <a:latin typeface="Fira Sans" panose="020B0503050000020004" pitchFamily="34" charset="0"/>
              </a:rPr>
              <a:t>- </a:t>
            </a:r>
            <a:r>
              <a:rPr lang="vi-VN" dirty="0">
                <a:solidFill>
                  <a:schemeClr val="tx2">
                    <a:lumMod val="20000"/>
                    <a:lumOff val="80000"/>
                  </a:schemeClr>
                </a:solidFill>
                <a:latin typeface="Fira Sans" panose="020B0503050000020004" pitchFamily="34" charset="0"/>
              </a:rPr>
              <a:t>Dùng SELECT COUNT(*) kiểm tra sự tồn tại quan hệ bạn bè</a:t>
            </a:r>
          </a:p>
          <a:p>
            <a:pPr lvl="0">
              <a:lnSpc>
                <a:spcPct val="150000"/>
              </a:lnSpc>
            </a:pPr>
            <a:r>
              <a:rPr lang="en-US" dirty="0">
                <a:solidFill>
                  <a:schemeClr val="tx2">
                    <a:lumMod val="20000"/>
                    <a:lumOff val="80000"/>
                  </a:schemeClr>
                </a:solidFill>
                <a:latin typeface="Fira Sans" panose="020B0503050000020004" pitchFamily="34" charset="0"/>
              </a:rPr>
              <a:t>- </a:t>
            </a:r>
            <a:r>
              <a:rPr lang="vi-VN" dirty="0">
                <a:solidFill>
                  <a:schemeClr val="tx2">
                    <a:lumMod val="20000"/>
                    <a:lumOff val="80000"/>
                  </a:schemeClr>
                </a:solidFill>
                <a:latin typeface="Fira Sans" panose="020B0503050000020004" pitchFamily="34" charset="0"/>
              </a:rPr>
              <a:t>Nếu không tồn tại → dùng SIGNAL để báo lỗi</a:t>
            </a:r>
          </a:p>
          <a:p>
            <a:pPr lvl="1">
              <a:lnSpc>
                <a:spcPct val="150000"/>
              </a:lnSpc>
            </a:pPr>
            <a:r>
              <a:rPr lang="vi-VN" dirty="0">
                <a:solidFill>
                  <a:schemeClr val="tx2">
                    <a:lumMod val="20000"/>
                    <a:lumOff val="80000"/>
                  </a:schemeClr>
                </a:solidFill>
                <a:latin typeface="Fira Sans" panose="020B0503050000020004" pitchFamily="34" charset="0"/>
              </a:rPr>
              <a:t>signal sqlstate '45000'</a:t>
            </a:r>
          </a:p>
          <a:p>
            <a:pPr lvl="1">
              <a:lnSpc>
                <a:spcPct val="150000"/>
              </a:lnSpc>
            </a:pPr>
            <a:r>
              <a:rPr lang="vi-VN" dirty="0">
                <a:solidFill>
                  <a:schemeClr val="tx2">
                    <a:lumMod val="20000"/>
                    <a:lumOff val="80000"/>
                  </a:schemeClr>
                </a:solidFill>
                <a:latin typeface="Fira Sans" panose="020B0503050000020004" pitchFamily="34" charset="0"/>
              </a:rPr>
              <a:t>set message_text = 'Khong tim thay quan he ban be';</a:t>
            </a:r>
          </a:p>
          <a:p>
            <a:pPr>
              <a:lnSpc>
                <a:spcPct val="150000"/>
              </a:lnSpc>
            </a:pPr>
            <a:endParaRPr lang="vi-VN" dirty="0">
              <a:solidFill>
                <a:schemeClr val="tx2">
                  <a:lumMod val="20000"/>
                  <a:lumOff val="80000"/>
                </a:schemeClr>
              </a:solidFill>
              <a:latin typeface="Fira Sans" panose="020B0503050000020004" pitchFamily="34" charset="0"/>
            </a:endParaRPr>
          </a:p>
        </p:txBody>
      </p:sp>
    </p:spTree>
    <p:extLst>
      <p:ext uri="{BB962C8B-B14F-4D97-AF65-F5344CB8AC3E}">
        <p14:creationId xmlns:p14="http://schemas.microsoft.com/office/powerpoint/2010/main" val="130039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71FE0-DD5A-F1FA-00AC-AA3BA0C2209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AA6A06E-EC98-E48D-EB3C-054DF73DF426}"/>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0444A11B-DAAE-B1B2-6A9E-7C02AED0D2E8}"/>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6. Quản </a:t>
            </a:r>
            <a:r>
              <a:rPr lang="en-US" sz="2400" dirty="0" err="1">
                <a:solidFill>
                  <a:srgbClr val="3D5A97"/>
                </a:solidFill>
                <a:latin typeface="Anton" pitchFamily="34" charset="0"/>
                <a:ea typeface="Anton" pitchFamily="34" charset="-122"/>
                <a:cs typeface="Anton" pitchFamily="34" charset="-120"/>
              </a:rPr>
              <a:t>lý</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mối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quan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hệ</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bạn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bè</a:t>
            </a:r>
            <a:endParaRPr lang="en-US" sz="2400" dirty="0">
              <a:solidFill>
                <a:srgbClr val="3D5A97"/>
              </a:solidFill>
            </a:endParaRPr>
          </a:p>
        </p:txBody>
      </p:sp>
      <p:grpSp>
        <p:nvGrpSpPr>
          <p:cNvPr id="4" name="Group 3">
            <a:extLst>
              <a:ext uri="{FF2B5EF4-FFF2-40B4-BE49-F238E27FC236}">
                <a16:creationId xmlns:a16="http://schemas.microsoft.com/office/drawing/2014/main" id="{8373210A-5CC6-E3B8-0EBA-CD3B20528C35}"/>
              </a:ext>
            </a:extLst>
          </p:cNvPr>
          <p:cNvGrpSpPr/>
          <p:nvPr/>
        </p:nvGrpSpPr>
        <p:grpSpPr>
          <a:xfrm rot="5400000">
            <a:off x="1335152" y="2028938"/>
            <a:ext cx="4952940" cy="6171127"/>
            <a:chOff x="538394" y="1794986"/>
            <a:chExt cx="4196358" cy="1367909"/>
          </a:xfrm>
        </p:grpSpPr>
        <p:sp>
          <p:nvSpPr>
            <p:cNvPr id="5" name="Shape 1">
              <a:extLst>
                <a:ext uri="{FF2B5EF4-FFF2-40B4-BE49-F238E27FC236}">
                  <a16:creationId xmlns:a16="http://schemas.microsoft.com/office/drawing/2014/main" id="{285E86AE-EDD6-A62A-51BB-B59FE44BC25F}"/>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4D9CCE8B-7C65-B927-A283-3C41D35D2FD7}"/>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63963E2D-8864-7E51-C058-9D1B4F9E217A}"/>
              </a:ext>
            </a:extLst>
          </p:cNvPr>
          <p:cNvSpPr txBox="1"/>
          <p:nvPr/>
        </p:nvSpPr>
        <p:spPr>
          <a:xfrm rot="5400000">
            <a:off x="3534621" y="2091465"/>
            <a:ext cx="553998" cy="174705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6ECD255D-2901-B9F6-2D8F-C3126FDB5BA9}"/>
              </a:ext>
            </a:extLst>
          </p:cNvPr>
          <p:cNvSpPr txBox="1"/>
          <p:nvPr/>
        </p:nvSpPr>
        <p:spPr>
          <a:xfrm>
            <a:off x="880325" y="3417377"/>
            <a:ext cx="5736854" cy="2031325"/>
          </a:xfrm>
          <a:prstGeom prst="rect">
            <a:avLst/>
          </a:prstGeom>
          <a:noFill/>
        </p:spPr>
        <p:txBody>
          <a:bodyPr wrap="square" rtlCol="0">
            <a:spAutoFit/>
          </a:bodyPr>
          <a:lstStyle/>
          <a:p>
            <a:pPr marL="342900" lvl="0" indent="-342900">
              <a:lnSpc>
                <a:spcPct val="150000"/>
              </a:lnSpc>
              <a:buAutoNum type="arabicPeriod"/>
            </a:pPr>
            <a:r>
              <a:rPr lang="vi-VN" b="1" dirty="0">
                <a:solidFill>
                  <a:schemeClr val="tx2">
                    <a:lumMod val="20000"/>
                    <a:lumOff val="80000"/>
                  </a:schemeClr>
                </a:solidFill>
                <a:latin typeface="Fira Sans" panose="020B0503050000020004" pitchFamily="34" charset="0"/>
              </a:rPr>
              <a:t>Đảm bảo tính toàn vẹn dữ liệu (Data Consistency)</a:t>
            </a:r>
            <a:endParaRPr lang="en-US" b="1"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latin typeface="Fira Sans" panose="020B0503050000020004" pitchFamily="34" charset="0"/>
              </a:rPr>
              <a:t>Xử lý lỗi khi quan hệ bạn bè không tồn tại</a:t>
            </a:r>
            <a:endParaRPr lang="vi-VN"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latin typeface="Fira Sans" panose="020B0503050000020004" pitchFamily="34" charset="0"/>
              </a:rPr>
              <a:t>Rủi ro khi thực hiện nhiều thao tác cùng lúc</a:t>
            </a:r>
            <a:endParaRPr lang="vi-VN"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rPr>
              <a:t>Đồng thời nhiều người dùng (Concurrency)</a:t>
            </a:r>
            <a:endParaRPr lang="vi-VN" dirty="0">
              <a:solidFill>
                <a:schemeClr val="tx2">
                  <a:lumMod val="20000"/>
                  <a:lumOff val="80000"/>
                </a:schemeClr>
              </a:solidFill>
              <a:latin typeface="Fira Sans" panose="020B0503050000020004" pitchFamily="34" charset="0"/>
            </a:endParaRPr>
          </a:p>
          <a:p>
            <a:pPr marL="342900" lvl="0" indent="-342900">
              <a:buAutoNum type="arabicPeriod"/>
            </a:pPr>
            <a:endParaRPr lang="vi-VN" dirty="0">
              <a:solidFill>
                <a:schemeClr val="tx2">
                  <a:lumMod val="20000"/>
                  <a:lumOff val="80000"/>
                </a:schemeClr>
              </a:solidFill>
              <a:latin typeface="Fira Sans" panose="020B0503050000020004" pitchFamily="34" charset="0"/>
            </a:endParaRPr>
          </a:p>
        </p:txBody>
      </p:sp>
      <p:grpSp>
        <p:nvGrpSpPr>
          <p:cNvPr id="23" name="Group 22">
            <a:extLst>
              <a:ext uri="{FF2B5EF4-FFF2-40B4-BE49-F238E27FC236}">
                <a16:creationId xmlns:a16="http://schemas.microsoft.com/office/drawing/2014/main" id="{A237C79B-9989-F785-95E3-AFE585934069}"/>
              </a:ext>
            </a:extLst>
          </p:cNvPr>
          <p:cNvGrpSpPr/>
          <p:nvPr/>
        </p:nvGrpSpPr>
        <p:grpSpPr>
          <a:xfrm rot="5400000">
            <a:off x="8419439" y="1912651"/>
            <a:ext cx="4952940" cy="6403700"/>
            <a:chOff x="538394" y="1794986"/>
            <a:chExt cx="4196358" cy="1367909"/>
          </a:xfrm>
        </p:grpSpPr>
        <p:sp>
          <p:nvSpPr>
            <p:cNvPr id="24" name="Shape 1">
              <a:extLst>
                <a:ext uri="{FF2B5EF4-FFF2-40B4-BE49-F238E27FC236}">
                  <a16:creationId xmlns:a16="http://schemas.microsoft.com/office/drawing/2014/main" id="{061DDE03-7519-ED6F-A141-14D3A1538155}"/>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5EFCFDC4-240D-991C-194F-E06AAA8F1BEB}"/>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BA510EE8-1237-6433-9A1E-CB182F719CB7}"/>
              </a:ext>
            </a:extLst>
          </p:cNvPr>
          <p:cNvSpPr txBox="1"/>
          <p:nvPr/>
        </p:nvSpPr>
        <p:spPr>
          <a:xfrm rot="5400000">
            <a:off x="10478907" y="2102524"/>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3564B1B3-4DDF-55CA-88DE-DCFDEC8D9E3A}"/>
              </a:ext>
            </a:extLst>
          </p:cNvPr>
          <p:cNvSpPr txBox="1"/>
          <p:nvPr/>
        </p:nvSpPr>
        <p:spPr>
          <a:xfrm>
            <a:off x="7887479" y="3417376"/>
            <a:ext cx="6210280" cy="3650615"/>
          </a:xfrm>
          <a:prstGeom prst="rect">
            <a:avLst/>
          </a:prstGeom>
          <a:noFill/>
        </p:spPr>
        <p:txBody>
          <a:bodyPr wrap="square" rtlCol="0">
            <a:spAutoFit/>
          </a:bodyPr>
          <a:lstStyle/>
          <a:p>
            <a:pPr>
              <a:lnSpc>
                <a:spcPct val="150000"/>
              </a:lnSpc>
            </a:pPr>
            <a:r>
              <a:rPr lang="en-US" b="1" dirty="0">
                <a:solidFill>
                  <a:schemeClr val="tx2">
                    <a:lumMod val="20000"/>
                    <a:lumOff val="80000"/>
                  </a:schemeClr>
                </a:solidFill>
                <a:latin typeface="Fira Sans" panose="020B0503050000020004" pitchFamily="34" charset="0"/>
              </a:rPr>
              <a:t>3. </a:t>
            </a:r>
            <a:r>
              <a:rPr lang="vi-VN" b="1" dirty="0">
                <a:solidFill>
                  <a:schemeClr val="tx2">
                    <a:lumMod val="20000"/>
                    <a:lumOff val="80000"/>
                  </a:schemeClr>
                </a:solidFill>
                <a:latin typeface="Fira Sans" panose="020B0503050000020004" pitchFamily="34" charset="0"/>
              </a:rPr>
              <a:t>Cập nhật / xóa cả hai chiều dữ liệu</a:t>
            </a:r>
            <a:endParaRPr lang="en-US" b="1" dirty="0">
              <a:solidFill>
                <a:schemeClr val="tx2">
                  <a:lumMod val="20000"/>
                  <a:lumOff val="80000"/>
                </a:schemeClr>
              </a:solidFill>
              <a:latin typeface="Fira Sans" panose="020B0503050000020004" pitchFamily="34" charset="0"/>
            </a:endParaRPr>
          </a:p>
          <a:p>
            <a:pPr lvl="0"/>
            <a:r>
              <a:rPr lang="vi-VN" dirty="0">
                <a:solidFill>
                  <a:schemeClr val="tx2">
                    <a:lumMod val="20000"/>
                    <a:lumOff val="80000"/>
                  </a:schemeClr>
                </a:solidFill>
                <a:latin typeface="Fira Sans" panose="020B0503050000020004" pitchFamily="34" charset="0"/>
              </a:rPr>
              <a:t>Luôn xử lý </a:t>
            </a:r>
            <a:r>
              <a:rPr lang="vi-VN" b="1" dirty="0">
                <a:solidFill>
                  <a:schemeClr val="tx2">
                    <a:lumMod val="20000"/>
                    <a:lumOff val="80000"/>
                  </a:schemeClr>
                </a:solidFill>
                <a:latin typeface="Fira Sans" panose="020B0503050000020004" pitchFamily="34" charset="0"/>
              </a:rPr>
              <a:t>2 dòng dữ liệu</a:t>
            </a:r>
            <a:r>
              <a:rPr lang="vi-VN" dirty="0">
                <a:solidFill>
                  <a:schemeClr val="tx2">
                    <a:lumMod val="20000"/>
                    <a:lumOff val="80000"/>
                  </a:schemeClr>
                </a:solidFill>
                <a:latin typeface="Fira Sans" panose="020B0503050000020004" pitchFamily="34" charset="0"/>
              </a:rPr>
              <a:t> đại diện cho quan hệ bạn bè</a:t>
            </a:r>
          </a:p>
          <a:p>
            <a:r>
              <a:rPr lang="vi-VN" dirty="0">
                <a:solidFill>
                  <a:schemeClr val="tx2">
                    <a:lumMod val="20000"/>
                    <a:lumOff val="80000"/>
                  </a:schemeClr>
                </a:solidFill>
                <a:latin typeface="Fira Sans" panose="020B0503050000020004" pitchFamily="34" charset="0"/>
              </a:rPr>
              <a:t>-- Cập nhật</a:t>
            </a:r>
          </a:p>
          <a:p>
            <a:r>
              <a:rPr lang="vi-VN" dirty="0">
                <a:solidFill>
                  <a:schemeClr val="tx2">
                    <a:lumMod val="20000"/>
                    <a:lumOff val="80000"/>
                  </a:schemeClr>
                </a:solidFill>
                <a:latin typeface="Fira Sans" panose="020B0503050000020004" pitchFamily="34" charset="0"/>
              </a:rPr>
              <a:t>update friends</a:t>
            </a:r>
          </a:p>
          <a:p>
            <a:r>
              <a:rPr lang="vi-VN" dirty="0">
                <a:solidFill>
                  <a:schemeClr val="tx2">
                    <a:lumMod val="20000"/>
                    <a:lumOff val="80000"/>
                  </a:schemeClr>
                </a:solidFill>
                <a:latin typeface="Fira Sans" panose="020B0503050000020004" pitchFamily="34" charset="0"/>
              </a:rPr>
              <a:t>set status = p_new_status</a:t>
            </a:r>
          </a:p>
          <a:p>
            <a:r>
              <a:rPr lang="vi-VN" dirty="0">
                <a:solidFill>
                  <a:schemeClr val="tx2">
                    <a:lumMod val="20000"/>
                    <a:lumOff val="80000"/>
                  </a:schemeClr>
                </a:solidFill>
                <a:latin typeface="Fira Sans" panose="020B0503050000020004" pitchFamily="34" charset="0"/>
              </a:rPr>
              <a:t>where (user_id = p_user_id and friend_id = p_friend_id)</a:t>
            </a:r>
          </a:p>
          <a:p>
            <a:r>
              <a:rPr lang="vi-VN" dirty="0">
                <a:solidFill>
                  <a:schemeClr val="tx2">
                    <a:lumMod val="20000"/>
                    <a:lumOff val="80000"/>
                  </a:schemeClr>
                </a:solidFill>
                <a:latin typeface="Fira Sans" panose="020B0503050000020004" pitchFamily="34" charset="0"/>
              </a:rPr>
              <a:t>   or (user_id = p_friend_id and friend_id = p_user_id);</a:t>
            </a:r>
          </a:p>
          <a:p>
            <a:r>
              <a:rPr lang="vi-VN" dirty="0">
                <a:solidFill>
                  <a:schemeClr val="tx2">
                    <a:lumMod val="20000"/>
                    <a:lumOff val="80000"/>
                  </a:schemeClr>
                </a:solidFill>
                <a:latin typeface="Fira Sans" panose="020B0503050000020004" pitchFamily="34" charset="0"/>
              </a:rPr>
              <a:t>-- Xóa</a:t>
            </a:r>
          </a:p>
          <a:p>
            <a:r>
              <a:rPr lang="vi-VN" dirty="0">
                <a:solidFill>
                  <a:schemeClr val="tx2">
                    <a:lumMod val="20000"/>
                    <a:lumOff val="80000"/>
                  </a:schemeClr>
                </a:solidFill>
                <a:latin typeface="Fira Sans" panose="020B0503050000020004" pitchFamily="34" charset="0"/>
              </a:rPr>
              <a:t>delete from friends</a:t>
            </a:r>
          </a:p>
          <a:p>
            <a:r>
              <a:rPr lang="vi-VN" dirty="0">
                <a:solidFill>
                  <a:schemeClr val="tx2">
                    <a:lumMod val="20000"/>
                    <a:lumOff val="80000"/>
                  </a:schemeClr>
                </a:solidFill>
                <a:latin typeface="Fira Sans" panose="020B0503050000020004" pitchFamily="34" charset="0"/>
              </a:rPr>
              <a:t>where (user_id = p_user_id and friend_id = p_friend_id)</a:t>
            </a:r>
          </a:p>
          <a:p>
            <a:r>
              <a:rPr lang="vi-VN" dirty="0">
                <a:solidFill>
                  <a:schemeClr val="tx2">
                    <a:lumMod val="20000"/>
                    <a:lumOff val="80000"/>
                  </a:schemeClr>
                </a:solidFill>
                <a:latin typeface="Fira Sans" panose="020B0503050000020004" pitchFamily="34" charset="0"/>
              </a:rPr>
              <a:t>   or (user_id = p_friend_id and friend_id = p_user_id);</a:t>
            </a:r>
          </a:p>
          <a:p>
            <a:pPr>
              <a:lnSpc>
                <a:spcPct val="150000"/>
              </a:lnSpc>
            </a:pPr>
            <a:endParaRPr lang="vi-VN" dirty="0">
              <a:solidFill>
                <a:schemeClr val="tx2">
                  <a:lumMod val="20000"/>
                  <a:lumOff val="80000"/>
                </a:schemeClr>
              </a:solidFill>
              <a:latin typeface="Fira Sans" panose="020B0503050000020004" pitchFamily="34" charset="0"/>
            </a:endParaRPr>
          </a:p>
        </p:txBody>
      </p:sp>
    </p:spTree>
    <p:extLst>
      <p:ext uri="{BB962C8B-B14F-4D97-AF65-F5344CB8AC3E}">
        <p14:creationId xmlns:p14="http://schemas.microsoft.com/office/powerpoint/2010/main" val="1481442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E01E7-ACD0-AE69-FC48-A8BE14EAA09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8E659A-51FA-0AE5-8DF6-F4B8252BE8D4}"/>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7456EE5D-C1F6-9366-2BBB-250C5794EB80}"/>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6. Quản </a:t>
            </a:r>
            <a:r>
              <a:rPr lang="en-US" sz="2400" dirty="0" err="1">
                <a:solidFill>
                  <a:srgbClr val="3D5A97"/>
                </a:solidFill>
                <a:latin typeface="Anton" pitchFamily="34" charset="0"/>
                <a:ea typeface="Anton" pitchFamily="34" charset="-122"/>
                <a:cs typeface="Anton" pitchFamily="34" charset="-120"/>
              </a:rPr>
              <a:t>lý</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mối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quan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hệ</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bạn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bè</a:t>
            </a:r>
            <a:endParaRPr lang="en-US" sz="2400" dirty="0">
              <a:solidFill>
                <a:srgbClr val="3D5A97"/>
              </a:solidFill>
            </a:endParaRPr>
          </a:p>
        </p:txBody>
      </p:sp>
      <p:grpSp>
        <p:nvGrpSpPr>
          <p:cNvPr id="4" name="Group 3">
            <a:extLst>
              <a:ext uri="{FF2B5EF4-FFF2-40B4-BE49-F238E27FC236}">
                <a16:creationId xmlns:a16="http://schemas.microsoft.com/office/drawing/2014/main" id="{83101DA9-C656-C8CE-F435-17E11E7FE21D}"/>
              </a:ext>
            </a:extLst>
          </p:cNvPr>
          <p:cNvGrpSpPr/>
          <p:nvPr/>
        </p:nvGrpSpPr>
        <p:grpSpPr>
          <a:xfrm rot="5400000">
            <a:off x="1335152" y="2028938"/>
            <a:ext cx="4952940" cy="6171127"/>
            <a:chOff x="538394" y="1794986"/>
            <a:chExt cx="4196358" cy="1367909"/>
          </a:xfrm>
        </p:grpSpPr>
        <p:sp>
          <p:nvSpPr>
            <p:cNvPr id="5" name="Shape 1">
              <a:extLst>
                <a:ext uri="{FF2B5EF4-FFF2-40B4-BE49-F238E27FC236}">
                  <a16:creationId xmlns:a16="http://schemas.microsoft.com/office/drawing/2014/main" id="{859868E9-2CEC-5E32-D09F-8819B6603799}"/>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04F2E2A2-4893-5EE9-718F-D75BD3FEE325}"/>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F4AE3DD6-C6B6-CD85-907C-B67E98A0C795}"/>
              </a:ext>
            </a:extLst>
          </p:cNvPr>
          <p:cNvSpPr txBox="1"/>
          <p:nvPr/>
        </p:nvSpPr>
        <p:spPr>
          <a:xfrm rot="5400000">
            <a:off x="3534621" y="2091465"/>
            <a:ext cx="553998" cy="174705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90C5881F-6DC4-60E4-E25B-FA8745486480}"/>
              </a:ext>
            </a:extLst>
          </p:cNvPr>
          <p:cNvSpPr txBox="1"/>
          <p:nvPr/>
        </p:nvSpPr>
        <p:spPr>
          <a:xfrm>
            <a:off x="880325" y="3417377"/>
            <a:ext cx="5736854" cy="2031325"/>
          </a:xfrm>
          <a:prstGeom prst="rect">
            <a:avLst/>
          </a:prstGeom>
          <a:noFill/>
        </p:spPr>
        <p:txBody>
          <a:bodyPr wrap="square" rtlCol="0">
            <a:spAutoFit/>
          </a:bodyPr>
          <a:lstStyle/>
          <a:p>
            <a:pPr marL="342900" lvl="0" indent="-342900">
              <a:lnSpc>
                <a:spcPct val="150000"/>
              </a:lnSpc>
              <a:buAutoNum type="arabicPeriod"/>
            </a:pPr>
            <a:r>
              <a:rPr lang="vi-VN" b="1" dirty="0">
                <a:solidFill>
                  <a:schemeClr val="tx2">
                    <a:lumMod val="20000"/>
                    <a:lumOff val="80000"/>
                  </a:schemeClr>
                </a:solidFill>
                <a:latin typeface="Fira Sans" panose="020B0503050000020004" pitchFamily="34" charset="0"/>
              </a:rPr>
              <a:t>Đảm bảo tính toàn vẹn dữ liệu (Data Consistency)</a:t>
            </a:r>
            <a:endParaRPr lang="en-US" b="1"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latin typeface="Fira Sans" panose="020B0503050000020004" pitchFamily="34" charset="0"/>
              </a:rPr>
              <a:t>Xử lý lỗi khi quan hệ bạn bè không tồn tại</a:t>
            </a:r>
            <a:endParaRPr lang="vi-VN"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latin typeface="Fira Sans" panose="020B0503050000020004" pitchFamily="34" charset="0"/>
              </a:rPr>
              <a:t>Rủi ro khi thực hiện nhiều thao tác cùng lúc</a:t>
            </a:r>
            <a:endParaRPr lang="vi-VN" dirty="0">
              <a:solidFill>
                <a:schemeClr val="tx2">
                  <a:lumMod val="20000"/>
                  <a:lumOff val="80000"/>
                </a:schemeClr>
              </a:solidFill>
              <a:latin typeface="Fira Sans" panose="020B0503050000020004" pitchFamily="34" charset="0"/>
            </a:endParaRPr>
          </a:p>
          <a:p>
            <a:pPr marL="342900" indent="-342900">
              <a:lnSpc>
                <a:spcPct val="150000"/>
              </a:lnSpc>
              <a:buFontTx/>
              <a:buAutoNum type="arabicPeriod"/>
            </a:pPr>
            <a:r>
              <a:rPr lang="vi-VN" b="1" dirty="0">
                <a:solidFill>
                  <a:schemeClr val="tx2">
                    <a:lumMod val="20000"/>
                    <a:lumOff val="80000"/>
                  </a:schemeClr>
                </a:solidFill>
              </a:rPr>
              <a:t>Đồng thời nhiều người dùng (Concurrency)</a:t>
            </a:r>
            <a:endParaRPr lang="vi-VN" dirty="0">
              <a:solidFill>
                <a:schemeClr val="tx2">
                  <a:lumMod val="20000"/>
                  <a:lumOff val="80000"/>
                </a:schemeClr>
              </a:solidFill>
              <a:latin typeface="Fira Sans" panose="020B0503050000020004" pitchFamily="34" charset="0"/>
            </a:endParaRPr>
          </a:p>
          <a:p>
            <a:pPr marL="342900" lvl="0" indent="-342900">
              <a:buAutoNum type="arabicPeriod"/>
            </a:pPr>
            <a:endParaRPr lang="vi-VN" dirty="0">
              <a:solidFill>
                <a:schemeClr val="tx2">
                  <a:lumMod val="20000"/>
                  <a:lumOff val="80000"/>
                </a:schemeClr>
              </a:solidFill>
              <a:latin typeface="Fira Sans" panose="020B0503050000020004" pitchFamily="34" charset="0"/>
            </a:endParaRPr>
          </a:p>
        </p:txBody>
      </p:sp>
      <p:grpSp>
        <p:nvGrpSpPr>
          <p:cNvPr id="23" name="Group 22">
            <a:extLst>
              <a:ext uri="{FF2B5EF4-FFF2-40B4-BE49-F238E27FC236}">
                <a16:creationId xmlns:a16="http://schemas.microsoft.com/office/drawing/2014/main" id="{65E26D7F-4D4A-F253-412A-04CA2D5BC600}"/>
              </a:ext>
            </a:extLst>
          </p:cNvPr>
          <p:cNvGrpSpPr/>
          <p:nvPr/>
        </p:nvGrpSpPr>
        <p:grpSpPr>
          <a:xfrm rot="5400000">
            <a:off x="8419439" y="1912651"/>
            <a:ext cx="4952940" cy="6403700"/>
            <a:chOff x="538394" y="1794986"/>
            <a:chExt cx="4196358" cy="1367909"/>
          </a:xfrm>
        </p:grpSpPr>
        <p:sp>
          <p:nvSpPr>
            <p:cNvPr id="24" name="Shape 1">
              <a:extLst>
                <a:ext uri="{FF2B5EF4-FFF2-40B4-BE49-F238E27FC236}">
                  <a16:creationId xmlns:a16="http://schemas.microsoft.com/office/drawing/2014/main" id="{67C6175B-6FDA-7A2A-8436-17C9F53720F2}"/>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A04CC2C8-83E4-7C50-B039-0A2C0E5B32AF}"/>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5707B456-CEB4-C376-49CF-26A13D21BE0D}"/>
              </a:ext>
            </a:extLst>
          </p:cNvPr>
          <p:cNvSpPr txBox="1"/>
          <p:nvPr/>
        </p:nvSpPr>
        <p:spPr>
          <a:xfrm rot="5400000">
            <a:off x="10478907" y="2102524"/>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73B0AFC5-A003-99D9-AB97-9317FC450797}"/>
              </a:ext>
            </a:extLst>
          </p:cNvPr>
          <p:cNvSpPr txBox="1"/>
          <p:nvPr/>
        </p:nvSpPr>
        <p:spPr>
          <a:xfrm>
            <a:off x="7887479" y="3417376"/>
            <a:ext cx="6210280" cy="2958117"/>
          </a:xfrm>
          <a:prstGeom prst="rect">
            <a:avLst/>
          </a:prstGeom>
          <a:noFill/>
        </p:spPr>
        <p:txBody>
          <a:bodyPr wrap="square" rtlCol="0">
            <a:spAutoFit/>
          </a:bodyPr>
          <a:lstStyle/>
          <a:p>
            <a:pPr>
              <a:lnSpc>
                <a:spcPct val="150000"/>
              </a:lnSpc>
            </a:pPr>
            <a:r>
              <a:rPr lang="en-US" b="1" dirty="0">
                <a:solidFill>
                  <a:schemeClr val="tx2">
                    <a:lumMod val="20000"/>
                    <a:lumOff val="80000"/>
                  </a:schemeClr>
                </a:solidFill>
                <a:latin typeface="Fira Sans" panose="020B0503050000020004" pitchFamily="34" charset="0"/>
              </a:rPr>
              <a:t>4. </a:t>
            </a:r>
            <a:r>
              <a:rPr lang="vi-VN" b="1" dirty="0">
                <a:solidFill>
                  <a:schemeClr val="tx2">
                    <a:lumMod val="20000"/>
                    <a:lumOff val="80000"/>
                  </a:schemeClr>
                </a:solidFill>
                <a:latin typeface="Fira Sans" panose="020B0503050000020004" pitchFamily="34" charset="0"/>
              </a:rPr>
              <a:t>Hạn chế xung đột đồng thời (Concurrency Control)</a:t>
            </a:r>
            <a:endParaRPr lang="en-US" b="1" dirty="0">
              <a:solidFill>
                <a:schemeClr val="tx2">
                  <a:lumMod val="20000"/>
                  <a:lumOff val="80000"/>
                </a:schemeClr>
              </a:solidFill>
              <a:latin typeface="Fira Sans" panose="020B0503050000020004" pitchFamily="34" charset="0"/>
            </a:endParaRPr>
          </a:p>
          <a:p>
            <a:pPr lvl="0">
              <a:lnSpc>
                <a:spcPct val="150000"/>
              </a:lnSpc>
            </a:pPr>
            <a:r>
              <a:rPr lang="vi-VN" dirty="0">
                <a:solidFill>
                  <a:schemeClr val="tx2">
                    <a:lumMod val="20000"/>
                    <a:lumOff val="80000"/>
                  </a:schemeClr>
                </a:solidFill>
                <a:latin typeface="Fira Sans" panose="020B0503050000020004" pitchFamily="34" charset="0"/>
              </a:rPr>
              <a:t>Dùng </a:t>
            </a:r>
            <a:r>
              <a:rPr lang="vi-VN" b="1" dirty="0">
                <a:solidFill>
                  <a:schemeClr val="tx2">
                    <a:lumMod val="20000"/>
                    <a:lumOff val="80000"/>
                  </a:schemeClr>
                </a:solidFill>
                <a:latin typeface="Fira Sans" panose="020B0503050000020004" pitchFamily="34" charset="0"/>
              </a:rPr>
              <a:t>transaction ngắn</a:t>
            </a:r>
            <a:endParaRPr lang="vi-VN" dirty="0">
              <a:solidFill>
                <a:schemeClr val="tx2">
                  <a:lumMod val="20000"/>
                  <a:lumOff val="80000"/>
                </a:schemeClr>
              </a:solidFill>
              <a:latin typeface="Fira Sans" panose="020B0503050000020004" pitchFamily="34" charset="0"/>
            </a:endParaRPr>
          </a:p>
          <a:p>
            <a:pPr lvl="0">
              <a:lnSpc>
                <a:spcPct val="150000"/>
              </a:lnSpc>
            </a:pPr>
            <a:r>
              <a:rPr lang="vi-VN" dirty="0">
                <a:solidFill>
                  <a:schemeClr val="tx2">
                    <a:lumMod val="20000"/>
                    <a:lumOff val="80000"/>
                  </a:schemeClr>
                </a:solidFill>
                <a:latin typeface="Fira Sans" panose="020B0503050000020004" pitchFamily="34" charset="0"/>
              </a:rPr>
              <a:t>Chỉ thao tác đúng những dòng cần thiết</a:t>
            </a:r>
          </a:p>
          <a:p>
            <a:pPr lvl="0">
              <a:lnSpc>
                <a:spcPct val="150000"/>
              </a:lnSpc>
            </a:pPr>
            <a:r>
              <a:rPr lang="vi-VN" dirty="0">
                <a:solidFill>
                  <a:schemeClr val="tx2">
                    <a:lumMod val="20000"/>
                    <a:lumOff val="80000"/>
                  </a:schemeClr>
                </a:solidFill>
                <a:latin typeface="Fira Sans" panose="020B0503050000020004" pitchFamily="34" charset="0"/>
              </a:rPr>
              <a:t>Có thể:</a:t>
            </a:r>
          </a:p>
          <a:p>
            <a:pPr lvl="1">
              <a:lnSpc>
                <a:spcPct val="150000"/>
              </a:lnSpc>
            </a:pPr>
            <a:r>
              <a:rPr lang="vi-VN" dirty="0">
                <a:solidFill>
                  <a:schemeClr val="tx2">
                    <a:lumMod val="20000"/>
                    <a:lumOff val="80000"/>
                  </a:schemeClr>
                </a:solidFill>
                <a:latin typeface="Fira Sans" panose="020B0503050000020004" pitchFamily="34" charset="0"/>
              </a:rPr>
              <a:t> Thêm khóa duy nhất (user_id, friend_id)</a:t>
            </a:r>
          </a:p>
          <a:p>
            <a:pPr lvl="1">
              <a:lnSpc>
                <a:spcPct val="150000"/>
              </a:lnSpc>
            </a:pPr>
            <a:r>
              <a:rPr lang="vi-VN" dirty="0">
                <a:solidFill>
                  <a:schemeClr val="tx2">
                    <a:lumMod val="20000"/>
                    <a:lumOff val="80000"/>
                  </a:schemeClr>
                </a:solidFill>
                <a:latin typeface="Fira Sans" panose="020B0503050000020004" pitchFamily="34" charset="0"/>
              </a:rPr>
              <a:t> Dùng SELECT ... FOR UPDATE nếu hệ thống lớn</a:t>
            </a:r>
          </a:p>
          <a:p>
            <a:pPr>
              <a:lnSpc>
                <a:spcPct val="150000"/>
              </a:lnSpc>
            </a:pPr>
            <a:endParaRPr lang="vi-VN" dirty="0">
              <a:solidFill>
                <a:schemeClr val="tx2">
                  <a:lumMod val="20000"/>
                  <a:lumOff val="80000"/>
                </a:schemeClr>
              </a:solidFill>
              <a:latin typeface="Fira Sans" panose="020B0503050000020004" pitchFamily="34" charset="0"/>
            </a:endParaRPr>
          </a:p>
        </p:txBody>
      </p:sp>
    </p:spTree>
    <p:extLst>
      <p:ext uri="{BB962C8B-B14F-4D97-AF65-F5344CB8AC3E}">
        <p14:creationId xmlns:p14="http://schemas.microsoft.com/office/powerpoint/2010/main" val="601487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9F456-4EE7-D1C5-35EE-3C9B138E58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ABCFAF9-AF9F-1AD6-99E8-9639634823C2}"/>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82F339A1-73A4-2BBA-A7CE-844DB34CEBB0}"/>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7. Quản </a:t>
            </a:r>
            <a:r>
              <a:rPr lang="en-US" sz="2400" dirty="0" err="1">
                <a:solidFill>
                  <a:srgbClr val="3D5A97"/>
                </a:solidFill>
                <a:latin typeface="Anton" pitchFamily="34" charset="0"/>
                <a:ea typeface="Anton" pitchFamily="34" charset="-122"/>
                <a:cs typeface="Anton" pitchFamily="34" charset="-120"/>
              </a:rPr>
              <a:t>lý</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xoá</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viết</a:t>
            </a:r>
            <a:endParaRPr lang="en-US" sz="2400" dirty="0">
              <a:solidFill>
                <a:srgbClr val="3D5A97"/>
              </a:solidFill>
            </a:endParaRPr>
          </a:p>
        </p:txBody>
      </p:sp>
      <p:grpSp>
        <p:nvGrpSpPr>
          <p:cNvPr id="4" name="Group 3">
            <a:extLst>
              <a:ext uri="{FF2B5EF4-FFF2-40B4-BE49-F238E27FC236}">
                <a16:creationId xmlns:a16="http://schemas.microsoft.com/office/drawing/2014/main" id="{78E5B566-BF36-81BD-A232-F87599454A0C}"/>
              </a:ext>
            </a:extLst>
          </p:cNvPr>
          <p:cNvGrpSpPr/>
          <p:nvPr/>
        </p:nvGrpSpPr>
        <p:grpSpPr>
          <a:xfrm rot="5400000">
            <a:off x="1335152" y="2028938"/>
            <a:ext cx="4952940" cy="6171127"/>
            <a:chOff x="538394" y="1794986"/>
            <a:chExt cx="4196358" cy="1367909"/>
          </a:xfrm>
        </p:grpSpPr>
        <p:sp>
          <p:nvSpPr>
            <p:cNvPr id="5" name="Shape 1">
              <a:extLst>
                <a:ext uri="{FF2B5EF4-FFF2-40B4-BE49-F238E27FC236}">
                  <a16:creationId xmlns:a16="http://schemas.microsoft.com/office/drawing/2014/main" id="{9D8BC048-6953-EA6D-7C71-BE9C40AE5958}"/>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76DD44F8-00C0-FF1A-29C5-FAE154836E0A}"/>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5679C26B-0358-A25F-4796-E56BFF266D7F}"/>
              </a:ext>
            </a:extLst>
          </p:cNvPr>
          <p:cNvSpPr txBox="1"/>
          <p:nvPr/>
        </p:nvSpPr>
        <p:spPr>
          <a:xfrm rot="5400000">
            <a:off x="3534621" y="2091465"/>
            <a:ext cx="553998" cy="174705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0BF32697-F998-4E7D-F830-DE5FD66CCE7B}"/>
              </a:ext>
            </a:extLst>
          </p:cNvPr>
          <p:cNvSpPr txBox="1"/>
          <p:nvPr/>
        </p:nvSpPr>
        <p:spPr>
          <a:xfrm>
            <a:off x="880325" y="3417377"/>
            <a:ext cx="5736854" cy="4204613"/>
          </a:xfrm>
          <a:prstGeom prst="rect">
            <a:avLst/>
          </a:prstGeom>
          <a:noFill/>
        </p:spPr>
        <p:txBody>
          <a:bodyPr wrap="square" rtlCol="0">
            <a:spAutoFit/>
          </a:bodyPr>
          <a:lstStyle/>
          <a:p>
            <a:pPr>
              <a:lnSpc>
                <a:spcPct val="150000"/>
              </a:lnSpc>
            </a:pPr>
            <a:r>
              <a:rPr lang="en-US" b="1" dirty="0">
                <a:solidFill>
                  <a:schemeClr val="tx2">
                    <a:lumMod val="20000"/>
                    <a:lumOff val="80000"/>
                  </a:schemeClr>
                </a:solidFill>
                <a:latin typeface="Fira Sans" panose="020B0503050000020004" pitchFamily="34" charset="0"/>
              </a:rPr>
              <a:t>1. </a:t>
            </a:r>
            <a:r>
              <a:rPr lang="vi-VN" b="1" dirty="0">
                <a:solidFill>
                  <a:schemeClr val="tx2">
                    <a:lumMod val="20000"/>
                    <a:lumOff val="80000"/>
                  </a:schemeClr>
                </a:solidFill>
                <a:latin typeface="Fira Sans" panose="020B0503050000020004" pitchFamily="34" charset="0"/>
              </a:rPr>
              <a:t>Kiểm soát quyền xóa</a:t>
            </a: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 Ngăn người dùng xóa bài viết của người khác</a:t>
            </a: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 Chỉ cho phép chủ sở hữu bài viết thực hiện xóa</a:t>
            </a:r>
          </a:p>
          <a:p>
            <a:pPr>
              <a:lnSpc>
                <a:spcPct val="150000"/>
              </a:lnSpc>
            </a:pPr>
            <a:r>
              <a:rPr lang="en-US" b="1" dirty="0">
                <a:solidFill>
                  <a:schemeClr val="tx2">
                    <a:lumMod val="20000"/>
                    <a:lumOff val="80000"/>
                  </a:schemeClr>
                </a:solidFill>
                <a:latin typeface="Fira Sans" panose="020B0503050000020004" pitchFamily="34" charset="0"/>
              </a:rPr>
              <a:t>2. </a:t>
            </a:r>
            <a:r>
              <a:rPr lang="vi-VN" b="1" dirty="0">
                <a:solidFill>
                  <a:schemeClr val="tx2">
                    <a:lumMod val="20000"/>
                    <a:lumOff val="80000"/>
                  </a:schemeClr>
                </a:solidFill>
                <a:latin typeface="Fira Sans" panose="020B0503050000020004" pitchFamily="34" charset="0"/>
              </a:rPr>
              <a:t>Toàn vẹn dữ liệu liên quan</a:t>
            </a: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 Bài viết liên kết với Likes và Comments</a:t>
            </a: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 Tránh phát sinh dữ liệu mồ côi sau khi xóa</a:t>
            </a:r>
          </a:p>
          <a:p>
            <a:pPr>
              <a:lnSpc>
                <a:spcPct val="150000"/>
              </a:lnSpc>
            </a:pPr>
            <a:r>
              <a:rPr lang="en-US" b="1" dirty="0">
                <a:solidFill>
                  <a:schemeClr val="tx2">
                    <a:lumMod val="20000"/>
                    <a:lumOff val="80000"/>
                  </a:schemeClr>
                </a:solidFill>
                <a:latin typeface="Fira Sans" panose="020B0503050000020004" pitchFamily="34" charset="0"/>
              </a:rPr>
              <a:t>3. </a:t>
            </a:r>
            <a:r>
              <a:rPr lang="vi-VN" b="1" dirty="0">
                <a:solidFill>
                  <a:schemeClr val="tx2">
                    <a:lumMod val="20000"/>
                    <a:lumOff val="80000"/>
                  </a:schemeClr>
                </a:solidFill>
                <a:latin typeface="Fira Sans" panose="020B0503050000020004" pitchFamily="34" charset="0"/>
              </a:rPr>
              <a:t>Nguy cơ xóa không hoàn chỉnh</a:t>
            </a: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 Lỗi giữa chừng có thể gây xóa một phần dữ liệu</a:t>
            </a: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 Cần đảm bảo thao tác xóa là atomic</a:t>
            </a:r>
          </a:p>
          <a:p>
            <a:pPr lvl="0">
              <a:lnSpc>
                <a:spcPct val="150000"/>
              </a:lnSpc>
            </a:pPr>
            <a:endParaRPr lang="vi-VN" dirty="0">
              <a:solidFill>
                <a:schemeClr val="tx2">
                  <a:lumMod val="20000"/>
                  <a:lumOff val="80000"/>
                </a:schemeClr>
              </a:solidFill>
              <a:latin typeface="Fira Sans" panose="020B0503050000020004" pitchFamily="34" charset="0"/>
            </a:endParaRPr>
          </a:p>
        </p:txBody>
      </p:sp>
      <p:grpSp>
        <p:nvGrpSpPr>
          <p:cNvPr id="23" name="Group 22">
            <a:extLst>
              <a:ext uri="{FF2B5EF4-FFF2-40B4-BE49-F238E27FC236}">
                <a16:creationId xmlns:a16="http://schemas.microsoft.com/office/drawing/2014/main" id="{546A8910-D108-79F6-EDA7-5378107EF35D}"/>
              </a:ext>
            </a:extLst>
          </p:cNvPr>
          <p:cNvGrpSpPr/>
          <p:nvPr/>
        </p:nvGrpSpPr>
        <p:grpSpPr>
          <a:xfrm rot="5400000">
            <a:off x="8419439" y="1912651"/>
            <a:ext cx="4952940" cy="6403700"/>
            <a:chOff x="538394" y="1794986"/>
            <a:chExt cx="4196358" cy="1367909"/>
          </a:xfrm>
        </p:grpSpPr>
        <p:sp>
          <p:nvSpPr>
            <p:cNvPr id="24" name="Shape 1">
              <a:extLst>
                <a:ext uri="{FF2B5EF4-FFF2-40B4-BE49-F238E27FC236}">
                  <a16:creationId xmlns:a16="http://schemas.microsoft.com/office/drawing/2014/main" id="{C62FDE65-067E-B69B-F8F5-BA74A9D802DB}"/>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48C8DE23-4BF9-AD9E-41C8-203F838E3B5B}"/>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C38254C4-2448-95E8-58D0-F04459925398}"/>
              </a:ext>
            </a:extLst>
          </p:cNvPr>
          <p:cNvSpPr txBox="1"/>
          <p:nvPr/>
        </p:nvSpPr>
        <p:spPr>
          <a:xfrm rot="5400000">
            <a:off x="10478907" y="2102524"/>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D8A28415-8CDC-0109-FA92-95EC47C9C8C8}"/>
              </a:ext>
            </a:extLst>
          </p:cNvPr>
          <p:cNvSpPr txBox="1"/>
          <p:nvPr/>
        </p:nvSpPr>
        <p:spPr>
          <a:xfrm>
            <a:off x="7887479" y="3417376"/>
            <a:ext cx="6210280" cy="2958117"/>
          </a:xfrm>
          <a:prstGeom prst="rect">
            <a:avLst/>
          </a:prstGeom>
          <a:noFill/>
        </p:spPr>
        <p:txBody>
          <a:bodyPr wrap="square" rtlCol="0">
            <a:spAutoFit/>
          </a:bodyPr>
          <a:lstStyle/>
          <a:p>
            <a:pPr>
              <a:lnSpc>
                <a:spcPct val="150000"/>
              </a:lnSpc>
            </a:pPr>
            <a:r>
              <a:rPr lang="vi-VN" b="1" dirty="0">
                <a:solidFill>
                  <a:schemeClr val="tx2">
                    <a:lumMod val="20000"/>
                    <a:lumOff val="80000"/>
                  </a:schemeClr>
                </a:solidFill>
                <a:latin typeface="Fira Sans" panose="020B0503050000020004" pitchFamily="34" charset="0"/>
              </a:rPr>
              <a:t>1. Sử dụng Stored Procedure (sp_delete_post)</a:t>
            </a: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Kiểm tra bài viết tồn tại và quyền sở hữu</a:t>
            </a: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Chủ động báo lỗi nghiệp vụ bằng SIGNAL</a:t>
            </a:r>
          </a:p>
          <a:p>
            <a:pPr>
              <a:lnSpc>
                <a:spcPct val="150000"/>
              </a:lnSpc>
            </a:pPr>
            <a:r>
              <a:rPr lang="vi-VN" b="1" dirty="0">
                <a:solidFill>
                  <a:schemeClr val="tx2">
                    <a:lumMod val="20000"/>
                    <a:lumOff val="80000"/>
                  </a:schemeClr>
                </a:solidFill>
                <a:latin typeface="Fira Sans" panose="020B0503050000020004" pitchFamily="34" charset="0"/>
              </a:rPr>
              <a:t>2. Áp dụng FOREIGN KEY với ON DELETE CASCADE</a:t>
            </a:r>
            <a:endParaRPr lang="vi-VN" dirty="0">
              <a:solidFill>
                <a:schemeClr val="tx2">
                  <a:lumMod val="20000"/>
                  <a:lumOff val="80000"/>
                </a:schemeClr>
              </a:solidFill>
              <a:latin typeface="Fira Sans" panose="020B0503050000020004" pitchFamily="34" charset="0"/>
            </a:endParaRP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Tự động xóa Likes và Comments liên quan</a:t>
            </a:r>
          </a:p>
          <a:p>
            <a:pPr marL="285750" lvl="0" indent="-285750">
              <a:lnSpc>
                <a:spcPct val="150000"/>
              </a:lnSpc>
              <a:buFont typeface="Arial" panose="020B0604020202020204" pitchFamily="34" charset="0"/>
              <a:buChar char="•"/>
            </a:pPr>
            <a:r>
              <a:rPr lang="vi-VN" dirty="0">
                <a:solidFill>
                  <a:schemeClr val="tx2">
                    <a:lumMod val="20000"/>
                    <a:lumOff val="80000"/>
                  </a:schemeClr>
                </a:solidFill>
                <a:latin typeface="Fira Sans" panose="020B0503050000020004" pitchFamily="34" charset="0"/>
              </a:rPr>
              <a:t>Giảm code, đảm bảo nhất quán dữ liệu</a:t>
            </a:r>
          </a:p>
          <a:p>
            <a:pPr>
              <a:lnSpc>
                <a:spcPct val="150000"/>
              </a:lnSpc>
            </a:pPr>
            <a:endParaRPr lang="vi-VN" dirty="0">
              <a:solidFill>
                <a:schemeClr val="tx2">
                  <a:lumMod val="20000"/>
                  <a:lumOff val="80000"/>
                </a:schemeClr>
              </a:solidFill>
              <a:latin typeface="Fira Sans" panose="020B0503050000020004" pitchFamily="34" charset="0"/>
            </a:endParaRPr>
          </a:p>
        </p:txBody>
      </p:sp>
    </p:spTree>
    <p:extLst>
      <p:ext uri="{BB962C8B-B14F-4D97-AF65-F5344CB8AC3E}">
        <p14:creationId xmlns:p14="http://schemas.microsoft.com/office/powerpoint/2010/main" val="1398008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173D4-3216-106E-DD30-9ADEC97AA9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7CF5CB-9A9C-C7AB-31FC-87869BB6919C}"/>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DC85C3DA-1E4A-915F-7112-3CFACC6C4DD3}"/>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8. Quản </a:t>
            </a:r>
            <a:r>
              <a:rPr lang="en-US" sz="2400" dirty="0" err="1">
                <a:solidFill>
                  <a:srgbClr val="3D5A97"/>
                </a:solidFill>
                <a:latin typeface="Anton" pitchFamily="34" charset="0"/>
                <a:ea typeface="Anton" pitchFamily="34" charset="-122"/>
                <a:cs typeface="Anton" pitchFamily="34" charset="-120"/>
              </a:rPr>
              <a:t>lý</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xoá</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tài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khoản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người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dùng</a:t>
            </a:r>
            <a:endParaRPr lang="en-US" sz="2400" dirty="0">
              <a:solidFill>
                <a:srgbClr val="3D5A97"/>
              </a:solidFill>
            </a:endParaRPr>
          </a:p>
        </p:txBody>
      </p:sp>
      <p:grpSp>
        <p:nvGrpSpPr>
          <p:cNvPr id="4" name="Group 3">
            <a:extLst>
              <a:ext uri="{FF2B5EF4-FFF2-40B4-BE49-F238E27FC236}">
                <a16:creationId xmlns:a16="http://schemas.microsoft.com/office/drawing/2014/main" id="{00DEEB96-75FF-032B-5413-2CBB621E2CC0}"/>
              </a:ext>
            </a:extLst>
          </p:cNvPr>
          <p:cNvGrpSpPr/>
          <p:nvPr/>
        </p:nvGrpSpPr>
        <p:grpSpPr>
          <a:xfrm rot="5400000">
            <a:off x="1335152" y="2028938"/>
            <a:ext cx="4952940" cy="6171127"/>
            <a:chOff x="538394" y="1794986"/>
            <a:chExt cx="4196358" cy="1367909"/>
          </a:xfrm>
        </p:grpSpPr>
        <p:sp>
          <p:nvSpPr>
            <p:cNvPr id="5" name="Shape 1">
              <a:extLst>
                <a:ext uri="{FF2B5EF4-FFF2-40B4-BE49-F238E27FC236}">
                  <a16:creationId xmlns:a16="http://schemas.microsoft.com/office/drawing/2014/main" id="{53C3EA46-E2DC-C48A-80BE-0ADBE03AD21F}"/>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76633666-107D-368F-5B92-340433E29B78}"/>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651CDCB5-D2CE-5A03-E303-BF6C5D00C8CE}"/>
              </a:ext>
            </a:extLst>
          </p:cNvPr>
          <p:cNvSpPr txBox="1"/>
          <p:nvPr/>
        </p:nvSpPr>
        <p:spPr>
          <a:xfrm rot="5400000">
            <a:off x="3534621" y="2091465"/>
            <a:ext cx="553998" cy="174705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AE75C065-7973-2722-C253-05B04A025147}"/>
              </a:ext>
            </a:extLst>
          </p:cNvPr>
          <p:cNvSpPr txBox="1"/>
          <p:nvPr/>
        </p:nvSpPr>
        <p:spPr>
          <a:xfrm>
            <a:off x="880325" y="3417377"/>
            <a:ext cx="5736854" cy="4247317"/>
          </a:xfrm>
          <a:prstGeom prst="rect">
            <a:avLst/>
          </a:prstGeom>
          <a:noFill/>
        </p:spPr>
        <p:txBody>
          <a:bodyPr wrap="square" rtlCol="0">
            <a:spAutoFit/>
          </a:bodyPr>
          <a:lstStyle/>
          <a:p>
            <a:pPr marL="342900" indent="-342900">
              <a:buFontTx/>
              <a:buAutoNum type="arabicPeriod"/>
            </a:pPr>
            <a:r>
              <a:rPr lang="vi-VN" dirty="0">
                <a:solidFill>
                  <a:schemeClr val="tx2">
                    <a:lumMod val="20000"/>
                    <a:lumOff val="80000"/>
                  </a:schemeClr>
                </a:solidFill>
                <a:latin typeface="Fira Sans" panose="020B0503050000020004" pitchFamily="34" charset="0"/>
              </a:rPr>
              <a:t>Xóa user trong mạng xã hội không chỉ là xóa 1 dòng trong users, mà còn kéo theo dữ liệu liên quan như bạn bè (friends), bài đăng (posts), bình luận (comments), lượt thích (likes). Nếu xóa thiếu sẽ tạo dữ liệu mồ côi hoặc thống kê sai.</a:t>
            </a:r>
          </a:p>
          <a:p>
            <a:pPr marL="342900" indent="-342900">
              <a:buFontTx/>
              <a:buAutoNum type="arabicPeriod"/>
            </a:pPr>
            <a:r>
              <a:rPr lang="vi-VN" dirty="0">
                <a:solidFill>
                  <a:schemeClr val="tx2">
                    <a:lumMod val="20000"/>
                    <a:lumOff val="80000"/>
                  </a:schemeClr>
                </a:solidFill>
                <a:latin typeface="Fira Sans" panose="020B0503050000020004" pitchFamily="34" charset="0"/>
              </a:rPr>
              <a:t>Nếu đang xóa mà lỗi giữa chừng (FK lỗi, dữ liệu không nhất quán, lỗi hệ thống), có thể xảy ra tình trạng xóa dở dang: friends bị xóa nhưng user còn, hoặc user bị xóa nhưng log chưa ghi… gây vỡ dữ liệu.</a:t>
            </a:r>
          </a:p>
          <a:p>
            <a:pPr marL="342900" indent="-342900">
              <a:buFontTx/>
              <a:buAutoNum type="arabicPeriod"/>
            </a:pPr>
            <a:r>
              <a:rPr lang="vi-VN" dirty="0">
                <a:solidFill>
                  <a:schemeClr val="tx2">
                    <a:lumMod val="20000"/>
                    <a:lumOff val="80000"/>
                  </a:schemeClr>
                </a:solidFill>
                <a:latin typeface="Fira Sans" panose="020B0503050000020004" pitchFamily="34" charset="0"/>
              </a:rPr>
              <a:t>Bảng friends thường lưu quan hệ 2 chiều, nên khi xóa user phải xóa cả dòng mà user là user_id lẫn dòng mà user là friend_id. Nếu chỉ xóa một phía sẽ để lại quan hệ “treo”.</a:t>
            </a:r>
          </a:p>
          <a:p>
            <a:pPr marL="342900" indent="-342900">
              <a:buAutoNum type="arabicPeriod"/>
            </a:pPr>
            <a:endParaRPr lang="vi-VN" b="1" dirty="0">
              <a:solidFill>
                <a:schemeClr val="tx2">
                  <a:lumMod val="20000"/>
                  <a:lumOff val="80000"/>
                </a:schemeClr>
              </a:solidFill>
              <a:latin typeface="Fira Sans" panose="020B0503050000020004" pitchFamily="34" charset="0"/>
            </a:endParaRPr>
          </a:p>
        </p:txBody>
      </p:sp>
      <p:grpSp>
        <p:nvGrpSpPr>
          <p:cNvPr id="23" name="Group 22">
            <a:extLst>
              <a:ext uri="{FF2B5EF4-FFF2-40B4-BE49-F238E27FC236}">
                <a16:creationId xmlns:a16="http://schemas.microsoft.com/office/drawing/2014/main" id="{6A505A28-48E6-462C-8F88-52CC559B557F}"/>
              </a:ext>
            </a:extLst>
          </p:cNvPr>
          <p:cNvGrpSpPr/>
          <p:nvPr/>
        </p:nvGrpSpPr>
        <p:grpSpPr>
          <a:xfrm rot="5400000">
            <a:off x="8419439" y="1912651"/>
            <a:ext cx="4952940" cy="6403700"/>
            <a:chOff x="538394" y="1794986"/>
            <a:chExt cx="4196358" cy="1367909"/>
          </a:xfrm>
        </p:grpSpPr>
        <p:sp>
          <p:nvSpPr>
            <p:cNvPr id="24" name="Shape 1">
              <a:extLst>
                <a:ext uri="{FF2B5EF4-FFF2-40B4-BE49-F238E27FC236}">
                  <a16:creationId xmlns:a16="http://schemas.microsoft.com/office/drawing/2014/main" id="{A30D5377-1A3C-C5F0-E948-0C90C7B88FE3}"/>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AA8965BF-98C3-49CC-CD81-41717EC7B777}"/>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F8A3785D-69DB-DD77-3897-F76E1475AA37}"/>
              </a:ext>
            </a:extLst>
          </p:cNvPr>
          <p:cNvSpPr txBox="1"/>
          <p:nvPr/>
        </p:nvSpPr>
        <p:spPr>
          <a:xfrm rot="5400000">
            <a:off x="10478907" y="2102524"/>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D131893B-D3F7-97AA-396F-B8628A8BD42C}"/>
              </a:ext>
            </a:extLst>
          </p:cNvPr>
          <p:cNvSpPr txBox="1"/>
          <p:nvPr/>
        </p:nvSpPr>
        <p:spPr>
          <a:xfrm>
            <a:off x="7887479" y="3417376"/>
            <a:ext cx="6210280" cy="2958117"/>
          </a:xfrm>
          <a:prstGeom prst="rect">
            <a:avLst/>
          </a:prstGeom>
          <a:noFill/>
        </p:spPr>
        <p:txBody>
          <a:bodyPr wrap="square" rtlCol="0">
            <a:spAutoFit/>
          </a:bodyPr>
          <a:lstStyle/>
          <a:p>
            <a:pPr>
              <a:lnSpc>
                <a:spcPct val="150000"/>
              </a:lnSpc>
            </a:pPr>
            <a:r>
              <a:rPr lang="en-US" b="1" dirty="0">
                <a:solidFill>
                  <a:schemeClr val="tx2">
                    <a:lumMod val="20000"/>
                    <a:lumOff val="80000"/>
                  </a:schemeClr>
                </a:solidFill>
                <a:latin typeface="Fira Sans" panose="020B0503050000020004" pitchFamily="34" charset="0"/>
              </a:rPr>
              <a:t>1. </a:t>
            </a:r>
            <a:r>
              <a:rPr lang="vi-VN" b="1" dirty="0">
                <a:solidFill>
                  <a:schemeClr val="tx2">
                    <a:lumMod val="20000"/>
                    <a:lumOff val="80000"/>
                  </a:schemeClr>
                </a:solidFill>
                <a:latin typeface="Fira Sans" panose="020B0503050000020004" pitchFamily="34" charset="0"/>
              </a:rPr>
              <a:t>Đảm bảo xóa “đúng người” và đúng phạm vi dữ liệu</a:t>
            </a:r>
            <a:endParaRPr lang="en-US" b="1" dirty="0">
              <a:solidFill>
                <a:schemeClr val="tx2">
                  <a:lumMod val="20000"/>
                  <a:lumOff val="80000"/>
                </a:schemeClr>
              </a:solidFill>
              <a:latin typeface="Fira Sans" panose="020B0503050000020004" pitchFamily="34" charset="0"/>
            </a:endParaRPr>
          </a:p>
          <a:p>
            <a:pPr>
              <a:lnSpc>
                <a:spcPct val="150000"/>
              </a:lnSpc>
            </a:pPr>
            <a:r>
              <a:rPr lang="vi-VN" dirty="0">
                <a:solidFill>
                  <a:schemeClr val="tx2">
                    <a:lumMod val="20000"/>
                    <a:lumOff val="80000"/>
                  </a:schemeClr>
                </a:solidFill>
                <a:latin typeface="Fira Sans" panose="020B0503050000020004" pitchFamily="34" charset="0"/>
              </a:rPr>
              <a:t>Stored Procedure sp_delete_user thực hiện xóa theo đúng phạm vi: xóa user và các bản ghi liên quan (trực tiếp hoặc gián tiếp). Kết hợp ràng buộc khóa ngoại ON DELETE CASCADE (nếu có) hoặc xóa chủ động theo thứ tự phù hợp.</a:t>
            </a:r>
          </a:p>
          <a:p>
            <a:pPr>
              <a:lnSpc>
                <a:spcPct val="150000"/>
              </a:lnSpc>
            </a:pPr>
            <a:r>
              <a:rPr lang="vi-VN" b="1" dirty="0">
                <a:solidFill>
                  <a:schemeClr val="tx2">
                    <a:lumMod val="20000"/>
                    <a:lumOff val="80000"/>
                  </a:schemeClr>
                </a:solidFill>
                <a:latin typeface="Fira Sans" panose="020B0503050000020004" pitchFamily="34" charset="0"/>
              </a:rPr>
              <a:t>→ Đảm bảo toàn vẹn dữ liệu và không để lại “rác”.</a:t>
            </a:r>
            <a:endParaRPr lang="vi-VN" b="1" dirty="0">
              <a:solidFill>
                <a:schemeClr val="tx2">
                  <a:lumMod val="20000"/>
                  <a:lumOff val="80000"/>
                </a:schemeClr>
              </a:solidFill>
              <a:effectLst/>
              <a:latin typeface="Fira Sans" panose="020B0503050000020004" pitchFamily="34" charset="0"/>
            </a:endParaRPr>
          </a:p>
        </p:txBody>
      </p:sp>
    </p:spTree>
    <p:extLst>
      <p:ext uri="{BB962C8B-B14F-4D97-AF65-F5344CB8AC3E}">
        <p14:creationId xmlns:p14="http://schemas.microsoft.com/office/powerpoint/2010/main" val="1041026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D80A8-E1F8-3105-FD72-10BCEEEF41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6DAD17C-341B-7B5A-86DB-1F0E2E12D6C9}"/>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C30E0681-01A4-7D01-E4BB-CE9A551269ED}"/>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8. Quản </a:t>
            </a:r>
            <a:r>
              <a:rPr lang="en-US" sz="2400" dirty="0" err="1">
                <a:solidFill>
                  <a:srgbClr val="3D5A97"/>
                </a:solidFill>
                <a:latin typeface="Anton" pitchFamily="34" charset="0"/>
                <a:ea typeface="Anton" pitchFamily="34" charset="-122"/>
                <a:cs typeface="Anton" pitchFamily="34" charset="-120"/>
              </a:rPr>
              <a:t>lý</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xoá</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tài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khoản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người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dùng</a:t>
            </a:r>
            <a:endParaRPr lang="en-US" sz="2400" dirty="0">
              <a:solidFill>
                <a:srgbClr val="3D5A97"/>
              </a:solidFill>
            </a:endParaRPr>
          </a:p>
        </p:txBody>
      </p:sp>
      <p:grpSp>
        <p:nvGrpSpPr>
          <p:cNvPr id="4" name="Group 3">
            <a:extLst>
              <a:ext uri="{FF2B5EF4-FFF2-40B4-BE49-F238E27FC236}">
                <a16:creationId xmlns:a16="http://schemas.microsoft.com/office/drawing/2014/main" id="{13F82FC8-68D8-C03B-D16F-E4558EE4A634}"/>
              </a:ext>
            </a:extLst>
          </p:cNvPr>
          <p:cNvGrpSpPr/>
          <p:nvPr/>
        </p:nvGrpSpPr>
        <p:grpSpPr>
          <a:xfrm rot="5400000">
            <a:off x="1335152" y="2028938"/>
            <a:ext cx="4952940" cy="6171127"/>
            <a:chOff x="538394" y="1794986"/>
            <a:chExt cx="4196358" cy="1367909"/>
          </a:xfrm>
        </p:grpSpPr>
        <p:sp>
          <p:nvSpPr>
            <p:cNvPr id="5" name="Shape 1">
              <a:extLst>
                <a:ext uri="{FF2B5EF4-FFF2-40B4-BE49-F238E27FC236}">
                  <a16:creationId xmlns:a16="http://schemas.microsoft.com/office/drawing/2014/main" id="{7C3C9BDB-D336-A670-A35E-D67A6B52343D}"/>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2A6B2B35-430F-E3F7-2049-B5A75A61B486}"/>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F346724B-76AB-0AD9-D69B-016822DAA91A}"/>
              </a:ext>
            </a:extLst>
          </p:cNvPr>
          <p:cNvSpPr txBox="1"/>
          <p:nvPr/>
        </p:nvSpPr>
        <p:spPr>
          <a:xfrm rot="5400000">
            <a:off x="3534621" y="2091465"/>
            <a:ext cx="553998" cy="174705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FDD01152-85B8-75E8-051F-E407A6437089}"/>
              </a:ext>
            </a:extLst>
          </p:cNvPr>
          <p:cNvSpPr txBox="1"/>
          <p:nvPr/>
        </p:nvSpPr>
        <p:spPr>
          <a:xfrm>
            <a:off x="880325" y="3417377"/>
            <a:ext cx="5736854" cy="4247317"/>
          </a:xfrm>
          <a:prstGeom prst="rect">
            <a:avLst/>
          </a:prstGeom>
          <a:noFill/>
        </p:spPr>
        <p:txBody>
          <a:bodyPr wrap="square" rtlCol="0">
            <a:spAutoFit/>
          </a:bodyPr>
          <a:lstStyle/>
          <a:p>
            <a:pPr marL="342900" indent="-342900">
              <a:buFontTx/>
              <a:buAutoNum type="arabicPeriod"/>
            </a:pPr>
            <a:r>
              <a:rPr lang="vi-VN" dirty="0">
                <a:solidFill>
                  <a:schemeClr val="tx2">
                    <a:lumMod val="20000"/>
                    <a:lumOff val="80000"/>
                  </a:schemeClr>
                </a:solidFill>
                <a:latin typeface="Fira Sans" panose="020B0503050000020004" pitchFamily="34" charset="0"/>
              </a:rPr>
              <a:t>Xóa user trong mạng xã hội không chỉ là xóa 1 dòng trong users, mà còn kéo theo dữ liệu liên quan như bạn bè (friends), bài đăng (posts), bình luận (comments), lượt thích (likes). Nếu xóa thiếu sẽ tạo dữ liệu mồ côi hoặc thống kê sai.</a:t>
            </a:r>
          </a:p>
          <a:p>
            <a:pPr marL="342900" indent="-342900">
              <a:buFontTx/>
              <a:buAutoNum type="arabicPeriod"/>
            </a:pPr>
            <a:r>
              <a:rPr lang="vi-VN" dirty="0">
                <a:solidFill>
                  <a:schemeClr val="tx2">
                    <a:lumMod val="20000"/>
                    <a:lumOff val="80000"/>
                  </a:schemeClr>
                </a:solidFill>
                <a:latin typeface="Fira Sans" panose="020B0503050000020004" pitchFamily="34" charset="0"/>
              </a:rPr>
              <a:t>Nếu đang xóa mà lỗi giữa chừng (FK lỗi, dữ liệu không nhất quán, lỗi hệ thống), có thể xảy ra tình trạng xóa dở dang: friends bị xóa nhưng user còn, hoặc user bị xóa nhưng log chưa ghi… gây vỡ dữ liệu.</a:t>
            </a:r>
          </a:p>
          <a:p>
            <a:pPr marL="342900" indent="-342900">
              <a:buFontTx/>
              <a:buAutoNum type="arabicPeriod"/>
            </a:pPr>
            <a:r>
              <a:rPr lang="vi-VN" dirty="0">
                <a:solidFill>
                  <a:schemeClr val="tx2">
                    <a:lumMod val="20000"/>
                    <a:lumOff val="80000"/>
                  </a:schemeClr>
                </a:solidFill>
                <a:latin typeface="Fira Sans" panose="020B0503050000020004" pitchFamily="34" charset="0"/>
              </a:rPr>
              <a:t>Bảng friends thường lưu quan hệ 2 chiều, nên khi xóa user phải xóa cả dòng mà user là user_id lẫn dòng mà user là friend_id. Nếu chỉ xóa một phía sẽ để lại quan hệ “treo”.</a:t>
            </a:r>
          </a:p>
          <a:p>
            <a:pPr marL="342900" indent="-342900">
              <a:buAutoNum type="arabicPeriod"/>
            </a:pPr>
            <a:endParaRPr lang="vi-VN" b="1" dirty="0">
              <a:solidFill>
                <a:schemeClr val="tx2">
                  <a:lumMod val="20000"/>
                  <a:lumOff val="80000"/>
                </a:schemeClr>
              </a:solidFill>
              <a:latin typeface="Fira Sans" panose="020B0503050000020004" pitchFamily="34" charset="0"/>
            </a:endParaRPr>
          </a:p>
        </p:txBody>
      </p:sp>
      <p:grpSp>
        <p:nvGrpSpPr>
          <p:cNvPr id="23" name="Group 22">
            <a:extLst>
              <a:ext uri="{FF2B5EF4-FFF2-40B4-BE49-F238E27FC236}">
                <a16:creationId xmlns:a16="http://schemas.microsoft.com/office/drawing/2014/main" id="{66B70720-FB2C-494D-44B1-825C48D7DA00}"/>
              </a:ext>
            </a:extLst>
          </p:cNvPr>
          <p:cNvGrpSpPr/>
          <p:nvPr/>
        </p:nvGrpSpPr>
        <p:grpSpPr>
          <a:xfrm rot="5400000">
            <a:off x="8419439" y="1912651"/>
            <a:ext cx="4952940" cy="6403700"/>
            <a:chOff x="538394" y="1794986"/>
            <a:chExt cx="4196358" cy="1367909"/>
          </a:xfrm>
        </p:grpSpPr>
        <p:sp>
          <p:nvSpPr>
            <p:cNvPr id="24" name="Shape 1">
              <a:extLst>
                <a:ext uri="{FF2B5EF4-FFF2-40B4-BE49-F238E27FC236}">
                  <a16:creationId xmlns:a16="http://schemas.microsoft.com/office/drawing/2014/main" id="{34ABB786-51C9-EC45-6E90-D70A415C9F66}"/>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E280DA94-9679-D7DA-743C-A4C79445795D}"/>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5B452CC5-DDAC-79E8-C996-BF8C74BFB6ED}"/>
              </a:ext>
            </a:extLst>
          </p:cNvPr>
          <p:cNvSpPr txBox="1"/>
          <p:nvPr/>
        </p:nvSpPr>
        <p:spPr>
          <a:xfrm rot="5400000">
            <a:off x="10478907" y="2102524"/>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2071BA2B-9E95-140D-4059-7EE7AC1D6304}"/>
              </a:ext>
            </a:extLst>
          </p:cNvPr>
          <p:cNvSpPr txBox="1"/>
          <p:nvPr/>
        </p:nvSpPr>
        <p:spPr>
          <a:xfrm>
            <a:off x="7887479" y="3417376"/>
            <a:ext cx="6210280" cy="2127121"/>
          </a:xfrm>
          <a:prstGeom prst="rect">
            <a:avLst/>
          </a:prstGeom>
          <a:noFill/>
        </p:spPr>
        <p:txBody>
          <a:bodyPr wrap="square" rtlCol="0">
            <a:spAutoFit/>
          </a:bodyPr>
          <a:lstStyle/>
          <a:p>
            <a:pPr>
              <a:lnSpc>
                <a:spcPct val="150000"/>
              </a:lnSpc>
            </a:pPr>
            <a:r>
              <a:rPr lang="en-US" b="1" dirty="0">
                <a:solidFill>
                  <a:schemeClr val="tx2">
                    <a:lumMod val="20000"/>
                    <a:lumOff val="80000"/>
                  </a:schemeClr>
                </a:solidFill>
                <a:latin typeface="Fira Sans" panose="020B0503050000020004" pitchFamily="34" charset="0"/>
              </a:rPr>
              <a:t>2. </a:t>
            </a:r>
            <a:r>
              <a:rPr lang="vi-VN" b="1" dirty="0">
                <a:solidFill>
                  <a:schemeClr val="tx2">
                    <a:lumMod val="20000"/>
                    <a:lumOff val="80000"/>
                  </a:schemeClr>
                </a:solidFill>
                <a:latin typeface="Fira Sans" panose="020B0503050000020004" pitchFamily="34" charset="0"/>
              </a:rPr>
              <a:t>Đảm bảo tính nguyên tử khi xóa (Atomicity)</a:t>
            </a:r>
            <a:endParaRPr lang="en-US" b="1" dirty="0">
              <a:solidFill>
                <a:schemeClr val="tx2">
                  <a:lumMod val="20000"/>
                  <a:lumOff val="80000"/>
                </a:schemeClr>
              </a:solidFill>
              <a:latin typeface="Fira Sans" panose="020B0503050000020004" pitchFamily="34" charset="0"/>
            </a:endParaRPr>
          </a:p>
          <a:p>
            <a:pPr>
              <a:lnSpc>
                <a:spcPct val="150000"/>
              </a:lnSpc>
            </a:pPr>
            <a:r>
              <a:rPr lang="vi-VN" dirty="0">
                <a:solidFill>
                  <a:schemeClr val="tx2">
                    <a:lumMod val="20000"/>
                    <a:lumOff val="80000"/>
                  </a:schemeClr>
                </a:solidFill>
                <a:latin typeface="Fira Sans" panose="020B0503050000020004" pitchFamily="34" charset="0"/>
              </a:rPr>
              <a:t>sp_delete_user dùng Transaction (START TRANSACTION) để gom toàn bộ thao tác xóa vào một giao dịch. Nếu có lỗi thì ROLLBACK, nếu thành công thì COMMIT.</a:t>
            </a:r>
          </a:p>
          <a:p>
            <a:pPr>
              <a:lnSpc>
                <a:spcPct val="150000"/>
              </a:lnSpc>
            </a:pPr>
            <a:r>
              <a:rPr lang="vi-VN" b="1" dirty="0">
                <a:solidFill>
                  <a:schemeClr val="tx2">
                    <a:lumMod val="20000"/>
                    <a:lumOff val="80000"/>
                  </a:schemeClr>
                </a:solidFill>
                <a:latin typeface="Fira Sans" panose="020B0503050000020004" pitchFamily="34" charset="0"/>
              </a:rPr>
              <a:t>→ Hoặc xóa hết tất cả, hoặc không xóa gì.</a:t>
            </a:r>
            <a:endParaRPr lang="vi-VN" b="1" dirty="0">
              <a:solidFill>
                <a:schemeClr val="tx2">
                  <a:lumMod val="20000"/>
                  <a:lumOff val="80000"/>
                </a:schemeClr>
              </a:solidFill>
              <a:effectLst/>
              <a:latin typeface="Fira Sans" panose="020B0503050000020004" pitchFamily="34" charset="0"/>
            </a:endParaRPr>
          </a:p>
        </p:txBody>
      </p:sp>
    </p:spTree>
    <p:extLst>
      <p:ext uri="{BB962C8B-B14F-4D97-AF65-F5344CB8AC3E}">
        <p14:creationId xmlns:p14="http://schemas.microsoft.com/office/powerpoint/2010/main" val="2747820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D1F6D-4293-5BA4-D40E-8A6325AB124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86F86A-1B37-61D0-C571-A6B7844D8BC5}"/>
              </a:ext>
            </a:extLst>
          </p:cNvPr>
          <p:cNvSpPr/>
          <p:nvPr/>
        </p:nvSpPr>
        <p:spPr>
          <a:xfrm>
            <a:off x="454831" y="616704"/>
            <a:ext cx="6171128" cy="708779"/>
          </a:xfrm>
          <a:prstGeom prst="rect">
            <a:avLst/>
          </a:prstGeom>
          <a:noFill/>
          <a:ln/>
        </p:spPr>
        <p:txBody>
          <a:bodyPr wrap="none" lIns="0" tIns="0" rIns="0" bIns="0" rtlCol="0" anchor="t"/>
          <a:lstStyle/>
          <a:p>
            <a:pPr marL="0" indent="0" algn="l">
              <a:lnSpc>
                <a:spcPts val="5550"/>
              </a:lnSpc>
              <a:buNone/>
            </a:pPr>
            <a:r>
              <a:rPr lang="en-US" sz="4450" dirty="0" err="1">
                <a:solidFill>
                  <a:srgbClr val="3D5A97"/>
                </a:solidFill>
                <a:latin typeface="Anton" pitchFamily="34" charset="0"/>
                <a:ea typeface="Anton" pitchFamily="34" charset="-122"/>
                <a:cs typeface="Anton" pitchFamily="34" charset="-120"/>
              </a:rPr>
              <a:t>Nội</a:t>
            </a:r>
            <a:r>
              <a:rPr lang="en-US" sz="4450" dirty="0">
                <a:solidFill>
                  <a:srgbClr val="3D5A97"/>
                </a:solidFill>
                <a:latin typeface="Anton" pitchFamily="34" charset="0"/>
                <a:ea typeface="Anton" pitchFamily="34" charset="-122"/>
                <a:cs typeface="Anton" pitchFamily="34" charset="-120"/>
              </a:rPr>
              <a:t> dung </a:t>
            </a:r>
            <a:r>
              <a:rPr lang="en-US" sz="4450" dirty="0" err="1">
                <a:solidFill>
                  <a:srgbClr val="3D5A97"/>
                </a:solidFill>
                <a:latin typeface="Anton" pitchFamily="34" charset="0"/>
                <a:ea typeface="Anton" pitchFamily="34" charset="-122"/>
                <a:cs typeface="Anton" pitchFamily="34" charset="-120"/>
              </a:rPr>
              <a:t>thực</a:t>
            </a:r>
            <a:r>
              <a:rPr lang="en-US" sz="4450" dirty="0">
                <a:solidFill>
                  <a:srgbClr val="3D5A97"/>
                </a:solidFill>
                <a:latin typeface="Anton" pitchFamily="34" charset="0"/>
                <a:ea typeface="Anton" pitchFamily="34" charset="-122"/>
                <a:cs typeface="Anton" pitchFamily="34" charset="-120"/>
              </a:rPr>
              <a:t> </a:t>
            </a:r>
            <a:r>
              <a:rPr lang="en-US" sz="4450" dirty="0" err="1">
                <a:solidFill>
                  <a:srgbClr val="3D5A97"/>
                </a:solidFill>
                <a:latin typeface="Anton" pitchFamily="34" charset="0"/>
                <a:ea typeface="Anton" pitchFamily="34" charset="-122"/>
                <a:cs typeface="Anton" pitchFamily="34" charset="-120"/>
              </a:rPr>
              <a:t>hành</a:t>
            </a:r>
            <a:endParaRPr lang="en-US" sz="4450" dirty="0">
              <a:solidFill>
                <a:srgbClr val="3D5A97"/>
              </a:solidFill>
            </a:endParaRPr>
          </a:p>
        </p:txBody>
      </p:sp>
      <p:sp>
        <p:nvSpPr>
          <p:cNvPr id="3" name="Text 0">
            <a:extLst>
              <a:ext uri="{FF2B5EF4-FFF2-40B4-BE49-F238E27FC236}">
                <a16:creationId xmlns:a16="http://schemas.microsoft.com/office/drawing/2014/main" id="{CE5D4CA9-1933-C014-0E5C-59E0FAFDEC93}"/>
              </a:ext>
            </a:extLst>
          </p:cNvPr>
          <p:cNvSpPr/>
          <p:nvPr/>
        </p:nvSpPr>
        <p:spPr>
          <a:xfrm>
            <a:off x="454831" y="1325483"/>
            <a:ext cx="6171128" cy="708779"/>
          </a:xfrm>
          <a:prstGeom prst="rect">
            <a:avLst/>
          </a:prstGeom>
          <a:noFill/>
          <a:ln/>
        </p:spPr>
        <p:txBody>
          <a:bodyPr wrap="none" lIns="0" tIns="0" rIns="0" bIns="0" rtlCol="0" anchor="t"/>
          <a:lstStyle/>
          <a:p>
            <a:pPr marL="0" indent="0" algn="l">
              <a:lnSpc>
                <a:spcPts val="5550"/>
              </a:lnSpc>
              <a:buNone/>
            </a:pPr>
            <a:r>
              <a:rPr lang="en-US" sz="2400" dirty="0" err="1">
                <a:solidFill>
                  <a:srgbClr val="3D5A97"/>
                </a:solidFill>
                <a:latin typeface="Anton" pitchFamily="34" charset="0"/>
                <a:ea typeface="Anton" pitchFamily="34" charset="-122"/>
                <a:cs typeface="Anton" pitchFamily="34" charset="-120"/>
              </a:rPr>
              <a:t>Bài</a:t>
            </a:r>
            <a:r>
              <a:rPr lang="en-US" sz="2400" dirty="0">
                <a:solidFill>
                  <a:srgbClr val="3D5A97"/>
                </a:solidFill>
                <a:latin typeface="Anton" pitchFamily="34" charset="0"/>
                <a:ea typeface="Anton" pitchFamily="34" charset="-122"/>
                <a:cs typeface="Anton" pitchFamily="34" charset="-120"/>
              </a:rPr>
              <a:t> 8. Quản </a:t>
            </a:r>
            <a:r>
              <a:rPr lang="en-US" sz="2400" dirty="0" err="1">
                <a:solidFill>
                  <a:srgbClr val="3D5A97"/>
                </a:solidFill>
                <a:latin typeface="Anton" pitchFamily="34" charset="0"/>
                <a:ea typeface="Anton" pitchFamily="34" charset="-122"/>
                <a:cs typeface="Anton" pitchFamily="34" charset="-120"/>
              </a:rPr>
              <a:t>lý</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xoá</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tài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khoản</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người</a:t>
            </a:r>
            <a:r>
              <a:rPr lang="en-US" sz="2400" dirty="0">
                <a:solidFill>
                  <a:srgbClr val="3D5A97"/>
                </a:solidFill>
                <a:latin typeface="Anton" pitchFamily="34" charset="0"/>
                <a:ea typeface="Anton" pitchFamily="34" charset="-122"/>
                <a:cs typeface="Anton" pitchFamily="34" charset="-120"/>
              </a:rPr>
              <a:t> </a:t>
            </a:r>
            <a:r>
              <a:rPr lang="en-US" sz="2400" dirty="0" err="1">
                <a:solidFill>
                  <a:srgbClr val="3D5A97"/>
                </a:solidFill>
                <a:latin typeface="Anton" pitchFamily="34" charset="0"/>
                <a:ea typeface="Anton" pitchFamily="34" charset="-122"/>
                <a:cs typeface="Anton" pitchFamily="34" charset="-120"/>
              </a:rPr>
              <a:t>dùng</a:t>
            </a:r>
            <a:endParaRPr lang="en-US" sz="2400" dirty="0">
              <a:solidFill>
                <a:srgbClr val="3D5A97"/>
              </a:solidFill>
            </a:endParaRPr>
          </a:p>
        </p:txBody>
      </p:sp>
      <p:grpSp>
        <p:nvGrpSpPr>
          <p:cNvPr id="4" name="Group 3">
            <a:extLst>
              <a:ext uri="{FF2B5EF4-FFF2-40B4-BE49-F238E27FC236}">
                <a16:creationId xmlns:a16="http://schemas.microsoft.com/office/drawing/2014/main" id="{DEEDB31E-1F59-3CDB-5AE4-A3FB02F2B15A}"/>
              </a:ext>
            </a:extLst>
          </p:cNvPr>
          <p:cNvGrpSpPr/>
          <p:nvPr/>
        </p:nvGrpSpPr>
        <p:grpSpPr>
          <a:xfrm rot="5400000">
            <a:off x="1335152" y="2028938"/>
            <a:ext cx="4952940" cy="6171127"/>
            <a:chOff x="538394" y="1794986"/>
            <a:chExt cx="4196358" cy="1367909"/>
          </a:xfrm>
        </p:grpSpPr>
        <p:sp>
          <p:nvSpPr>
            <p:cNvPr id="5" name="Shape 1">
              <a:extLst>
                <a:ext uri="{FF2B5EF4-FFF2-40B4-BE49-F238E27FC236}">
                  <a16:creationId xmlns:a16="http://schemas.microsoft.com/office/drawing/2014/main" id="{2967F184-C22E-88E6-AE22-0AD9E9D8D270}"/>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6" name="Shape 1">
              <a:extLst>
                <a:ext uri="{FF2B5EF4-FFF2-40B4-BE49-F238E27FC236}">
                  <a16:creationId xmlns:a16="http://schemas.microsoft.com/office/drawing/2014/main" id="{963F5096-2239-6054-EC3C-85715F9A52B6}"/>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7" name="TextBox 6">
            <a:extLst>
              <a:ext uri="{FF2B5EF4-FFF2-40B4-BE49-F238E27FC236}">
                <a16:creationId xmlns:a16="http://schemas.microsoft.com/office/drawing/2014/main" id="{3228A0EC-CA3F-BC81-A05C-77B135C32249}"/>
              </a:ext>
            </a:extLst>
          </p:cNvPr>
          <p:cNvSpPr txBox="1"/>
          <p:nvPr/>
        </p:nvSpPr>
        <p:spPr>
          <a:xfrm rot="5400000">
            <a:off x="3534621" y="2091465"/>
            <a:ext cx="553998" cy="174705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Thách</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thức</a:t>
            </a:r>
            <a:endParaRPr lang="vi-VN" sz="2400" b="1" dirty="0">
              <a:solidFill>
                <a:schemeClr val="tx2">
                  <a:lumMod val="20000"/>
                  <a:lumOff val="80000"/>
                </a:schemeClr>
              </a:solidFill>
              <a:latin typeface="Fira Sans" panose="020B0503050000020004" pitchFamily="34" charset="0"/>
            </a:endParaRPr>
          </a:p>
        </p:txBody>
      </p:sp>
      <p:sp>
        <p:nvSpPr>
          <p:cNvPr id="17" name="TextBox 16">
            <a:extLst>
              <a:ext uri="{FF2B5EF4-FFF2-40B4-BE49-F238E27FC236}">
                <a16:creationId xmlns:a16="http://schemas.microsoft.com/office/drawing/2014/main" id="{F86016B2-075B-7366-260B-F5BC81BB978E}"/>
              </a:ext>
            </a:extLst>
          </p:cNvPr>
          <p:cNvSpPr txBox="1"/>
          <p:nvPr/>
        </p:nvSpPr>
        <p:spPr>
          <a:xfrm>
            <a:off x="880325" y="3417377"/>
            <a:ext cx="5736854" cy="4247317"/>
          </a:xfrm>
          <a:prstGeom prst="rect">
            <a:avLst/>
          </a:prstGeom>
          <a:noFill/>
        </p:spPr>
        <p:txBody>
          <a:bodyPr wrap="square" rtlCol="0">
            <a:spAutoFit/>
          </a:bodyPr>
          <a:lstStyle/>
          <a:p>
            <a:pPr marL="342900" indent="-342900">
              <a:buFontTx/>
              <a:buAutoNum type="arabicPeriod"/>
            </a:pPr>
            <a:r>
              <a:rPr lang="vi-VN" dirty="0">
                <a:solidFill>
                  <a:schemeClr val="tx2">
                    <a:lumMod val="20000"/>
                    <a:lumOff val="80000"/>
                  </a:schemeClr>
                </a:solidFill>
                <a:latin typeface="Fira Sans" panose="020B0503050000020004" pitchFamily="34" charset="0"/>
              </a:rPr>
              <a:t>Xóa user trong mạng xã hội không chỉ là xóa 1 dòng trong users, mà còn kéo theo dữ liệu liên quan như bạn bè (friends), bài đăng (posts), bình luận (comments), lượt thích (likes). Nếu xóa thiếu sẽ tạo dữ liệu mồ côi hoặc thống kê sai.</a:t>
            </a:r>
          </a:p>
          <a:p>
            <a:pPr marL="342900" indent="-342900">
              <a:buFontTx/>
              <a:buAutoNum type="arabicPeriod"/>
            </a:pPr>
            <a:r>
              <a:rPr lang="vi-VN" dirty="0">
                <a:solidFill>
                  <a:schemeClr val="tx2">
                    <a:lumMod val="20000"/>
                    <a:lumOff val="80000"/>
                  </a:schemeClr>
                </a:solidFill>
                <a:latin typeface="Fira Sans" panose="020B0503050000020004" pitchFamily="34" charset="0"/>
              </a:rPr>
              <a:t>Nếu đang xóa mà lỗi giữa chừng (FK lỗi, dữ liệu không nhất quán, lỗi hệ thống), có thể xảy ra tình trạng xóa dở dang: friends bị xóa nhưng user còn, hoặc user bị xóa nhưng log chưa ghi… gây vỡ dữ liệu.</a:t>
            </a:r>
          </a:p>
          <a:p>
            <a:pPr marL="342900" indent="-342900">
              <a:buFontTx/>
              <a:buAutoNum type="arabicPeriod"/>
            </a:pPr>
            <a:r>
              <a:rPr lang="vi-VN" dirty="0">
                <a:solidFill>
                  <a:schemeClr val="tx2">
                    <a:lumMod val="20000"/>
                    <a:lumOff val="80000"/>
                  </a:schemeClr>
                </a:solidFill>
                <a:latin typeface="Fira Sans" panose="020B0503050000020004" pitchFamily="34" charset="0"/>
              </a:rPr>
              <a:t>Bảng friends thường lưu quan hệ 2 chiều, nên khi xóa user phải xóa cả dòng mà user là user_id lẫn dòng mà user là friend_id. Nếu chỉ xóa một phía sẽ để lại quan hệ “treo”.</a:t>
            </a:r>
          </a:p>
          <a:p>
            <a:pPr marL="342900" indent="-342900">
              <a:buAutoNum type="arabicPeriod"/>
            </a:pPr>
            <a:endParaRPr lang="vi-VN" b="1" dirty="0">
              <a:solidFill>
                <a:schemeClr val="tx2">
                  <a:lumMod val="20000"/>
                  <a:lumOff val="80000"/>
                </a:schemeClr>
              </a:solidFill>
              <a:latin typeface="Fira Sans" panose="020B0503050000020004" pitchFamily="34" charset="0"/>
            </a:endParaRPr>
          </a:p>
        </p:txBody>
      </p:sp>
      <p:grpSp>
        <p:nvGrpSpPr>
          <p:cNvPr id="23" name="Group 22">
            <a:extLst>
              <a:ext uri="{FF2B5EF4-FFF2-40B4-BE49-F238E27FC236}">
                <a16:creationId xmlns:a16="http://schemas.microsoft.com/office/drawing/2014/main" id="{4F4FE958-A9DF-6180-E062-E4A8B39B1410}"/>
              </a:ext>
            </a:extLst>
          </p:cNvPr>
          <p:cNvGrpSpPr/>
          <p:nvPr/>
        </p:nvGrpSpPr>
        <p:grpSpPr>
          <a:xfrm rot="5400000">
            <a:off x="8419439" y="1912651"/>
            <a:ext cx="4952940" cy="6403700"/>
            <a:chOff x="538394" y="1794986"/>
            <a:chExt cx="4196358" cy="1367909"/>
          </a:xfrm>
        </p:grpSpPr>
        <p:sp>
          <p:nvSpPr>
            <p:cNvPr id="24" name="Shape 1">
              <a:extLst>
                <a:ext uri="{FF2B5EF4-FFF2-40B4-BE49-F238E27FC236}">
                  <a16:creationId xmlns:a16="http://schemas.microsoft.com/office/drawing/2014/main" id="{0AB33273-2C95-2185-AC98-95100D4C0A91}"/>
                </a:ext>
              </a:extLst>
            </p:cNvPr>
            <p:cNvSpPr/>
            <p:nvPr/>
          </p:nvSpPr>
          <p:spPr>
            <a:xfrm>
              <a:off x="538394" y="1794986"/>
              <a:ext cx="4196358" cy="1367909"/>
            </a:xfrm>
            <a:prstGeom prst="roundRect">
              <a:avLst>
                <a:gd name="adj" fmla="val 9486"/>
              </a:avLst>
            </a:prstGeom>
            <a:solidFill>
              <a:srgbClr val="1F1F1F"/>
            </a:solidFill>
            <a:ln w="30480">
              <a:solidFill>
                <a:srgbClr val="575757"/>
              </a:solidFill>
              <a:prstDash val="solid"/>
            </a:ln>
          </p:spPr>
          <p:txBody>
            <a:bodyPr/>
            <a:lstStyle/>
            <a:p>
              <a:endParaRPr lang="vi-VN" dirty="0"/>
            </a:p>
          </p:txBody>
        </p:sp>
        <p:sp>
          <p:nvSpPr>
            <p:cNvPr id="25" name="Shape 1">
              <a:extLst>
                <a:ext uri="{FF2B5EF4-FFF2-40B4-BE49-F238E27FC236}">
                  <a16:creationId xmlns:a16="http://schemas.microsoft.com/office/drawing/2014/main" id="{EF32590F-7AB7-ECCA-EDBD-479177433076}"/>
                </a:ext>
              </a:extLst>
            </p:cNvPr>
            <p:cNvSpPr/>
            <p:nvPr/>
          </p:nvSpPr>
          <p:spPr>
            <a:xfrm>
              <a:off x="538394" y="1794986"/>
              <a:ext cx="511702" cy="1367909"/>
            </a:xfrm>
            <a:prstGeom prst="roundRect">
              <a:avLst>
                <a:gd name="adj" fmla="val 50000"/>
              </a:avLst>
            </a:prstGeom>
            <a:solidFill>
              <a:schemeClr val="accent1">
                <a:lumMod val="50000"/>
              </a:schemeClr>
            </a:solidFill>
            <a:ln w="30480">
              <a:solidFill>
                <a:srgbClr val="575757"/>
              </a:solidFill>
              <a:prstDash val="solid"/>
            </a:ln>
          </p:spPr>
          <p:txBody>
            <a:bodyPr/>
            <a:lstStyle/>
            <a:p>
              <a:endParaRPr lang="vi-VN"/>
            </a:p>
          </p:txBody>
        </p:sp>
      </p:grpSp>
      <p:sp>
        <p:nvSpPr>
          <p:cNvPr id="26" name="TextBox 25">
            <a:extLst>
              <a:ext uri="{FF2B5EF4-FFF2-40B4-BE49-F238E27FC236}">
                <a16:creationId xmlns:a16="http://schemas.microsoft.com/office/drawing/2014/main" id="{9288AE6C-5615-A7EE-1EDA-45D971A16D94}"/>
              </a:ext>
            </a:extLst>
          </p:cNvPr>
          <p:cNvSpPr txBox="1"/>
          <p:nvPr/>
        </p:nvSpPr>
        <p:spPr>
          <a:xfrm rot="5400000">
            <a:off x="10478907" y="2102524"/>
            <a:ext cx="553998" cy="1625019"/>
          </a:xfrm>
          <a:prstGeom prst="rect">
            <a:avLst/>
          </a:prstGeom>
          <a:noFill/>
        </p:spPr>
        <p:txBody>
          <a:bodyPr vert="vert270" wrap="square" rtlCol="0">
            <a:spAutoFit/>
          </a:bodyPr>
          <a:lstStyle/>
          <a:p>
            <a:r>
              <a:rPr lang="en-US" sz="2400" b="1" dirty="0" err="1">
                <a:solidFill>
                  <a:schemeClr val="tx2">
                    <a:lumMod val="20000"/>
                    <a:lumOff val="80000"/>
                  </a:schemeClr>
                </a:solidFill>
                <a:latin typeface="Fira Sans" panose="020B0503050000020004" pitchFamily="34" charset="0"/>
              </a:rPr>
              <a:t>Giải</a:t>
            </a:r>
            <a:r>
              <a:rPr lang="en-US" sz="2400" b="1" dirty="0">
                <a:solidFill>
                  <a:schemeClr val="tx2">
                    <a:lumMod val="20000"/>
                    <a:lumOff val="80000"/>
                  </a:schemeClr>
                </a:solidFill>
                <a:latin typeface="Fira Sans" panose="020B0503050000020004" pitchFamily="34" charset="0"/>
              </a:rPr>
              <a:t> </a:t>
            </a:r>
            <a:r>
              <a:rPr lang="en-US" sz="2400" b="1" dirty="0" err="1">
                <a:solidFill>
                  <a:schemeClr val="tx2">
                    <a:lumMod val="20000"/>
                    <a:lumOff val="80000"/>
                  </a:schemeClr>
                </a:solidFill>
                <a:latin typeface="Fira Sans" panose="020B0503050000020004" pitchFamily="34" charset="0"/>
              </a:rPr>
              <a:t>quyết</a:t>
            </a:r>
            <a:endParaRPr lang="vi-VN" sz="2400" b="1" dirty="0">
              <a:solidFill>
                <a:schemeClr val="tx2">
                  <a:lumMod val="20000"/>
                  <a:lumOff val="80000"/>
                </a:schemeClr>
              </a:solidFill>
              <a:latin typeface="Fira Sans" panose="020B0503050000020004" pitchFamily="34" charset="0"/>
            </a:endParaRPr>
          </a:p>
        </p:txBody>
      </p:sp>
      <p:sp>
        <p:nvSpPr>
          <p:cNvPr id="27" name="TextBox 26">
            <a:extLst>
              <a:ext uri="{FF2B5EF4-FFF2-40B4-BE49-F238E27FC236}">
                <a16:creationId xmlns:a16="http://schemas.microsoft.com/office/drawing/2014/main" id="{BC0F4278-09AA-A160-E050-7FFF3C5C960A}"/>
              </a:ext>
            </a:extLst>
          </p:cNvPr>
          <p:cNvSpPr txBox="1"/>
          <p:nvPr/>
        </p:nvSpPr>
        <p:spPr>
          <a:xfrm>
            <a:off x="7887479" y="3417376"/>
            <a:ext cx="6210280" cy="2542619"/>
          </a:xfrm>
          <a:prstGeom prst="rect">
            <a:avLst/>
          </a:prstGeom>
          <a:noFill/>
        </p:spPr>
        <p:txBody>
          <a:bodyPr wrap="square" rtlCol="0">
            <a:spAutoFit/>
          </a:bodyPr>
          <a:lstStyle/>
          <a:p>
            <a:pPr>
              <a:lnSpc>
                <a:spcPct val="150000"/>
              </a:lnSpc>
            </a:pPr>
            <a:r>
              <a:rPr lang="en-US" b="1" dirty="0">
                <a:solidFill>
                  <a:schemeClr val="tx2">
                    <a:lumMod val="20000"/>
                    <a:lumOff val="80000"/>
                  </a:schemeClr>
                </a:solidFill>
                <a:latin typeface="Fira Sans" panose="020B0503050000020004" pitchFamily="34" charset="0"/>
              </a:rPr>
              <a:t>3. </a:t>
            </a:r>
            <a:r>
              <a:rPr lang="vi-VN" b="1" dirty="0">
                <a:solidFill>
                  <a:schemeClr val="tx2">
                    <a:lumMod val="20000"/>
                    <a:lumOff val="80000"/>
                  </a:schemeClr>
                </a:solidFill>
                <a:latin typeface="Fira Sans" panose="020B0503050000020004" pitchFamily="34" charset="0"/>
              </a:rPr>
              <a:t>Xóa thành công và dọn sạch quan hệ bạn bè</a:t>
            </a:r>
          </a:p>
          <a:p>
            <a:pPr>
              <a:lnSpc>
                <a:spcPct val="150000"/>
              </a:lnSpc>
            </a:pPr>
            <a:r>
              <a:rPr lang="vi-VN" dirty="0">
                <a:solidFill>
                  <a:schemeClr val="tx2">
                    <a:lumMod val="20000"/>
                    <a:lumOff val="80000"/>
                  </a:schemeClr>
                </a:solidFill>
                <a:latin typeface="Fira Sans" panose="020B0503050000020004" pitchFamily="34" charset="0"/>
              </a:rPr>
              <a:t>Demo kiểm tra trước xóa bằng select * from friends where user_id=4 or friend_id=4; và sau khi xóa bằng select * from friends; để xác nhận toàn bộ quan hệ liên quan đã biến mất.</a:t>
            </a:r>
          </a:p>
          <a:p>
            <a:pPr>
              <a:lnSpc>
                <a:spcPct val="150000"/>
              </a:lnSpc>
            </a:pPr>
            <a:r>
              <a:rPr lang="vi-VN" b="1" dirty="0">
                <a:solidFill>
                  <a:schemeClr val="tx2">
                    <a:lumMod val="20000"/>
                    <a:lumOff val="80000"/>
                  </a:schemeClr>
                </a:solidFill>
                <a:latin typeface="Fira Sans" panose="020B0503050000020004" pitchFamily="34" charset="0"/>
              </a:rPr>
              <a:t>→ Đảm bảo dữ liệu quan hệ sạch và nhất quán.</a:t>
            </a:r>
            <a:endParaRPr lang="vi-VN" b="1" dirty="0">
              <a:solidFill>
                <a:schemeClr val="tx2">
                  <a:lumMod val="20000"/>
                  <a:lumOff val="80000"/>
                </a:schemeClr>
              </a:solidFill>
              <a:effectLst/>
              <a:latin typeface="Fira Sans" panose="020B0503050000020004" pitchFamily="34" charset="0"/>
            </a:endParaRPr>
          </a:p>
        </p:txBody>
      </p:sp>
    </p:spTree>
    <p:extLst>
      <p:ext uri="{BB962C8B-B14F-4D97-AF65-F5344CB8AC3E}">
        <p14:creationId xmlns:p14="http://schemas.microsoft.com/office/powerpoint/2010/main" val="1863549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C26E463-4BF1-0B9E-6FF9-983BF5602CCF}"/>
              </a:ext>
            </a:extLst>
          </p:cNvPr>
          <p:cNvSpPr/>
          <p:nvPr/>
        </p:nvSpPr>
        <p:spPr>
          <a:xfrm>
            <a:off x="793790" y="884992"/>
            <a:ext cx="12903518" cy="566976"/>
          </a:xfrm>
          <a:prstGeom prst="rect">
            <a:avLst/>
          </a:prstGeom>
          <a:noFill/>
          <a:ln/>
        </p:spPr>
        <p:txBody>
          <a:bodyPr wrap="none" lIns="0" tIns="0" rIns="0" bIns="0" rtlCol="0" anchor="t"/>
          <a:lstStyle/>
          <a:p>
            <a:pPr marL="0" indent="0" algn="l">
              <a:lnSpc>
                <a:spcPts val="4450"/>
              </a:lnSpc>
              <a:buNone/>
            </a:pPr>
            <a:r>
              <a:rPr lang="en-US" sz="3550" b="1" dirty="0">
                <a:solidFill>
                  <a:srgbClr val="3D5A97"/>
                </a:solidFill>
                <a:latin typeface="Anton" pitchFamily="2" charset="-93"/>
                <a:ea typeface="Fira Mono Medium" pitchFamily="34" charset="-122"/>
                <a:cs typeface="Fira Mono Medium" pitchFamily="34" charset="-120"/>
              </a:rPr>
              <a:t>SQL: Không Chỉ Là Truy Vấn, Mà Còn Là Kiến Trúc!</a:t>
            </a:r>
            <a:endParaRPr lang="en-US" sz="3550" b="1" dirty="0">
              <a:solidFill>
                <a:srgbClr val="3D5A97"/>
              </a:solidFill>
              <a:latin typeface="Anton" pitchFamily="2" charset="-93"/>
            </a:endParaRPr>
          </a:p>
        </p:txBody>
      </p:sp>
      <p:sp>
        <p:nvSpPr>
          <p:cNvPr id="3" name="Text 1">
            <a:extLst>
              <a:ext uri="{FF2B5EF4-FFF2-40B4-BE49-F238E27FC236}">
                <a16:creationId xmlns:a16="http://schemas.microsoft.com/office/drawing/2014/main" id="{1E0CEB7D-23AA-08AA-2B43-301B38C908DA}"/>
              </a:ext>
            </a:extLst>
          </p:cNvPr>
          <p:cNvSpPr/>
          <p:nvPr/>
        </p:nvSpPr>
        <p:spPr>
          <a:xfrm>
            <a:off x="2197418" y="2385418"/>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3D5A97"/>
                </a:solidFill>
                <a:latin typeface="Fira Sans" panose="020B0503050000020004" pitchFamily="34" charset="0"/>
                <a:ea typeface="Fira Mono Medium" pitchFamily="34" charset="-122"/>
                <a:cs typeface="Fira Mono Medium" pitchFamily="34" charset="-120"/>
              </a:rPr>
              <a:t>Bảo Mật Dữ Liệu</a:t>
            </a:r>
            <a:endParaRPr lang="en-US" sz="2200" b="1" dirty="0">
              <a:solidFill>
                <a:srgbClr val="3D5A97"/>
              </a:solidFill>
              <a:latin typeface="Fira Sans" panose="020B0503050000020004" pitchFamily="34" charset="0"/>
            </a:endParaRPr>
          </a:p>
        </p:txBody>
      </p:sp>
      <p:sp>
        <p:nvSpPr>
          <p:cNvPr id="4" name="Text 2">
            <a:extLst>
              <a:ext uri="{FF2B5EF4-FFF2-40B4-BE49-F238E27FC236}">
                <a16:creationId xmlns:a16="http://schemas.microsoft.com/office/drawing/2014/main" id="{D5170035-ED9C-1DD5-C697-14760A6CD3A3}"/>
              </a:ext>
            </a:extLst>
          </p:cNvPr>
          <p:cNvSpPr/>
          <p:nvPr/>
        </p:nvSpPr>
        <p:spPr>
          <a:xfrm>
            <a:off x="793790" y="2875836"/>
            <a:ext cx="4238863" cy="1088708"/>
          </a:xfrm>
          <a:prstGeom prst="rect">
            <a:avLst/>
          </a:prstGeom>
          <a:noFill/>
          <a:ln/>
        </p:spPr>
        <p:txBody>
          <a:bodyPr wrap="square" lIns="0" tIns="0" rIns="0" bIns="0" rtlCol="0" anchor="t"/>
          <a:lstStyle/>
          <a:p>
            <a:pPr marL="0" indent="0" algn="r">
              <a:lnSpc>
                <a:spcPts val="2850"/>
              </a:lnSpc>
              <a:buNone/>
            </a:pPr>
            <a:r>
              <a:rPr lang="en-US" sz="1750" dirty="0">
                <a:solidFill>
                  <a:srgbClr val="3D5A97"/>
                </a:solidFill>
                <a:latin typeface="Fira Sans" panose="020B0503050000020004" pitchFamily="34" charset="0"/>
                <a:ea typeface="Fira Sans" pitchFamily="34" charset="-122"/>
                <a:cs typeface="Fira Sans" pitchFamily="34" charset="-120"/>
              </a:rPr>
              <a:t>SQL giúp bảo vệ thông tin nhạy cảm của người dùng thông qua Views và các ràng buộc.</a:t>
            </a:r>
            <a:endParaRPr lang="en-US" sz="1750" dirty="0">
              <a:solidFill>
                <a:srgbClr val="3D5A97"/>
              </a:solidFill>
              <a:latin typeface="Fira Sans" panose="020B0503050000020004" pitchFamily="34" charset="0"/>
            </a:endParaRPr>
          </a:p>
        </p:txBody>
      </p:sp>
      <p:pic>
        <p:nvPicPr>
          <p:cNvPr id="5" name="Image 0" descr="preencoded.png">
            <a:extLst>
              <a:ext uri="{FF2B5EF4-FFF2-40B4-BE49-F238E27FC236}">
                <a16:creationId xmlns:a16="http://schemas.microsoft.com/office/drawing/2014/main" id="{83122CAC-E803-DCEC-3F2F-629D07DE96D6}"/>
              </a:ext>
            </a:extLst>
          </p:cNvPr>
          <p:cNvPicPr>
            <a:picLocks noChangeAspect="1"/>
          </p:cNvPicPr>
          <p:nvPr/>
        </p:nvPicPr>
        <p:blipFill>
          <a:blip r:embed="rId2"/>
          <a:stretch>
            <a:fillRect/>
          </a:stretch>
        </p:blipFill>
        <p:spPr>
          <a:xfrm>
            <a:off x="5032653" y="2342555"/>
            <a:ext cx="4564975" cy="4564975"/>
          </a:xfrm>
          <a:prstGeom prst="rect">
            <a:avLst/>
          </a:prstGeom>
        </p:spPr>
      </p:pic>
      <p:pic>
        <p:nvPicPr>
          <p:cNvPr id="6" name="Image 1" descr="preencoded.png">
            <a:extLst>
              <a:ext uri="{FF2B5EF4-FFF2-40B4-BE49-F238E27FC236}">
                <a16:creationId xmlns:a16="http://schemas.microsoft.com/office/drawing/2014/main" id="{762D8D12-7933-9695-042F-1B9E54A296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4585" y="3774519"/>
            <a:ext cx="318968" cy="318968"/>
          </a:xfrm>
          <a:prstGeom prst="rect">
            <a:avLst/>
          </a:prstGeom>
        </p:spPr>
      </p:pic>
      <p:sp>
        <p:nvSpPr>
          <p:cNvPr id="7" name="Text 3">
            <a:extLst>
              <a:ext uri="{FF2B5EF4-FFF2-40B4-BE49-F238E27FC236}">
                <a16:creationId xmlns:a16="http://schemas.microsoft.com/office/drawing/2014/main" id="{DF8233C6-23F0-A8A1-5185-47C54F21B5AD}"/>
              </a:ext>
            </a:extLst>
          </p:cNvPr>
          <p:cNvSpPr/>
          <p:nvPr/>
        </p:nvSpPr>
        <p:spPr>
          <a:xfrm>
            <a:off x="9597628" y="191619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D5A97"/>
                </a:solidFill>
                <a:latin typeface="Fira Sans" panose="020B0503050000020004" pitchFamily="34" charset="0"/>
                <a:ea typeface="Fira Mono Medium" pitchFamily="34" charset="-122"/>
                <a:cs typeface="Fira Mono Medium" pitchFamily="34" charset="-120"/>
              </a:rPr>
              <a:t>Tối Ưu Tốc Độ</a:t>
            </a:r>
            <a:endParaRPr lang="en-US" sz="2200" b="1" dirty="0">
              <a:solidFill>
                <a:srgbClr val="3D5A97"/>
              </a:solidFill>
              <a:latin typeface="Fira Sans" panose="020B0503050000020004" pitchFamily="34" charset="0"/>
            </a:endParaRPr>
          </a:p>
        </p:txBody>
      </p:sp>
      <p:sp>
        <p:nvSpPr>
          <p:cNvPr id="8" name="Text 4">
            <a:extLst>
              <a:ext uri="{FF2B5EF4-FFF2-40B4-BE49-F238E27FC236}">
                <a16:creationId xmlns:a16="http://schemas.microsoft.com/office/drawing/2014/main" id="{2B9CC62D-AA51-B965-3308-8DA5EBC2662D}"/>
              </a:ext>
            </a:extLst>
          </p:cNvPr>
          <p:cNvSpPr/>
          <p:nvPr/>
        </p:nvSpPr>
        <p:spPr>
          <a:xfrm>
            <a:off x="9597628" y="2396014"/>
            <a:ext cx="4238982" cy="1088708"/>
          </a:xfrm>
          <a:prstGeom prst="rect">
            <a:avLst/>
          </a:prstGeom>
          <a:noFill/>
          <a:ln/>
        </p:spPr>
        <p:txBody>
          <a:bodyPr wrap="square" lIns="0" tIns="0" rIns="0" bIns="0" rtlCol="0" anchor="t"/>
          <a:lstStyle/>
          <a:p>
            <a:pPr marL="0" indent="0" algn="l">
              <a:lnSpc>
                <a:spcPts val="2850"/>
              </a:lnSpc>
              <a:buNone/>
            </a:pPr>
            <a:r>
              <a:rPr lang="en-US" sz="1750" dirty="0">
                <a:solidFill>
                  <a:srgbClr val="3D5A97"/>
                </a:solidFill>
                <a:latin typeface="Fira Sans" panose="020B0503050000020004" pitchFamily="34" charset="0"/>
                <a:ea typeface="Fira Sans" pitchFamily="34" charset="-122"/>
                <a:cs typeface="Fira Sans" pitchFamily="34" charset="-120"/>
              </a:rPr>
              <a:t>Sử dụng Index để tăng tốc độ truy vấn, đảm bảo trải nghiệm người dùng mượt mà.</a:t>
            </a:r>
            <a:endParaRPr lang="en-US" sz="1750" dirty="0">
              <a:solidFill>
                <a:srgbClr val="3D5A97"/>
              </a:solidFill>
              <a:latin typeface="Fira Sans" panose="020B0503050000020004" pitchFamily="34" charset="0"/>
            </a:endParaRPr>
          </a:p>
        </p:txBody>
      </p:sp>
      <p:pic>
        <p:nvPicPr>
          <p:cNvPr id="9" name="Image 2" descr="preencoded.png">
            <a:extLst>
              <a:ext uri="{FF2B5EF4-FFF2-40B4-BE49-F238E27FC236}">
                <a16:creationId xmlns:a16="http://schemas.microsoft.com/office/drawing/2014/main" id="{DCE35D7F-DEE0-F624-15DF-CEC5BC42D4ED}"/>
              </a:ext>
            </a:extLst>
          </p:cNvPr>
          <p:cNvPicPr>
            <a:picLocks noChangeAspect="1"/>
          </p:cNvPicPr>
          <p:nvPr/>
        </p:nvPicPr>
        <p:blipFill>
          <a:blip r:embed="rId5"/>
          <a:stretch>
            <a:fillRect/>
          </a:stretch>
        </p:blipFill>
        <p:spPr>
          <a:xfrm>
            <a:off x="5032653" y="2342555"/>
            <a:ext cx="4564975" cy="4564975"/>
          </a:xfrm>
          <a:prstGeom prst="rect">
            <a:avLst/>
          </a:prstGeom>
        </p:spPr>
      </p:pic>
      <p:pic>
        <p:nvPicPr>
          <p:cNvPr id="10" name="Image 3" descr="preencoded.png">
            <a:extLst>
              <a:ext uri="{FF2B5EF4-FFF2-40B4-BE49-F238E27FC236}">
                <a16:creationId xmlns:a16="http://schemas.microsoft.com/office/drawing/2014/main" id="{16133560-0CFB-DE25-BFC8-0909A26E557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18797" y="3347442"/>
            <a:ext cx="318968" cy="318968"/>
          </a:xfrm>
          <a:prstGeom prst="rect">
            <a:avLst/>
          </a:prstGeom>
        </p:spPr>
      </p:pic>
      <p:sp>
        <p:nvSpPr>
          <p:cNvPr id="11" name="Text 5">
            <a:extLst>
              <a:ext uri="{FF2B5EF4-FFF2-40B4-BE49-F238E27FC236}">
                <a16:creationId xmlns:a16="http://schemas.microsoft.com/office/drawing/2014/main" id="{5CB255E9-4EB9-7D45-B255-846851D3D524}"/>
              </a:ext>
            </a:extLst>
          </p:cNvPr>
          <p:cNvSpPr/>
          <p:nvPr/>
        </p:nvSpPr>
        <p:spPr>
          <a:xfrm>
            <a:off x="10051256" y="382488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D5A97"/>
                </a:solidFill>
                <a:latin typeface="Fira Sans" panose="020B0503050000020004" pitchFamily="34" charset="0"/>
                <a:ea typeface="Fira Mono Medium" pitchFamily="34" charset="-122"/>
                <a:cs typeface="Fira Mono Medium" pitchFamily="34" charset="-120"/>
              </a:rPr>
              <a:t>Kiểm Soát Logic</a:t>
            </a:r>
            <a:endParaRPr lang="en-US" sz="2200" b="1" dirty="0">
              <a:solidFill>
                <a:srgbClr val="3D5A97"/>
              </a:solidFill>
              <a:latin typeface="Fira Sans" panose="020B0503050000020004" pitchFamily="34" charset="0"/>
            </a:endParaRPr>
          </a:p>
        </p:txBody>
      </p:sp>
      <p:sp>
        <p:nvSpPr>
          <p:cNvPr id="12" name="Text 6">
            <a:extLst>
              <a:ext uri="{FF2B5EF4-FFF2-40B4-BE49-F238E27FC236}">
                <a16:creationId xmlns:a16="http://schemas.microsoft.com/office/drawing/2014/main" id="{F6D8D13C-E958-E810-A145-598B65DE7A59}"/>
              </a:ext>
            </a:extLst>
          </p:cNvPr>
          <p:cNvSpPr/>
          <p:nvPr/>
        </p:nvSpPr>
        <p:spPr>
          <a:xfrm>
            <a:off x="10051256" y="4315302"/>
            <a:ext cx="3785354" cy="1088708"/>
          </a:xfrm>
          <a:prstGeom prst="rect">
            <a:avLst/>
          </a:prstGeom>
          <a:noFill/>
          <a:ln/>
        </p:spPr>
        <p:txBody>
          <a:bodyPr wrap="square" lIns="0" tIns="0" rIns="0" bIns="0" rtlCol="0" anchor="t"/>
          <a:lstStyle/>
          <a:p>
            <a:pPr marL="0" indent="0" algn="l">
              <a:lnSpc>
                <a:spcPts val="2850"/>
              </a:lnSpc>
              <a:buNone/>
            </a:pPr>
            <a:r>
              <a:rPr lang="en-US" sz="1750" dirty="0">
                <a:solidFill>
                  <a:srgbClr val="3D5A97"/>
                </a:solidFill>
                <a:latin typeface="Fira Sans" panose="020B0503050000020004" pitchFamily="34" charset="0"/>
                <a:ea typeface="Fira Sans" pitchFamily="34" charset="-122"/>
                <a:cs typeface="Fira Sans" pitchFamily="34" charset="-120"/>
              </a:rPr>
              <a:t>Stored Procedures cho phép đóng gói các logic nghiệp vụ phức tạp, đảm bảo tính nhất quán.</a:t>
            </a:r>
            <a:endParaRPr lang="en-US" sz="1750" dirty="0">
              <a:solidFill>
                <a:srgbClr val="3D5A97"/>
              </a:solidFill>
              <a:latin typeface="Fira Sans" panose="020B0503050000020004" pitchFamily="34" charset="0"/>
            </a:endParaRPr>
          </a:p>
        </p:txBody>
      </p:sp>
      <p:pic>
        <p:nvPicPr>
          <p:cNvPr id="13" name="Image 4" descr="preencoded.png">
            <a:extLst>
              <a:ext uri="{FF2B5EF4-FFF2-40B4-BE49-F238E27FC236}">
                <a16:creationId xmlns:a16="http://schemas.microsoft.com/office/drawing/2014/main" id="{8C9F3760-E41E-A3EB-88AD-30922723EF33}"/>
              </a:ext>
            </a:extLst>
          </p:cNvPr>
          <p:cNvPicPr>
            <a:picLocks noChangeAspect="1"/>
          </p:cNvPicPr>
          <p:nvPr/>
        </p:nvPicPr>
        <p:blipFill>
          <a:blip r:embed="rId8"/>
          <a:stretch>
            <a:fillRect/>
          </a:stretch>
        </p:blipFill>
        <p:spPr>
          <a:xfrm>
            <a:off x="5032653" y="2342555"/>
            <a:ext cx="4564975" cy="4564975"/>
          </a:xfrm>
          <a:prstGeom prst="rect">
            <a:avLst/>
          </a:prstGeom>
        </p:spPr>
      </p:pic>
      <p:pic>
        <p:nvPicPr>
          <p:cNvPr id="14" name="Image 5" descr="preencoded.png">
            <a:extLst>
              <a:ext uri="{FF2B5EF4-FFF2-40B4-BE49-F238E27FC236}">
                <a16:creationId xmlns:a16="http://schemas.microsoft.com/office/drawing/2014/main" id="{85B937A2-25F6-D3BD-A0B2-94B6AA0B8E8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31041" y="4465439"/>
            <a:ext cx="318968" cy="318968"/>
          </a:xfrm>
          <a:prstGeom prst="rect">
            <a:avLst/>
          </a:prstGeom>
        </p:spPr>
      </p:pic>
      <p:sp>
        <p:nvSpPr>
          <p:cNvPr id="15" name="Text 7">
            <a:extLst>
              <a:ext uri="{FF2B5EF4-FFF2-40B4-BE49-F238E27FC236}">
                <a16:creationId xmlns:a16="http://schemas.microsoft.com/office/drawing/2014/main" id="{85ED7D07-5F3F-95F6-8046-3B0CEC4E7904}"/>
              </a:ext>
            </a:extLst>
          </p:cNvPr>
          <p:cNvSpPr/>
          <p:nvPr/>
        </p:nvSpPr>
        <p:spPr>
          <a:xfrm>
            <a:off x="9597628" y="574417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D5A97"/>
                </a:solidFill>
                <a:latin typeface="Fira Sans" panose="020B0503050000020004" pitchFamily="34" charset="0"/>
                <a:ea typeface="Fira Mono Medium" pitchFamily="34" charset="-122"/>
                <a:cs typeface="Fira Mono Medium" pitchFamily="34" charset="-120"/>
              </a:rPr>
              <a:t>Mô Phỏng Thực Tế</a:t>
            </a:r>
            <a:endParaRPr lang="en-US" sz="2200" b="1" dirty="0">
              <a:solidFill>
                <a:srgbClr val="3D5A97"/>
              </a:solidFill>
              <a:latin typeface="Fira Sans" panose="020B0503050000020004" pitchFamily="34" charset="0"/>
            </a:endParaRPr>
          </a:p>
        </p:txBody>
      </p:sp>
      <p:sp>
        <p:nvSpPr>
          <p:cNvPr id="16" name="Text 8">
            <a:extLst>
              <a:ext uri="{FF2B5EF4-FFF2-40B4-BE49-F238E27FC236}">
                <a16:creationId xmlns:a16="http://schemas.microsoft.com/office/drawing/2014/main" id="{3CE2DBFB-4161-0F7F-7012-A06389D1CE38}"/>
              </a:ext>
            </a:extLst>
          </p:cNvPr>
          <p:cNvSpPr/>
          <p:nvPr/>
        </p:nvSpPr>
        <p:spPr>
          <a:xfrm>
            <a:off x="9597628" y="6234589"/>
            <a:ext cx="4238982" cy="1088708"/>
          </a:xfrm>
          <a:prstGeom prst="rect">
            <a:avLst/>
          </a:prstGeom>
          <a:noFill/>
          <a:ln/>
        </p:spPr>
        <p:txBody>
          <a:bodyPr wrap="square" lIns="0" tIns="0" rIns="0" bIns="0" rtlCol="0" anchor="t"/>
          <a:lstStyle/>
          <a:p>
            <a:pPr marL="0" indent="0" algn="l">
              <a:lnSpc>
                <a:spcPts val="2850"/>
              </a:lnSpc>
              <a:buNone/>
            </a:pPr>
            <a:r>
              <a:rPr lang="en-US" sz="1750" dirty="0">
                <a:solidFill>
                  <a:srgbClr val="3D5A97"/>
                </a:solidFill>
                <a:latin typeface="Fira Sans" panose="020B0503050000020004" pitchFamily="34" charset="0"/>
                <a:ea typeface="Fira Sans" pitchFamily="34" charset="-122"/>
                <a:cs typeface="Fira Sans" pitchFamily="34" charset="-120"/>
              </a:rPr>
              <a:t>SQL giúp mô phỏng chính xác các hoạt động và tương tác của một mạng xã hội trong đời thực.</a:t>
            </a:r>
            <a:endParaRPr lang="en-US" sz="1750" dirty="0">
              <a:solidFill>
                <a:srgbClr val="3D5A97"/>
              </a:solidFill>
              <a:latin typeface="Fira Sans" panose="020B0503050000020004" pitchFamily="34" charset="0"/>
            </a:endParaRPr>
          </a:p>
        </p:txBody>
      </p:sp>
      <p:pic>
        <p:nvPicPr>
          <p:cNvPr id="17" name="Image 6" descr="preencoded.png">
            <a:extLst>
              <a:ext uri="{FF2B5EF4-FFF2-40B4-BE49-F238E27FC236}">
                <a16:creationId xmlns:a16="http://schemas.microsoft.com/office/drawing/2014/main" id="{5C6667D3-3069-8868-50BA-ACDCC7F334D7}"/>
              </a:ext>
            </a:extLst>
          </p:cNvPr>
          <p:cNvPicPr>
            <a:picLocks noChangeAspect="1"/>
          </p:cNvPicPr>
          <p:nvPr/>
        </p:nvPicPr>
        <p:blipFill>
          <a:blip r:embed="rId11"/>
          <a:stretch>
            <a:fillRect/>
          </a:stretch>
        </p:blipFill>
        <p:spPr>
          <a:xfrm>
            <a:off x="5032653" y="2342555"/>
            <a:ext cx="4564975" cy="4564975"/>
          </a:xfrm>
          <a:prstGeom prst="rect">
            <a:avLst/>
          </a:prstGeom>
        </p:spPr>
      </p:pic>
      <p:pic>
        <p:nvPicPr>
          <p:cNvPr id="18" name="Image 7" descr="preencoded.png">
            <a:extLst>
              <a:ext uri="{FF2B5EF4-FFF2-40B4-BE49-F238E27FC236}">
                <a16:creationId xmlns:a16="http://schemas.microsoft.com/office/drawing/2014/main" id="{5035B203-9B3C-5E99-EFD4-89A4A1700D2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518797" y="5583436"/>
            <a:ext cx="318968" cy="318968"/>
          </a:xfrm>
          <a:prstGeom prst="rect">
            <a:avLst/>
          </a:prstGeom>
        </p:spPr>
      </p:pic>
      <p:sp>
        <p:nvSpPr>
          <p:cNvPr id="19" name="Text 9">
            <a:extLst>
              <a:ext uri="{FF2B5EF4-FFF2-40B4-BE49-F238E27FC236}">
                <a16:creationId xmlns:a16="http://schemas.microsoft.com/office/drawing/2014/main" id="{44C865FF-77F3-8DB0-B072-2191820227EF}"/>
              </a:ext>
            </a:extLst>
          </p:cNvPr>
          <p:cNvSpPr/>
          <p:nvPr/>
        </p:nvSpPr>
        <p:spPr>
          <a:xfrm>
            <a:off x="2197418" y="5264349"/>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3D5A97"/>
                </a:solidFill>
                <a:latin typeface="Fira Sans" panose="020B0503050000020004" pitchFamily="34" charset="0"/>
                <a:ea typeface="Fira Mono Medium" pitchFamily="34" charset="-122"/>
                <a:cs typeface="Fira Mono Medium" pitchFamily="34" charset="-120"/>
              </a:rPr>
              <a:t>Nền Tảng Ổn Định</a:t>
            </a:r>
            <a:endParaRPr lang="en-US" sz="2200" b="1" dirty="0">
              <a:solidFill>
                <a:srgbClr val="3D5A97"/>
              </a:solidFill>
              <a:latin typeface="Fira Sans" panose="020B0503050000020004" pitchFamily="34" charset="0"/>
            </a:endParaRPr>
          </a:p>
        </p:txBody>
      </p:sp>
      <p:sp>
        <p:nvSpPr>
          <p:cNvPr id="20" name="Text 10">
            <a:extLst>
              <a:ext uri="{FF2B5EF4-FFF2-40B4-BE49-F238E27FC236}">
                <a16:creationId xmlns:a16="http://schemas.microsoft.com/office/drawing/2014/main" id="{CEB06ECE-69F8-F307-DF5F-F22FC27D5088}"/>
              </a:ext>
            </a:extLst>
          </p:cNvPr>
          <p:cNvSpPr/>
          <p:nvPr/>
        </p:nvSpPr>
        <p:spPr>
          <a:xfrm>
            <a:off x="793790" y="5754767"/>
            <a:ext cx="4238863" cy="1088708"/>
          </a:xfrm>
          <a:prstGeom prst="rect">
            <a:avLst/>
          </a:prstGeom>
          <a:noFill/>
          <a:ln/>
        </p:spPr>
        <p:txBody>
          <a:bodyPr wrap="square" lIns="0" tIns="0" rIns="0" bIns="0" rtlCol="0" anchor="t"/>
          <a:lstStyle/>
          <a:p>
            <a:pPr marL="0" indent="0" algn="r">
              <a:lnSpc>
                <a:spcPts val="2850"/>
              </a:lnSpc>
              <a:buNone/>
            </a:pPr>
            <a:r>
              <a:rPr lang="en-US" sz="1750" dirty="0">
                <a:solidFill>
                  <a:srgbClr val="3D5A97"/>
                </a:solidFill>
                <a:latin typeface="Fira Sans" panose="020B0503050000020004" pitchFamily="34" charset="0"/>
                <a:ea typeface="Fira Sans" pitchFamily="34" charset="-122"/>
                <a:cs typeface="Fira Sans" pitchFamily="34" charset="-120"/>
              </a:rPr>
              <a:t>Chất lượng cơ sở dữ liệu quyết định hệ thống có chạy đúng và ổn định hay không.</a:t>
            </a:r>
            <a:endParaRPr lang="en-US" sz="1750" dirty="0">
              <a:solidFill>
                <a:srgbClr val="3D5A97"/>
              </a:solidFill>
              <a:latin typeface="Fira Sans" panose="020B0503050000020004" pitchFamily="34" charset="0"/>
            </a:endParaRPr>
          </a:p>
        </p:txBody>
      </p:sp>
      <p:pic>
        <p:nvPicPr>
          <p:cNvPr id="21" name="Image 8" descr="preencoded.png">
            <a:extLst>
              <a:ext uri="{FF2B5EF4-FFF2-40B4-BE49-F238E27FC236}">
                <a16:creationId xmlns:a16="http://schemas.microsoft.com/office/drawing/2014/main" id="{2AD551E4-A812-09D6-636D-36376D2632AA}"/>
              </a:ext>
            </a:extLst>
          </p:cNvPr>
          <p:cNvPicPr>
            <a:picLocks noChangeAspect="1"/>
          </p:cNvPicPr>
          <p:nvPr/>
        </p:nvPicPr>
        <p:blipFill>
          <a:blip r:embed="rId14"/>
          <a:stretch>
            <a:fillRect/>
          </a:stretch>
        </p:blipFill>
        <p:spPr>
          <a:xfrm>
            <a:off x="5032653" y="2342555"/>
            <a:ext cx="4564975" cy="4564975"/>
          </a:xfrm>
          <a:prstGeom prst="rect">
            <a:avLst/>
          </a:prstGeom>
        </p:spPr>
      </p:pic>
      <p:pic>
        <p:nvPicPr>
          <p:cNvPr id="22" name="Image 9" descr="preencoded.png">
            <a:extLst>
              <a:ext uri="{FF2B5EF4-FFF2-40B4-BE49-F238E27FC236}">
                <a16:creationId xmlns:a16="http://schemas.microsoft.com/office/drawing/2014/main" id="{69DB3BF4-D0E4-F6BC-5CAE-E2EDB661CC2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204585" y="5156359"/>
            <a:ext cx="318968" cy="318968"/>
          </a:xfrm>
          <a:prstGeom prst="rect">
            <a:avLst/>
          </a:prstGeom>
        </p:spPr>
      </p:pic>
    </p:spTree>
    <p:extLst>
      <p:ext uri="{BB962C8B-B14F-4D97-AF65-F5344CB8AC3E}">
        <p14:creationId xmlns:p14="http://schemas.microsoft.com/office/powerpoint/2010/main" val="3450428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7" name="Image 0" descr="preencoded.png">
            <a:extLst>
              <a:ext uri="{FF2B5EF4-FFF2-40B4-BE49-F238E27FC236}">
                <a16:creationId xmlns:a16="http://schemas.microsoft.com/office/drawing/2014/main" id="{E3800BB3-C52B-0735-C4C0-373A04817B1A}"/>
              </a:ext>
            </a:extLst>
          </p:cNvPr>
          <p:cNvPicPr>
            <a:picLocks noChangeAspect="1"/>
          </p:cNvPicPr>
          <p:nvPr/>
        </p:nvPicPr>
        <p:blipFill>
          <a:blip r:embed="rId3"/>
          <a:stretch>
            <a:fillRect/>
          </a:stretch>
        </p:blipFill>
        <p:spPr>
          <a:xfrm>
            <a:off x="9144000" y="0"/>
            <a:ext cx="5486400" cy="8229600"/>
          </a:xfrm>
          <a:prstGeom prst="rect">
            <a:avLst/>
          </a:prstGeom>
          <a:solidFill>
            <a:srgbClr val="FB7D80"/>
          </a:solidFill>
        </p:spPr>
      </p:pic>
      <p:sp>
        <p:nvSpPr>
          <p:cNvPr id="8" name="Text 0">
            <a:extLst>
              <a:ext uri="{FF2B5EF4-FFF2-40B4-BE49-F238E27FC236}">
                <a16:creationId xmlns:a16="http://schemas.microsoft.com/office/drawing/2014/main" id="{3C6D8725-D47A-11AD-E26A-14BEE515AB91}"/>
              </a:ext>
            </a:extLst>
          </p:cNvPr>
          <p:cNvSpPr/>
          <p:nvPr/>
        </p:nvSpPr>
        <p:spPr>
          <a:xfrm>
            <a:off x="793790" y="230338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D5A97"/>
                </a:solidFill>
                <a:latin typeface="Anton" pitchFamily="34" charset="0"/>
                <a:ea typeface="Anton" pitchFamily="34" charset="-122"/>
                <a:cs typeface="Anton" pitchFamily="34" charset="-120"/>
              </a:rPr>
              <a:t>Kết luận</a:t>
            </a:r>
            <a:endParaRPr lang="en-US" sz="4450" dirty="0">
              <a:solidFill>
                <a:srgbClr val="3D5A97"/>
              </a:solidFill>
            </a:endParaRPr>
          </a:p>
        </p:txBody>
      </p:sp>
      <p:sp>
        <p:nvSpPr>
          <p:cNvPr id="9" name="Text 1">
            <a:extLst>
              <a:ext uri="{FF2B5EF4-FFF2-40B4-BE49-F238E27FC236}">
                <a16:creationId xmlns:a16="http://schemas.microsoft.com/office/drawing/2014/main" id="{68AD3CF9-A7D6-5276-42C8-C9A99EC65D69}"/>
              </a:ext>
            </a:extLst>
          </p:cNvPr>
          <p:cNvSpPr/>
          <p:nvPr/>
        </p:nvSpPr>
        <p:spPr>
          <a:xfrm>
            <a:off x="793790" y="3352324"/>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dirty="0">
                <a:solidFill>
                  <a:srgbClr val="3D5A97"/>
                </a:solidFill>
                <a:latin typeface="Fira Sans" pitchFamily="34" charset="0"/>
                <a:ea typeface="Fira Sans" pitchFamily="34" charset="-122"/>
                <a:cs typeface="Fira Sans" pitchFamily="34" charset="-120"/>
              </a:rPr>
              <a:t>Mini project giúp:</a:t>
            </a:r>
            <a:endParaRPr lang="en-US" dirty="0">
              <a:solidFill>
                <a:srgbClr val="3D5A97"/>
              </a:solidFill>
            </a:endParaRPr>
          </a:p>
        </p:txBody>
      </p:sp>
      <p:sp>
        <p:nvSpPr>
          <p:cNvPr id="10" name="Text 2">
            <a:extLst>
              <a:ext uri="{FF2B5EF4-FFF2-40B4-BE49-F238E27FC236}">
                <a16:creationId xmlns:a16="http://schemas.microsoft.com/office/drawing/2014/main" id="{EFD22D3A-816E-362A-B931-58BB83E3214D}"/>
              </a:ext>
            </a:extLst>
          </p:cNvPr>
          <p:cNvSpPr/>
          <p:nvPr/>
        </p:nvSpPr>
        <p:spPr>
          <a:xfrm>
            <a:off x="793790" y="3794522"/>
            <a:ext cx="7556421" cy="362903"/>
          </a:xfrm>
          <a:prstGeom prst="rect">
            <a:avLst/>
          </a:prstGeom>
          <a:noFill/>
          <a:ln/>
        </p:spPr>
        <p:txBody>
          <a:bodyPr wrap="none" lIns="0" tIns="0" rIns="0" bIns="0" rtlCol="0" anchor="t"/>
          <a:lstStyle/>
          <a:p>
            <a:pPr marL="685800" lvl="1" indent="-342900" algn="l">
              <a:lnSpc>
                <a:spcPts val="2850"/>
              </a:lnSpc>
              <a:buSzPct val="100000"/>
              <a:buChar char="•"/>
            </a:pPr>
            <a:r>
              <a:rPr lang="en-US" dirty="0">
                <a:solidFill>
                  <a:srgbClr val="3D5A97"/>
                </a:solidFill>
                <a:latin typeface="Fira Sans" pitchFamily="34" charset="0"/>
                <a:ea typeface="Fira Sans" pitchFamily="34" charset="-122"/>
                <a:cs typeface="Fira Sans" pitchFamily="34" charset="-120"/>
              </a:rPr>
              <a:t>Hiểu sâu hơn về CSDL</a:t>
            </a:r>
            <a:endParaRPr lang="en-US" dirty="0">
              <a:solidFill>
                <a:srgbClr val="3D5A97"/>
              </a:solidFill>
            </a:endParaRPr>
          </a:p>
        </p:txBody>
      </p:sp>
      <p:sp>
        <p:nvSpPr>
          <p:cNvPr id="11" name="Text 3">
            <a:extLst>
              <a:ext uri="{FF2B5EF4-FFF2-40B4-BE49-F238E27FC236}">
                <a16:creationId xmlns:a16="http://schemas.microsoft.com/office/drawing/2014/main" id="{5650B0A0-1569-8644-1F53-3413FF32CC33}"/>
              </a:ext>
            </a:extLst>
          </p:cNvPr>
          <p:cNvSpPr/>
          <p:nvPr/>
        </p:nvSpPr>
        <p:spPr>
          <a:xfrm>
            <a:off x="793790" y="4236720"/>
            <a:ext cx="7556421" cy="362903"/>
          </a:xfrm>
          <a:prstGeom prst="rect">
            <a:avLst/>
          </a:prstGeom>
          <a:noFill/>
          <a:ln/>
        </p:spPr>
        <p:txBody>
          <a:bodyPr wrap="none" lIns="0" tIns="0" rIns="0" bIns="0" rtlCol="0" anchor="t"/>
          <a:lstStyle/>
          <a:p>
            <a:pPr marL="685800" lvl="1" indent="-342900" algn="l">
              <a:lnSpc>
                <a:spcPts val="2850"/>
              </a:lnSpc>
              <a:buSzPct val="100000"/>
              <a:buChar char="•"/>
            </a:pPr>
            <a:r>
              <a:rPr lang="en-US" dirty="0">
                <a:solidFill>
                  <a:srgbClr val="3D5A97"/>
                </a:solidFill>
                <a:latin typeface="Fira Sans" pitchFamily="34" charset="0"/>
                <a:ea typeface="Fira Sans" pitchFamily="34" charset="-122"/>
                <a:cs typeface="Fira Sans" pitchFamily="34" charset="-120"/>
              </a:rPr>
              <a:t>Thực hành SQL nâng cao</a:t>
            </a:r>
            <a:endParaRPr lang="en-US" dirty="0">
              <a:solidFill>
                <a:srgbClr val="3D5A97"/>
              </a:solidFill>
            </a:endParaRPr>
          </a:p>
        </p:txBody>
      </p:sp>
      <p:sp>
        <p:nvSpPr>
          <p:cNvPr id="12" name="Text 4">
            <a:extLst>
              <a:ext uri="{FF2B5EF4-FFF2-40B4-BE49-F238E27FC236}">
                <a16:creationId xmlns:a16="http://schemas.microsoft.com/office/drawing/2014/main" id="{62757246-AC69-E77A-5460-F9A0876139FD}"/>
              </a:ext>
            </a:extLst>
          </p:cNvPr>
          <p:cNvSpPr/>
          <p:nvPr/>
        </p:nvSpPr>
        <p:spPr>
          <a:xfrm>
            <a:off x="793790" y="4678918"/>
            <a:ext cx="7556421" cy="362903"/>
          </a:xfrm>
          <a:prstGeom prst="rect">
            <a:avLst/>
          </a:prstGeom>
          <a:noFill/>
          <a:ln/>
        </p:spPr>
        <p:txBody>
          <a:bodyPr wrap="none" lIns="0" tIns="0" rIns="0" bIns="0" rtlCol="0" anchor="t"/>
          <a:lstStyle/>
          <a:p>
            <a:pPr marL="685800" lvl="1" indent="-342900" algn="l">
              <a:lnSpc>
                <a:spcPts val="2850"/>
              </a:lnSpc>
              <a:buSzPct val="100000"/>
              <a:buChar char="•"/>
            </a:pPr>
            <a:r>
              <a:rPr lang="en-US" dirty="0">
                <a:solidFill>
                  <a:srgbClr val="3D5A97"/>
                </a:solidFill>
                <a:latin typeface="Fira Sans" pitchFamily="34" charset="0"/>
                <a:ea typeface="Fira Sans" pitchFamily="34" charset="-122"/>
                <a:cs typeface="Fira Sans" pitchFamily="34" charset="-120"/>
              </a:rPr>
              <a:t>Rèn tư duy phân tích hệ thống</a:t>
            </a:r>
            <a:endParaRPr lang="en-US" dirty="0">
              <a:solidFill>
                <a:srgbClr val="3D5A97"/>
              </a:solidFill>
            </a:endParaRPr>
          </a:p>
        </p:txBody>
      </p:sp>
      <p:sp>
        <p:nvSpPr>
          <p:cNvPr id="13" name="Text 5">
            <a:extLst>
              <a:ext uri="{FF2B5EF4-FFF2-40B4-BE49-F238E27FC236}">
                <a16:creationId xmlns:a16="http://schemas.microsoft.com/office/drawing/2014/main" id="{49F655FD-D35A-90D2-51E7-A7EC8F682E2C}"/>
              </a:ext>
            </a:extLst>
          </p:cNvPr>
          <p:cNvSpPr/>
          <p:nvPr/>
        </p:nvSpPr>
        <p:spPr>
          <a:xfrm>
            <a:off x="793790" y="5121116"/>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dirty="0">
                <a:solidFill>
                  <a:srgbClr val="3D5A97"/>
                </a:solidFill>
                <a:latin typeface="Fira Sans" pitchFamily="34" charset="0"/>
                <a:ea typeface="Fira Sans" pitchFamily="34" charset="-122"/>
                <a:cs typeface="Fira Sans" pitchFamily="34" charset="-120"/>
              </a:rPr>
              <a:t>Không phải dự án phần mềm hoàn chỉnh</a:t>
            </a:r>
            <a:endParaRPr lang="en-US" dirty="0">
              <a:solidFill>
                <a:srgbClr val="3D5A97"/>
              </a:solidFill>
            </a:endParaRPr>
          </a:p>
        </p:txBody>
      </p:sp>
      <p:sp>
        <p:nvSpPr>
          <p:cNvPr id="14" name="Text 6">
            <a:extLst>
              <a:ext uri="{FF2B5EF4-FFF2-40B4-BE49-F238E27FC236}">
                <a16:creationId xmlns:a16="http://schemas.microsoft.com/office/drawing/2014/main" id="{6AC62ADD-24D0-ADE6-092C-137291E8B3D8}"/>
              </a:ext>
            </a:extLst>
          </p:cNvPr>
          <p:cNvSpPr/>
          <p:nvPr/>
        </p:nvSpPr>
        <p:spPr>
          <a:xfrm>
            <a:off x="793790" y="5563314"/>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dirty="0">
                <a:solidFill>
                  <a:srgbClr val="3D5A97"/>
                </a:solidFill>
                <a:latin typeface="Fira Sans" pitchFamily="34" charset="0"/>
                <a:ea typeface="Fira Sans" pitchFamily="34" charset="-122"/>
                <a:cs typeface="Fira Sans" pitchFamily="34" charset="-120"/>
              </a:rPr>
              <a:t>Là bài thực hành rất tốt cho sinh viên trước khi làm đồ án lớn</a:t>
            </a:r>
            <a:endParaRPr lang="en-US" dirty="0">
              <a:solidFill>
                <a:srgbClr val="3D5A9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389</TotalTime>
  <Words>2888</Words>
  <Application>Microsoft Office PowerPoint</Application>
  <PresentationFormat>Custom</PresentationFormat>
  <Paragraphs>270</Paragraphs>
  <Slides>22</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Calibri Light</vt:lpstr>
      <vt:lpstr>Calibri</vt:lpstr>
      <vt:lpstr>Anton</vt:lpstr>
      <vt:lpstr>Arial</vt:lpstr>
      <vt:lpstr>Fira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Pham Viet An D24TX</cp:lastModifiedBy>
  <cp:revision>12</cp:revision>
  <dcterms:created xsi:type="dcterms:W3CDTF">2026-01-12T13:38:24Z</dcterms:created>
  <dcterms:modified xsi:type="dcterms:W3CDTF">2026-01-16T00:57:36Z</dcterms:modified>
</cp:coreProperties>
</file>